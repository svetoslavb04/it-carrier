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94" r:id="rId2"/>
    <p:sldId id="571" r:id="rId3"/>
    <p:sldId id="598" r:id="rId4"/>
    <p:sldId id="599" r:id="rId5"/>
    <p:sldId id="600" r:id="rId6"/>
    <p:sldId id="601" r:id="rId7"/>
    <p:sldId id="602" r:id="rId8"/>
    <p:sldId id="603" r:id="rId9"/>
    <p:sldId id="606" r:id="rId10"/>
    <p:sldId id="607" r:id="rId11"/>
    <p:sldId id="608" r:id="rId12"/>
    <p:sldId id="609" r:id="rId13"/>
    <p:sldId id="486" r:id="rId14"/>
    <p:sldId id="604" r:id="rId15"/>
    <p:sldId id="605" r:id="rId16"/>
  </p:sldIdLst>
  <p:sldSz cx="12188825" cy="6858000"/>
  <p:notesSz cx="6858000" cy="9144000"/>
  <p:defaultTextStyle>
    <a:defPPr>
      <a:defRPr lang="en-US"/>
    </a:defPPr>
    <a:lvl1pPr marL="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856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5D7E5960-A9BC-43C4-BCE0-8E99BC3BA6A9}">
          <p14:sldIdLst>
            <p14:sldId id="394"/>
            <p14:sldId id="571"/>
          </p14:sldIdLst>
        </p14:section>
        <p14:section name="Конструктори" id="{51D0FD15-3932-43D9-82C9-6AF03C9EE001}">
          <p14:sldIdLst>
            <p14:sldId id="598"/>
            <p14:sldId id="599"/>
            <p14:sldId id="600"/>
            <p14:sldId id="601"/>
            <p14:sldId id="602"/>
            <p14:sldId id="603"/>
            <p14:sldId id="606"/>
            <p14:sldId id="607"/>
            <p14:sldId id="608"/>
          </p14:sldIdLst>
        </p14:section>
        <p14:section name="Заключения" id="{3E23A7B0-228F-4458-953E-A0823B82CFF0}">
          <p14:sldIdLst>
            <p14:sldId id="609"/>
            <p14:sldId id="486"/>
            <p14:sldId id="604"/>
            <p14:sldId id="6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BE60"/>
    <a:srgbClr val="D2A010"/>
    <a:srgbClr val="F6D18E"/>
    <a:srgbClr val="FFFFFF"/>
    <a:srgbClr val="C6C0AA"/>
    <a:srgbClr val="F9F0AB"/>
    <a:srgbClr val="F9E6AB"/>
    <a:srgbClr val="F9FAAB"/>
    <a:srgbClr val="767691"/>
    <a:srgbClr val="7676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8670" autoAdjust="0"/>
  </p:normalViewPr>
  <p:slideViewPr>
    <p:cSldViewPr>
      <p:cViewPr varScale="1">
        <p:scale>
          <a:sx n="73" d="100"/>
          <a:sy n="73" d="100"/>
        </p:scale>
        <p:origin x="402" y="96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9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4/3/2019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84755204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t>4/3/2019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88434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344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90436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91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284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57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143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(c) 2007 National Academy for Software Development - http://academy.devbg.org. All rights reserved. Unauthorized copying or re-distribution is strictly prohibited.*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BE65B3B-E6E2-4525-8F2E-49AC8F612DB9}" type="slidenum">
              <a:rPr lang="en-US"/>
              <a:t>13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8903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dirty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dirty="0">
              <a:solidFill>
                <a:prstClr val="black"/>
              </a:solidFill>
            </a:endParaRPr>
          </a:p>
          <a:p>
            <a:r>
              <a:rPr lang="en-US" sz="1000" dirty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>
                <a:solidFill>
                  <a:prstClr val="black"/>
                </a:solidFill>
              </a:rPr>
              <a:t> </a:t>
            </a:r>
            <a:r>
              <a:rPr lang="en-US" sz="1000" dirty="0">
                <a:solidFill>
                  <a:prstClr val="black"/>
                </a:solidFill>
              </a:rPr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073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949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SoftwareUniversity" TargetMode="External"/><Relationship Id="rId3" Type="http://schemas.openxmlformats.org/officeDocument/2006/relationships/hyperlink" Target="http://softuni.bg/" TargetMode="External"/><Relationship Id="rId7" Type="http://schemas.openxmlformats.org/officeDocument/2006/relationships/hyperlink" Target="http://judge.softuni.bg/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forum.softuni.bg/" TargetMode="External"/><Relationship Id="rId11" Type="http://schemas.openxmlformats.org/officeDocument/2006/relationships/hyperlink" Target="http://www.introprogramming.info/" TargetMode="External"/><Relationship Id="rId5" Type="http://schemas.openxmlformats.org/officeDocument/2006/relationships/hyperlink" Target="http://www.nakov.com/" TargetMode="External"/><Relationship Id="rId10" Type="http://schemas.openxmlformats.org/officeDocument/2006/relationships/hyperlink" Target="http://www.youtube.com/SoftwareUniversity" TargetMode="External"/><Relationship Id="rId4" Type="http://schemas.openxmlformats.org/officeDocument/2006/relationships/hyperlink" Target="http://softuni.org/" TargetMode="External"/><Relationship Id="rId9" Type="http://schemas.openxmlformats.org/officeDocument/2006/relationships/hyperlink" Target="https://twitter.com/softunib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Author Name</a:t>
            </a:r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/>
              <a:t>Insert a Picture Here</a:t>
            </a:r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Position</a:t>
            </a:r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Web Site</a:t>
            </a:r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Name</a:t>
            </a:r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Company Web Site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Slide Title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46212" y="4953000"/>
            <a:ext cx="8938472" cy="820600"/>
          </a:xfrm>
        </p:spPr>
        <p:txBody>
          <a:bodyPr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46212" y="5754968"/>
            <a:ext cx="8938472" cy="688256"/>
          </a:xfrm>
        </p:spPr>
        <p:txBody>
          <a:bodyPr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5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Section Subtitle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/>
              <a:t>Course Web Site</a:t>
            </a:r>
          </a:p>
        </p:txBody>
      </p:sp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/>
              <a:t>Presentation Title</a:t>
            </a:r>
            <a:endParaRPr dirty="0"/>
          </a:p>
        </p:txBody>
      </p:sp>
      <p:sp>
        <p:nvSpPr>
          <p:cNvPr id="2" name="TextBox 1">
            <a:hlinkClick r:id="rId3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27" name="TextBox 26">
            <a:hlinkClick r:id="rId4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1" name="TextBox 50">
            <a:hlinkClick r:id="rId5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2" name="TextBox 51">
            <a:hlinkClick r:id="rId6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3" name="TextBox 52">
            <a:hlinkClick r:id="rId7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4" name="TextBox 53">
            <a:hlinkClick r:id="rId8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6" name="TextBox 55">
            <a:hlinkClick r:id="rId9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7" name="TextBox 56">
            <a:hlinkClick r:id="rId10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58" name="TextBox 57">
            <a:hlinkClick r:id="rId11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603A14"/>
                </a:solidFill>
              </a:rPr>
              <a:t>?</a:t>
            </a:r>
          </a:p>
        </p:txBody>
      </p:sp>
      <p:sp>
        <p:nvSpPr>
          <p:cNvPr id="16" name="Rectangle 15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hangingPunct="0">
              <a:buClr>
                <a:srgbClr val="A19574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</a:pPr>
            <a:r>
              <a:rPr lang="bg-BG" sz="6600" b="1" dirty="0">
                <a:solidFill>
                  <a:srgbClr val="F3BE60"/>
                </a:solidFill>
              </a:rPr>
              <a:t>Въпроси</a:t>
            </a:r>
            <a:r>
              <a:rPr lang="en-US" sz="6600" b="1" dirty="0">
                <a:solidFill>
                  <a:srgbClr val="F3BE60"/>
                </a:solidFill>
              </a:rPr>
              <a:t>?</a:t>
            </a:r>
            <a:endParaRPr lang="en-US" sz="6600" b="1" spc="150" dirty="0">
              <a:ln w="11430"/>
              <a:solidFill>
                <a:prstClr val="white">
                  <a:lumMod val="40000"/>
                  <a:lumOff val="60000"/>
                </a:prst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AAFB65-F193-4484-85C5-7FFA43021634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7714">
            <a:off x="504277" y="2018007"/>
            <a:ext cx="2849278" cy="33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8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1218565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4000" indent="-231775" algn="l" defTabSz="1218565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1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29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7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565" indent="-231775" algn="l" defTabSz="1218565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t-kariera.mon.bg/e-learnin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hyperlink" Target="https://csharp-book.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6907558" y="3733799"/>
            <a:ext cx="4668808" cy="2623699"/>
            <a:chOff x="3033634" y="1143000"/>
            <a:chExt cx="5892956" cy="35052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t="3852" r="2931" b="7549"/>
            <a:stretch>
              <a:fillRect/>
            </a:stretch>
          </p:blipFill>
          <p:spPr>
            <a:xfrm>
              <a:off x="3033634" y="1143000"/>
              <a:ext cx="5892956" cy="3505200"/>
            </a:xfrm>
            <a:prstGeom prst="roundRect">
              <a:avLst>
                <a:gd name="adj" fmla="val 3002"/>
              </a:avLst>
            </a:prstGeom>
          </p:spPr>
        </p:pic>
        <p:sp>
          <p:nvSpPr>
            <p:cNvPr id="15" name="Oval 14"/>
            <p:cNvSpPr/>
            <p:nvPr/>
          </p:nvSpPr>
          <p:spPr>
            <a:xfrm rot="16200000">
              <a:off x="4711881" y="3890792"/>
              <a:ext cx="251239" cy="323752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7" name="Oval 16"/>
            <p:cNvSpPr/>
            <p:nvPr/>
          </p:nvSpPr>
          <p:spPr>
            <a:xfrm rot="16200000">
              <a:off x="3462214" y="3893974"/>
              <a:ext cx="251239" cy="323752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8" name="Oval 17"/>
            <p:cNvSpPr/>
            <p:nvPr/>
          </p:nvSpPr>
          <p:spPr>
            <a:xfrm rot="16200000">
              <a:off x="4502040" y="4060290"/>
              <a:ext cx="251239" cy="323752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9" name="Oval 18"/>
            <p:cNvSpPr/>
            <p:nvPr/>
          </p:nvSpPr>
          <p:spPr>
            <a:xfrm rot="16200000">
              <a:off x="4191950" y="3715752"/>
              <a:ext cx="251239" cy="323752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1" name="Title 4"/>
          <p:cNvSpPr txBox="1"/>
          <p:nvPr/>
        </p:nvSpPr>
        <p:spPr>
          <a:xfrm>
            <a:off x="3351212" y="762000"/>
            <a:ext cx="8215099" cy="117155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r" defTabSz="1218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F6D18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/>
              <a:t>Конструктори</a:t>
            </a:r>
            <a:endParaRPr lang="en-US" dirty="0"/>
          </a:p>
        </p:txBody>
      </p:sp>
      <p:sp>
        <p:nvSpPr>
          <p:cNvPr id="22" name="Subtitle 5"/>
          <p:cNvSpPr txBox="1"/>
          <p:nvPr/>
        </p:nvSpPr>
        <p:spPr>
          <a:xfrm>
            <a:off x="3503612" y="1915602"/>
            <a:ext cx="8062699" cy="1335052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0" indent="0" algn="r" defTabSz="1218565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charset="2"/>
              <a:buNone/>
              <a:defRPr sz="4000" b="0" kern="1200" cap="none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600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None/>
              <a:defRPr sz="32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200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None/>
              <a:defRPr sz="30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165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None/>
              <a:defRPr sz="28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765" indent="0" algn="ctr" defTabSz="1218565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3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5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165" indent="0" algn="ctr" defTabSz="1218565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bg-BG" dirty="0"/>
              <a:t>Инициализиране</a:t>
            </a:r>
            <a:br>
              <a:rPr lang="bg-BG" dirty="0"/>
            </a:br>
            <a:r>
              <a:rPr lang="bg-BG" dirty="0"/>
              <a:t>на обекти</a:t>
            </a: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ACF15A-C841-4F6D-B21B-40FA8DED53AB}"/>
              </a:ext>
            </a:extLst>
          </p:cNvPr>
          <p:cNvGrpSpPr/>
          <p:nvPr/>
        </p:nvGrpSpPr>
        <p:grpSpPr>
          <a:xfrm>
            <a:off x="745783" y="3624633"/>
            <a:ext cx="5812658" cy="2524722"/>
            <a:chOff x="745783" y="3624633"/>
            <a:chExt cx="5812658" cy="2524722"/>
          </a:xfrm>
        </p:grpSpPr>
        <p:pic>
          <p:nvPicPr>
            <p:cNvPr id="30" name="Picture 29" descr="http://softuni.bg">
              <a:extLst>
                <a:ext uri="{FF2B5EF4-FFF2-40B4-BE49-F238E27FC236}">
                  <a16:creationId xmlns:a16="http://schemas.microsoft.com/office/drawing/2014/main" id="{B7DF8237-61F4-4DFE-BDDA-E2DC3132B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960812" y="3624633"/>
              <a:ext cx="1828798" cy="200698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73CD185-D439-4B49-8512-80DD815A04F1}"/>
                </a:ext>
              </a:extLst>
            </p:cNvPr>
            <p:cNvSpPr txBox="1"/>
            <p:nvPr/>
          </p:nvSpPr>
          <p:spPr>
            <a:xfrm rot="576164">
              <a:off x="5020391" y="3707206"/>
              <a:ext cx="1538050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bg-BG" sz="2000" b="1" spc="50" dirty="0">
                  <a:ln w="9525" cmpd="sng">
                    <a:solidFill>
                      <a:srgbClr val="FFA72A"/>
                    </a:solidFill>
                    <a:prstDash val="solid"/>
                  </a:ln>
                  <a:solidFill>
                    <a:srgbClr val="FFF0D9"/>
                  </a:solidFill>
                  <a:effectLst>
                    <a:glow rad="38100">
                      <a:srgbClr val="F0A22E">
                        <a:alpha val="40000"/>
                      </a:srgbClr>
                    </a:glow>
                  </a:effectLst>
                </a:rPr>
                <a:t>Увод в ООП</a:t>
              </a:r>
              <a:endParaRPr lang="en-US" sz="2000" b="1" spc="50" dirty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rgbClr val="F0A22E">
                      <a:alpha val="40000"/>
                    </a:srgbClr>
                  </a:glow>
                </a:effectLst>
              </a:endParaRPr>
            </a:p>
          </p:txBody>
        </p:sp>
        <p:pic>
          <p:nvPicPr>
            <p:cNvPr id="32" name="Picture 4" title="CC-BY-NC-SA License">
              <a:hlinkClick r:id="rId5" tooltip="This work is licensed under the &quot;Creative Commons Attribution-NonCommercial-ShareAlike 4.0 International&quot; license"/>
              <a:extLst>
                <a:ext uri="{FF2B5EF4-FFF2-40B4-BE49-F238E27FC236}">
                  <a16:creationId xmlns:a16="http://schemas.microsoft.com/office/drawing/2014/main" id="{2A416773-7237-4FDB-AD69-A7E931314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45783" y="4076772"/>
              <a:ext cx="2175525" cy="761165"/>
            </a:xfrm>
            <a:prstGeom prst="roundRect">
              <a:avLst>
                <a:gd name="adj" fmla="val 3940"/>
              </a:avLst>
            </a:prstGeom>
            <a:solidFill>
              <a:srgbClr val="231F20">
                <a:alpha val="50000"/>
              </a:srgbClr>
            </a:solidFill>
            <a:ln>
              <a:solidFill>
                <a:schemeClr val="accent1">
                  <a:lumMod val="75000"/>
                  <a:alpha val="50000"/>
                </a:schemeClr>
              </a:solidFill>
            </a:ln>
          </p:spPr>
        </p:pic>
        <p:sp>
          <p:nvSpPr>
            <p:cNvPr id="33" name="Text Placeholder 7">
              <a:extLst>
                <a:ext uri="{FF2B5EF4-FFF2-40B4-BE49-F238E27FC236}">
                  <a16:creationId xmlns:a16="http://schemas.microsoft.com/office/drawing/2014/main" id="{7383F010-D8B7-4E51-91B9-1BAD1044C22D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3" y="4998598"/>
              <a:ext cx="3187614" cy="444343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300" b="1" kern="1200" dirty="0" smtClean="0">
                  <a:solidFill>
                    <a:srgbClr val="F4B36C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 noProof="1"/>
                <a:t>Учителски</a:t>
              </a:r>
              <a:r>
                <a:rPr lang="bg-BG"/>
                <a:t> екип</a:t>
              </a:r>
            </a:p>
          </p:txBody>
        </p:sp>
        <p:sp>
          <p:nvSpPr>
            <p:cNvPr id="34" name="Text Placeholder 10">
              <a:extLst>
                <a:ext uri="{FF2B5EF4-FFF2-40B4-BE49-F238E27FC236}">
                  <a16:creationId xmlns:a16="http://schemas.microsoft.com/office/drawing/2014/main" id="{AF3A072C-D571-4B13-B78B-87FC605A635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403725"/>
              <a:ext cx="3187613" cy="382788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2000" b="1" kern="1200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bg-BG"/>
                <a:t>Обучение за ИТ кариера</a:t>
              </a:r>
            </a:p>
          </p:txBody>
        </p:sp>
        <p:sp>
          <p:nvSpPr>
            <p:cNvPr id="35" name="Text Placeholder 11">
              <a:extLst>
                <a:ext uri="{FF2B5EF4-FFF2-40B4-BE49-F238E27FC236}">
                  <a16:creationId xmlns:a16="http://schemas.microsoft.com/office/drawing/2014/main" id="{3238C622-B05C-402E-95FD-AFBE8E34591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412" y="5690893"/>
              <a:ext cx="3810000" cy="458462"/>
            </a:xfrm>
            <a:prstGeom prst="rect">
              <a:avLst/>
            </a:prstGeom>
            <a:noFill/>
            <a:effectLst/>
          </p:spPr>
          <p:txBody>
            <a:bodyPr vert="horz" wrap="square" lIns="36000" tIns="36000" rIns="36000" bIns="36000" rtlCol="0" anchor="ctr" anchorCtr="0">
              <a:spAutoFit/>
            </a:bodyPr>
            <a:lstStyle>
              <a:lvl1pPr marL="0" indent="0" algn="l" defTabSz="1218987" rtl="0" eaLnBrk="1" fontAlgn="base" latinLnBrk="0" hangingPunct="1">
                <a:lnSpc>
                  <a:spcPct val="10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sz="1800" b="1" kern="1200" dirty="0" smtClean="0">
                  <a:solidFill>
                    <a:srgbClr val="F27A44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60949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240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18987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23733" indent="-231606" algn="l" defTabSz="1218987" rtl="0" eaLnBrk="1" latinLnBrk="0" hangingPunct="1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2848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33227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37972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720" indent="-231606" algn="l" defTabSz="1218987" rtl="0" eaLnBrk="1" latinLnBrk="0" hangingPunct="1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>
                  <a:hlinkClick r:id="rId7"/>
                </a:rPr>
                <a:t>https://it-kariera.mon.bg/e-learning/</a:t>
              </a:r>
              <a:endParaRPr lang="en-GB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3" y="1191467"/>
            <a:ext cx="11804822" cy="5530010"/>
          </a:xfrm>
        </p:spPr>
        <p:txBody>
          <a:bodyPr>
            <a:normAutofit/>
          </a:bodyPr>
          <a:lstStyle/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Какво са конструкторите</a:t>
            </a:r>
            <a:endParaRPr lang="en-US" dirty="0"/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Видове конструктори</a:t>
            </a:r>
            <a:endParaRPr lang="en-US" dirty="0"/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/>
              <a:t>Верижно извикване </a:t>
            </a:r>
            <a:br>
              <a:rPr lang="bg-BG" dirty="0"/>
            </a:br>
            <a:r>
              <a:rPr lang="bg-BG" dirty="0"/>
              <a:t>на конструктори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AC3EF3-E0FC-4734-8847-3CC64240F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682" y="1499022"/>
            <a:ext cx="4762500" cy="491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Специален вид методи, извиквани при създаване на обекта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Конструктори</a:t>
            </a:r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608012" y="1828800"/>
            <a:ext cx="10693778" cy="408494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class Dice</a:t>
            </a:r>
          </a:p>
          <a:p>
            <a:r>
              <a:rPr lang="en-US" sz="3200" dirty="0">
                <a:solidFill>
                  <a:schemeClr val="tx2"/>
                </a:solidFill>
              </a:rPr>
              <a:t>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int sides;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public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Dice()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  this.sides = 6;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}</a:t>
            </a:r>
          </a:p>
          <a:p>
            <a:r>
              <a:rPr lang="en-US" sz="32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408612" y="3200400"/>
            <a:ext cx="3124200" cy="1524000"/>
          </a:xfrm>
          <a:prstGeom prst="wedgeRoundRectCallout">
            <a:avLst>
              <a:gd name="adj1" fmla="val -81558"/>
              <a:gd name="adj2" fmla="val -19498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noProof="1">
                <a:solidFill>
                  <a:schemeClr val="tx2">
                    <a:lumMod val="75000"/>
                  </a:schemeClr>
                </a:solidFill>
                <a:latin typeface="+mj-lt"/>
              </a:rPr>
              <a:t>Предефиниране </a:t>
            </a:r>
            <a:r>
              <a:rPr lang="bg-BG" sz="2800" noProof="1">
                <a:solidFill>
                  <a:schemeClr val="tx1"/>
                </a:solidFill>
                <a:latin typeface="+mj-lt"/>
              </a:rPr>
              <a:t>на конструктора по подразбиране</a:t>
            </a:r>
            <a:endParaRPr lang="en-US" sz="2800" noProof="1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212" y="954647"/>
            <a:ext cx="11804822" cy="5570355"/>
          </a:xfrm>
        </p:spPr>
        <p:txBody>
          <a:bodyPr/>
          <a:lstStyle/>
          <a:p>
            <a:r>
              <a:rPr lang="bg-BG" dirty="0"/>
              <a:t>Може да имате множество конструктори за даден клас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Конструктори</a:t>
            </a:r>
            <a:r>
              <a:rPr lang="en-US" dirty="0"/>
              <a:t> (2)</a:t>
            </a:r>
          </a:p>
        </p:txBody>
      </p:sp>
      <p:sp>
        <p:nvSpPr>
          <p:cNvPr id="5" name="Text Placeholder 5"/>
          <p:cNvSpPr txBox="1"/>
          <p:nvPr/>
        </p:nvSpPr>
        <p:spPr>
          <a:xfrm>
            <a:off x="608012" y="1660357"/>
            <a:ext cx="10693778" cy="506983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class Dice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{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  int sides;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  public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Dice()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2"/>
                </a:solidFill>
              </a:rPr>
              <a:t> {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    this.sides = 6;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  }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  public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Dice(</a:t>
            </a:r>
            <a:r>
              <a:rPr lang="en-US" sz="3200" dirty="0">
                <a:solidFill>
                  <a:schemeClr val="tx2"/>
                </a:solidFill>
              </a:rPr>
              <a:t>int sides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2"/>
                </a:solidFill>
              </a:rPr>
              <a:t> {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    this.sides = sides;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  }</a:t>
            </a:r>
          </a:p>
          <a:p>
            <a:pPr>
              <a:lnSpc>
                <a:spcPts val="3200"/>
              </a:lnSpc>
            </a:pPr>
            <a:r>
              <a:rPr lang="en-US" sz="32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684875" y="4369743"/>
            <a:ext cx="2381338" cy="1051947"/>
          </a:xfrm>
          <a:prstGeom prst="wedgeRoundRectCallout">
            <a:avLst>
              <a:gd name="adj1" fmla="val -65321"/>
              <a:gd name="adj2" fmla="val -18308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noProof="1">
                <a:solidFill>
                  <a:schemeClr val="tx1"/>
                </a:solidFill>
                <a:latin typeface="+mj-lt"/>
              </a:rPr>
              <a:t>Конструктор </a:t>
            </a:r>
            <a:r>
              <a:rPr lang="bg-BG" sz="2800" noProof="1">
                <a:solidFill>
                  <a:schemeClr val="tx2">
                    <a:lumMod val="75000"/>
                  </a:schemeClr>
                </a:solidFill>
                <a:latin typeface="+mj-lt"/>
              </a:rPr>
              <a:t>с</a:t>
            </a:r>
            <a:r>
              <a:rPr lang="en-US" sz="2800" noProof="1">
                <a:solidFill>
                  <a:schemeClr val="tx1"/>
                </a:solidFill>
                <a:latin typeface="+mj-lt"/>
              </a:rPr>
              <a:t> </a:t>
            </a:r>
            <a:r>
              <a:rPr lang="bg-BG" sz="2800" noProof="1">
                <a:solidFill>
                  <a:schemeClr val="tx1"/>
                </a:solidFill>
                <a:latin typeface="+mj-lt"/>
              </a:rPr>
              <a:t>параметри</a:t>
            </a:r>
            <a:endParaRPr lang="en-US" sz="2800" noProof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4977613" y="2102331"/>
            <a:ext cx="2716999" cy="1051947"/>
          </a:xfrm>
          <a:prstGeom prst="wedgeRoundRectCallout">
            <a:avLst>
              <a:gd name="adj1" fmla="val -75155"/>
              <a:gd name="adj2" fmla="val 50404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noProof="1">
                <a:solidFill>
                  <a:schemeClr val="tx1"/>
                </a:solidFill>
                <a:latin typeface="+mj-lt"/>
              </a:rPr>
              <a:t>Конструктор</a:t>
            </a:r>
            <a:r>
              <a:rPr lang="en-US" sz="2800" noProof="1">
                <a:solidFill>
                  <a:schemeClr val="tx1"/>
                </a:solidFill>
                <a:latin typeface="+mj-lt"/>
              </a:rPr>
              <a:t> </a:t>
            </a:r>
            <a:r>
              <a:rPr lang="bg-BG" sz="2800" noProof="1">
                <a:solidFill>
                  <a:schemeClr val="tx2">
                    <a:lumMod val="75000"/>
                  </a:schemeClr>
                </a:solidFill>
                <a:latin typeface="+mj-lt"/>
              </a:rPr>
              <a:t>без</a:t>
            </a:r>
            <a:r>
              <a:rPr lang="en-US" sz="2800" noProof="1">
                <a:solidFill>
                  <a:schemeClr val="tx1"/>
                </a:solidFill>
                <a:latin typeface="+mj-lt"/>
              </a:rPr>
              <a:t> </a:t>
            </a:r>
            <a:r>
              <a:rPr lang="bg-BG" sz="2800" noProof="1">
                <a:solidFill>
                  <a:schemeClr val="tx1"/>
                </a:solidFill>
                <a:latin typeface="+mj-lt"/>
              </a:rPr>
              <a:t>параметри</a:t>
            </a:r>
            <a:endParaRPr lang="en-US" sz="2800" noProof="1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Конструкторите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</a:rPr>
              <a:t>задават началното състояние на обекта</a:t>
            </a:r>
            <a:endParaRPr lang="en-GB" dirty="0"/>
          </a:p>
        </p:txBody>
      </p:sp>
      <p:sp>
        <p:nvSpPr>
          <p:cNvPr id="7" name="Text Placeholder 5"/>
          <p:cNvSpPr txBox="1"/>
          <p:nvPr/>
        </p:nvSpPr>
        <p:spPr>
          <a:xfrm>
            <a:off x="734634" y="1899611"/>
            <a:ext cx="10693778" cy="45773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class Dice</a:t>
            </a:r>
          </a:p>
          <a:p>
            <a:r>
              <a:rPr lang="en-US" sz="3200" dirty="0">
                <a:solidFill>
                  <a:schemeClr val="tx2"/>
                </a:solidFill>
              </a:rPr>
              <a:t>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int sides; int[] </a:t>
            </a:r>
            <a:r>
              <a:rPr lang="en-US" sz="3200" dirty="0" err="1">
                <a:solidFill>
                  <a:schemeClr val="tx2"/>
                </a:solidFill>
              </a:rPr>
              <a:t>rollFrequency</a:t>
            </a:r>
            <a:r>
              <a:rPr lang="en-US" sz="3200" dirty="0">
                <a:solidFill>
                  <a:schemeClr val="tx2"/>
                </a:solidFill>
              </a:rPr>
              <a:t>;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200" dirty="0">
                <a:solidFill>
                  <a:schemeClr val="tx2"/>
                </a:solidFill>
              </a:rPr>
              <a:t>  public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Dice(</a:t>
            </a:r>
            <a:r>
              <a:rPr lang="en-US" sz="3200" dirty="0">
                <a:solidFill>
                  <a:schemeClr val="tx2"/>
                </a:solidFill>
              </a:rPr>
              <a:t>int sides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2"/>
                </a:solidFill>
              </a:rPr>
              <a:t> {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  this.sides = sides;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  this.rollFrequency = 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new int[</a:t>
            </a:r>
            <a:r>
              <a:rPr lang="en-US" sz="3200" dirty="0">
                <a:solidFill>
                  <a:schemeClr val="tx2"/>
                </a:solidFill>
              </a:rPr>
              <a:t>sides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]</a:t>
            </a:r>
            <a:r>
              <a:rPr lang="en-US" sz="3200" dirty="0">
                <a:solidFill>
                  <a:schemeClr val="tx2"/>
                </a:solidFill>
              </a:rPr>
              <a:t>;</a:t>
            </a:r>
          </a:p>
          <a:p>
            <a:r>
              <a:rPr lang="en-US" sz="3200" dirty="0">
                <a:solidFill>
                  <a:schemeClr val="tx2"/>
                </a:solidFill>
              </a:rPr>
              <a:t>  }</a:t>
            </a:r>
          </a:p>
          <a:p>
            <a:r>
              <a:rPr lang="en-US" sz="32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Начално състояние на обекта</a:t>
            </a:r>
            <a:endParaRPr lang="en-US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8436405" y="3941644"/>
            <a:ext cx="3536227" cy="950226"/>
          </a:xfrm>
          <a:prstGeom prst="wedgeRoundRectCallout">
            <a:avLst>
              <a:gd name="adj1" fmla="val -67976"/>
              <a:gd name="adj2" fmla="val 57913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noProof="1">
                <a:solidFill>
                  <a:schemeClr val="tx1"/>
                </a:solidFill>
                <a:latin typeface="+mj-lt"/>
              </a:rPr>
              <a:t>Винаги подсигурете </a:t>
            </a:r>
            <a:r>
              <a:rPr lang="bg-BG" sz="2800" noProof="1">
                <a:solidFill>
                  <a:schemeClr val="tx2">
                    <a:lumMod val="75000"/>
                  </a:schemeClr>
                </a:solidFill>
                <a:latin typeface="+mj-lt"/>
              </a:rPr>
              <a:t>коректно състояние</a:t>
            </a:r>
            <a:endParaRPr lang="en-US" sz="2800" noProof="1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990600"/>
            <a:ext cx="11804822" cy="5570355"/>
          </a:xfrm>
        </p:spPr>
        <p:txBody>
          <a:bodyPr/>
          <a:lstStyle/>
          <a:p>
            <a:r>
              <a:rPr lang="bg-BG" dirty="0"/>
              <a:t>Конструкторите могат да се извикват един друг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Верижно извикване на конструктори</a:t>
            </a:r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580010" y="1693205"/>
            <a:ext cx="10693778" cy="48851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tx2"/>
                </a:solidFill>
              </a:rPr>
              <a:t>class Dice </a:t>
            </a:r>
          </a:p>
          <a:p>
            <a:r>
              <a:rPr lang="en-US" sz="2800" dirty="0">
                <a:solidFill>
                  <a:schemeClr val="tx2"/>
                </a:solidFill>
              </a:rPr>
              <a:t>{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int sides;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public Dice() :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this</a:t>
            </a:r>
            <a:r>
              <a:rPr lang="en-US" sz="2800" dirty="0">
                <a:solidFill>
                  <a:schemeClr val="tx2"/>
                </a:solidFill>
              </a:rPr>
              <a:t>(6)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{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}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public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Dice</a:t>
            </a:r>
            <a:r>
              <a:rPr lang="en-US" sz="2800" dirty="0">
                <a:solidFill>
                  <a:schemeClr val="tx2"/>
                </a:solidFill>
              </a:rPr>
              <a:t>(int sides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)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{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  this.sides = sides;</a:t>
            </a:r>
          </a:p>
          <a:p>
            <a:r>
              <a:rPr lang="en-US" sz="2800" dirty="0">
                <a:solidFill>
                  <a:schemeClr val="tx2"/>
                </a:solidFill>
              </a:rPr>
              <a:t>  }</a:t>
            </a:r>
          </a:p>
          <a:p>
            <a:r>
              <a:rPr lang="en-US" sz="2800" dirty="0">
                <a:solidFill>
                  <a:schemeClr val="tx2"/>
                </a:solidFill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551612" y="2133600"/>
            <a:ext cx="2438400" cy="1418207"/>
          </a:xfrm>
          <a:prstGeom prst="wedgeRoundRectCallout">
            <a:avLst>
              <a:gd name="adj1" fmla="val -84483"/>
              <a:gd name="adj2" fmla="val 31140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noProof="1">
                <a:solidFill>
                  <a:schemeClr val="tx1"/>
                </a:solidFill>
                <a:latin typeface="+mj-lt"/>
              </a:rPr>
              <a:t>Извикваме конструктор с параметри</a:t>
            </a:r>
            <a:endParaRPr lang="en-US" sz="2800" noProof="1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3198812" y="3442595"/>
            <a:ext cx="1524000" cy="82460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/>
              <a:t>Създайте клас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Person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</a:t>
            </a:r>
            <a:r>
              <a:rPr lang="en-US" dirty="0"/>
              <a:t>: </a:t>
            </a:r>
            <a:r>
              <a:rPr lang="bg-BG" dirty="0"/>
              <a:t>Дефиниране на клас </a:t>
            </a:r>
            <a:r>
              <a:rPr lang="bg-BG" dirty="0" err="1"/>
              <a:t>Физ.лице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869643" y="2390482"/>
            <a:ext cx="5029200" cy="3553118"/>
            <a:chOff x="-306388" y="2077297"/>
            <a:chExt cx="3137848" cy="3619576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077297"/>
              <a:ext cx="3137848" cy="582633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spcBef>
                  <a:spcPts val="0"/>
                </a:spcBef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latin typeface="Consolas" pitchFamily="49" charset="0"/>
                </a:rPr>
                <a:t>Person</a:t>
              </a:r>
              <a:endParaRPr lang="en-US" sz="1400" b="1" noProof="1">
                <a:solidFill>
                  <a:schemeClr val="tx2">
                    <a:lumMod val="75000"/>
                  </a:schemeClr>
                </a:solidFill>
                <a:latin typeface="Consolas" pitchFamily="49" charset="0"/>
              </a:endParaRP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68031"/>
              <a:ext cx="3137848" cy="13142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latin typeface="Consolas" pitchFamily="49" charset="0"/>
                </a:rPr>
                <a:t>-name:string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latin typeface="Consolas" pitchFamily="49" charset="0"/>
                </a:rPr>
                <a:t>-age:int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latin typeface="Consolas" pitchFamily="49" charset="0"/>
                </a:rPr>
                <a:t>-accounts:List&lt;BankAccount&gt;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3978181"/>
              <a:ext cx="3137848" cy="1718692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15000"/>
              </a:schemeClr>
            </a:solidFill>
            <a:ln w="25400">
              <a:solidFill>
                <a:schemeClr val="accent5">
                  <a:lumMod val="20000"/>
                  <a:lumOff val="80000"/>
                </a:schemeClr>
              </a:solidFill>
            </a:ln>
          </p:spPr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latin typeface="Consolas" pitchFamily="49" charset="0"/>
                </a:rPr>
                <a:t>+Balance():double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latin typeface="Consolas" pitchFamily="49" charset="0"/>
                </a:rPr>
                <a:t>+Person(String name, int age)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000" b="1" noProof="1">
                  <a:latin typeface="Consolas" pitchFamily="49" charset="0"/>
                </a:rPr>
                <a:t>+Person(String name, int age, </a:t>
              </a:r>
              <a:br>
                <a:rPr lang="en-US" sz="2000" b="1" noProof="1">
                  <a:latin typeface="Consolas" pitchFamily="49" charset="0"/>
                </a:rPr>
              </a:br>
              <a:r>
                <a:rPr lang="en-US" sz="2000" b="1" noProof="1">
                  <a:latin typeface="Consolas" pitchFamily="49" charset="0"/>
                </a:rPr>
                <a:t>    List&lt;BankAccount&gt; accounts)</a:t>
              </a:r>
            </a:p>
          </p:txBody>
        </p:sp>
      </p:grpSp>
      <p:sp>
        <p:nvSpPr>
          <p:cNvPr id="10" name="Arrow: Bent-Up 9"/>
          <p:cNvSpPr/>
          <p:nvPr/>
        </p:nvSpPr>
        <p:spPr>
          <a:xfrm rot="10800000" flipH="1">
            <a:off x="6336844" y="2847682"/>
            <a:ext cx="838200" cy="788102"/>
          </a:xfrm>
          <a:prstGeom prst="bentUpArrow">
            <a:avLst>
              <a:gd name="adj1" fmla="val 32251"/>
              <a:gd name="adj2" fmla="val 40712"/>
              <a:gd name="adj3" fmla="val 322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/>
          </a:p>
        </p:txBody>
      </p:sp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6578073" y="4038601"/>
            <a:ext cx="4988339" cy="18180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r>
              <a:rPr lang="en-US" dirty="0"/>
              <a:t>: </a:t>
            </a:r>
            <a:r>
              <a:rPr lang="bg-BG" dirty="0"/>
              <a:t>Дефиниране на клас </a:t>
            </a:r>
            <a:r>
              <a:rPr lang="bg-BG" dirty="0" err="1"/>
              <a:t>Физ.лице</a:t>
            </a:r>
            <a:endParaRPr lang="en-US" dirty="0"/>
          </a:p>
        </p:txBody>
      </p:sp>
      <p:sp>
        <p:nvSpPr>
          <p:cNvPr id="5" name="Text Placeholder 5"/>
          <p:cNvSpPr txBox="1"/>
          <p:nvPr/>
        </p:nvSpPr>
        <p:spPr>
          <a:xfrm>
            <a:off x="531812" y="990600"/>
            <a:ext cx="11353798" cy="568538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dirty="0"/>
              <a:t>public class Person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</a:t>
            </a:r>
            <a:r>
              <a:rPr lang="bg-BG" dirty="0"/>
              <a:t> </a:t>
            </a:r>
            <a:r>
              <a:rPr lang="en-US" dirty="0"/>
              <a:t>private string name;</a:t>
            </a:r>
          </a:p>
          <a:p>
            <a:r>
              <a:rPr lang="en-US"/>
              <a:t> </a:t>
            </a:r>
            <a:r>
              <a:rPr lang="bg-BG"/>
              <a:t> </a:t>
            </a:r>
            <a:r>
              <a:rPr lang="en-US" dirty="0"/>
              <a:t>private int age;</a:t>
            </a:r>
          </a:p>
          <a:p>
            <a:r>
              <a:rPr lang="bg-BG" dirty="0"/>
              <a:t>  </a:t>
            </a:r>
            <a:r>
              <a:rPr lang="en-US" dirty="0"/>
              <a:t>private List&lt;BankAccount&gt; accounts;</a:t>
            </a:r>
          </a:p>
          <a:p>
            <a:r>
              <a:rPr lang="en-US" dirty="0"/>
              <a:t> </a:t>
            </a:r>
            <a:r>
              <a:rPr lang="bg-BG" dirty="0"/>
              <a:t> </a:t>
            </a:r>
            <a:r>
              <a:rPr lang="en-US" dirty="0"/>
              <a:t>public Person(string name, int age)</a:t>
            </a:r>
          </a:p>
          <a:p>
            <a:r>
              <a:rPr lang="en-US" dirty="0"/>
              <a:t>   </a:t>
            </a:r>
            <a:r>
              <a:rPr lang="bg-BG" dirty="0"/>
              <a:t>   </a:t>
            </a:r>
            <a:r>
              <a:rPr lang="en-US" dirty="0"/>
              <a:t>: this(name, age, new List&lt;BankAccount&gt;))</a:t>
            </a:r>
          </a:p>
          <a:p>
            <a:r>
              <a:rPr lang="en-US" dirty="0"/>
              <a:t> </a:t>
            </a:r>
            <a:r>
              <a:rPr lang="bg-BG" dirty="0"/>
              <a:t>   </a:t>
            </a:r>
            <a:r>
              <a:rPr lang="en-US" dirty="0"/>
              <a:t>{}</a:t>
            </a:r>
            <a:endParaRPr lang="bg-BG" dirty="0"/>
          </a:p>
          <a:p>
            <a:r>
              <a:rPr lang="bg-BG" dirty="0"/>
              <a:t>  </a:t>
            </a:r>
            <a:r>
              <a:rPr lang="en-US" dirty="0"/>
              <a:t>public Person(string name, int age, List&lt;BankAccount&gt; accounts)</a:t>
            </a:r>
          </a:p>
          <a:p>
            <a:r>
              <a:rPr lang="bg-BG" dirty="0"/>
              <a:t>  </a:t>
            </a:r>
            <a:r>
              <a:rPr lang="en-US" dirty="0"/>
              <a:t>{</a:t>
            </a:r>
          </a:p>
          <a:p>
            <a:r>
              <a:rPr lang="en-US" dirty="0"/>
              <a:t> </a:t>
            </a:r>
            <a:r>
              <a:rPr lang="bg-BG" dirty="0"/>
              <a:t>   </a:t>
            </a:r>
            <a:r>
              <a:rPr lang="en-US" dirty="0"/>
              <a:t>this.name = name;</a:t>
            </a:r>
          </a:p>
          <a:p>
            <a:r>
              <a:rPr lang="en-US" dirty="0"/>
              <a:t> </a:t>
            </a:r>
            <a:r>
              <a:rPr lang="bg-BG" dirty="0"/>
              <a:t>   </a:t>
            </a:r>
            <a:r>
              <a:rPr lang="en-US" dirty="0"/>
              <a:t>this.age = age;</a:t>
            </a:r>
          </a:p>
          <a:p>
            <a:r>
              <a:rPr lang="bg-BG" dirty="0"/>
              <a:t>    </a:t>
            </a:r>
            <a:r>
              <a:rPr lang="en-US" dirty="0"/>
              <a:t>this.accounts = accounts;</a:t>
            </a:r>
          </a:p>
          <a:p>
            <a:r>
              <a:rPr lang="en-US" dirty="0"/>
              <a:t> </a:t>
            </a:r>
            <a:r>
              <a:rPr lang="bg-BG" dirty="0"/>
              <a:t> </a:t>
            </a:r>
            <a:r>
              <a:rPr lang="en-US" dirty="0"/>
              <a:t>}</a:t>
            </a:r>
            <a:endParaRPr lang="bg-BG" dirty="0"/>
          </a:p>
          <a:p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Конструкторът е метод, които няма тип на връщана стойност, носи името на класа и който се извиква чрез ключовата дума </a:t>
            </a:r>
            <a:r>
              <a:rPr lang="ru-RU" dirty="0">
                <a:solidFill>
                  <a:srgbClr val="FFFF00"/>
                </a:solidFill>
              </a:rPr>
              <a:t>new</a:t>
            </a:r>
            <a:r>
              <a:rPr lang="ru-RU" dirty="0"/>
              <a:t>. Той се използва при създаване на обекти. Задачата му е да инициализира заделената за обекта памет, в която ще се съхраняват неговите полетата (тези, които не са static). 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Конструктор</a:t>
            </a:r>
            <a:r>
              <a:rPr lang="bg-BG" dirty="0"/>
              <a:t>и</a:t>
            </a:r>
          </a:p>
        </p:txBody>
      </p:sp>
    </p:spTree>
    <p:extLst>
      <p:ext uri="{BB962C8B-B14F-4D97-AF65-F5344CB8AC3E}">
        <p14:creationId xmlns:p14="http://schemas.microsoft.com/office/powerpoint/2010/main" val="834470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Инициализациите, описани в тялото на конструктора се изпълняват по време на изпълнението този конструктор – при създаване на обект от съответния клас с ключовата дума new в C#. Инициализациите, дефинирани при декларацията на полетата се изпълняват директно преди конструктора. </a:t>
            </a:r>
            <a:r>
              <a:rPr lang="ru-RU" dirty="0" smtClean="0"/>
              <a:t>К</a:t>
            </a:r>
            <a:endParaRPr lang="bg-BG" dirty="0"/>
          </a:p>
          <a:p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088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Допуска се използването на повече от един конструктор, като те трябва да се различават по броя и/или типа на параметрите си. Възможно е и да не се дефинира конструктор и в такъв случай компилаторът създава подразбиращ се – публичен, с празно тяло и без параметри.</a:t>
            </a:r>
            <a:endParaRPr lang="bg-BG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8801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52401"/>
            <a:ext cx="11804822" cy="65690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public class Student </a:t>
            </a:r>
            <a:r>
              <a:rPr lang="bg-BG" dirty="0"/>
              <a:t>Пример</a:t>
            </a:r>
          </a:p>
          <a:p>
            <a:pPr marL="0" indent="0">
              <a:buNone/>
            </a:pPr>
            <a:r>
              <a:rPr lang="bg-BG" dirty="0"/>
              <a:t>{</a:t>
            </a:r>
          </a:p>
          <a:p>
            <a:pPr marL="0" indent="0">
              <a:buNone/>
            </a:pPr>
            <a:r>
              <a:rPr lang="en-US" dirty="0"/>
              <a:t>private string </a:t>
            </a:r>
            <a:r>
              <a:rPr lang="en-US" dirty="0" err="1"/>
              <a:t>mName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private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mStudentId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private string </a:t>
            </a:r>
            <a:r>
              <a:rPr lang="en-US" dirty="0" err="1"/>
              <a:t>mPosition</a:t>
            </a:r>
            <a:r>
              <a:rPr lang="en-US" dirty="0"/>
              <a:t> = "Student";</a:t>
            </a:r>
          </a:p>
          <a:p>
            <a:pPr marL="0" indent="0">
              <a:buNone/>
            </a:pPr>
            <a:r>
              <a:rPr lang="en-US" dirty="0"/>
              <a:t>// </a:t>
            </a:r>
            <a:r>
              <a:rPr lang="bg-BG" dirty="0"/>
              <a:t>следва конструктор с 2 аргумента</a:t>
            </a:r>
          </a:p>
          <a:p>
            <a:pPr marL="0" indent="0">
              <a:buNone/>
            </a:pPr>
            <a:r>
              <a:rPr lang="en-US" dirty="0"/>
              <a:t>public Student (string </a:t>
            </a:r>
            <a:r>
              <a:rPr lang="en-US" dirty="0" err="1"/>
              <a:t>aName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aStudentId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mName</a:t>
            </a:r>
            <a:r>
              <a:rPr lang="en-US" dirty="0"/>
              <a:t> = </a:t>
            </a:r>
            <a:r>
              <a:rPr lang="en-US" dirty="0" err="1"/>
              <a:t>aName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err="1"/>
              <a:t>mStudentId</a:t>
            </a:r>
            <a:r>
              <a:rPr lang="en-US" dirty="0"/>
              <a:t> = </a:t>
            </a:r>
            <a:r>
              <a:rPr lang="en-US" dirty="0" err="1"/>
              <a:t>aStudentId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public static void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Student s = new Student ("</a:t>
            </a:r>
            <a:r>
              <a:rPr lang="bg-BG" dirty="0"/>
              <a:t>Бай Киро", 12345);</a:t>
            </a:r>
          </a:p>
        </p:txBody>
      </p:sp>
    </p:spTree>
    <p:extLst>
      <p:ext uri="{BB962C8B-B14F-4D97-AF65-F5344CB8AC3E}">
        <p14:creationId xmlns:p14="http://schemas.microsoft.com/office/powerpoint/2010/main" val="1939459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научихме днес?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190412" y="1138653"/>
            <a:ext cx="11804822" cy="2934584"/>
          </a:xfrm>
        </p:spPr>
        <p:txBody>
          <a:bodyPr>
            <a:noAutofit/>
          </a:bodyPr>
          <a:lstStyle/>
          <a:p>
            <a:pPr marL="358775" indent="-358775">
              <a:lnSpc>
                <a:spcPct val="110000"/>
              </a:lnSpc>
            </a:pPr>
            <a:r>
              <a:rPr lang="bg-BG" sz="3200" dirty="0"/>
              <a:t>Конструкторите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задават </a:t>
            </a:r>
            <a:br>
              <a:rPr lang="bg-BG" sz="32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началното състояние</a:t>
            </a:r>
            <a:r>
              <a:rPr lang="bg-BG" sz="3200" dirty="0"/>
              <a:t> на </a:t>
            </a:r>
            <a:br>
              <a:rPr lang="bg-BG" sz="3200" dirty="0"/>
            </a:br>
            <a:r>
              <a:rPr lang="bg-BG" sz="3200" dirty="0"/>
              <a:t>обекта</a:t>
            </a:r>
            <a:endParaRPr lang="en-US" sz="32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bg-BG" sz="3200" dirty="0"/>
              <a:t>Може да има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множество</a:t>
            </a:r>
            <a:r>
              <a:rPr lang="bg-BG" sz="3200" dirty="0"/>
              <a:t> </a:t>
            </a:r>
            <a:br>
              <a:rPr lang="bg-BG" sz="3200" dirty="0"/>
            </a:b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различни</a:t>
            </a:r>
            <a:r>
              <a:rPr lang="bg-BG" sz="3200" dirty="0"/>
              <a:t> конструктори за даден клас</a:t>
            </a:r>
          </a:p>
          <a:p>
            <a:r>
              <a:rPr lang="bg-BG" sz="3200" dirty="0"/>
              <a:t>Конструкторите 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могат да се извикват </a:t>
            </a:r>
            <a:r>
              <a:rPr lang="bg-BG" sz="3200" dirty="0"/>
              <a:t>един друг</a:t>
            </a:r>
            <a:endParaRPr lang="en-GB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2" descr="C:\Users\Ivan\Desktop\elements_presentations\summary_pi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240" y="762000"/>
            <a:ext cx="5135702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Конструктори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29384" y="6400802"/>
            <a:ext cx="10482604" cy="363552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https://it-kariera.mon.bg/e-learning/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818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r>
              <a:rPr lang="bg-BG" dirty="0"/>
              <a:t>Настоящият курс </a:t>
            </a:r>
            <a:r>
              <a:rPr lang="en-US" dirty="0"/>
              <a:t>(</a:t>
            </a:r>
            <a:r>
              <a:rPr lang="bg-BG" dirty="0"/>
              <a:t>слайдове</a:t>
            </a:r>
            <a:r>
              <a:rPr lang="en-US" dirty="0"/>
              <a:t>, </a:t>
            </a:r>
            <a:r>
              <a:rPr lang="bg-BG" dirty="0"/>
              <a:t>примери</a:t>
            </a:r>
            <a:r>
              <a:rPr lang="en-US" dirty="0"/>
              <a:t>, </a:t>
            </a:r>
            <a:r>
              <a:rPr lang="bg-BG" dirty="0"/>
              <a:t>видео</a:t>
            </a:r>
            <a:r>
              <a:rPr lang="en-US" dirty="0"/>
              <a:t>, </a:t>
            </a:r>
            <a:r>
              <a:rPr lang="bg-BG" dirty="0"/>
              <a:t>задачи и др.</a:t>
            </a:r>
            <a:r>
              <a:rPr lang="en-US" dirty="0"/>
              <a:t>)</a:t>
            </a:r>
            <a:r>
              <a:rPr lang="bg-BG" dirty="0"/>
              <a:t> се разпространяват под свободен лиценз </a:t>
            </a:r>
            <a:r>
              <a:rPr lang="en-US" dirty="0"/>
              <a:t>"</a:t>
            </a:r>
            <a:r>
              <a:rPr lang="en-US" dirty="0">
                <a:hlinkClick r:id="rId3"/>
              </a:rPr>
              <a:t>Creative Commons </a:t>
            </a:r>
            <a:r>
              <a:rPr lang="en-US" noProof="1">
                <a:hlinkClick r:id="rId3"/>
              </a:rPr>
              <a:t>Attribution-NonCommercial-ShareAlike</a:t>
            </a:r>
            <a:r>
              <a:rPr lang="en-US" dirty="0">
                <a:hlinkClick r:id="rId3"/>
              </a:rPr>
              <a:t> 4.0 International</a:t>
            </a:r>
            <a:r>
              <a:rPr lang="en-US" dirty="0"/>
              <a:t>"</a:t>
            </a:r>
            <a:endParaRPr lang="bg-BG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endParaRPr lang="bg-BG" sz="2400" dirty="0"/>
          </a:p>
          <a:p>
            <a:pPr>
              <a:spcBef>
                <a:spcPts val="1800"/>
              </a:spcBef>
            </a:pPr>
            <a:r>
              <a:rPr lang="bg-BG" sz="2400" dirty="0"/>
              <a:t>Благодарности</a:t>
            </a:r>
            <a:r>
              <a:rPr lang="en-US" sz="2400" dirty="0"/>
              <a:t>: </a:t>
            </a:r>
            <a:r>
              <a:rPr lang="bg-BG" sz="2400" dirty="0"/>
              <a:t>настоящият материал може да съдържа части от следните източници</a:t>
            </a:r>
            <a:endParaRPr lang="en-US" sz="2400" dirty="0"/>
          </a:p>
          <a:p>
            <a:pPr lvl="1"/>
            <a:r>
              <a:rPr lang="bg-BG" sz="2000" dirty="0"/>
              <a:t>Книга </a:t>
            </a:r>
            <a:r>
              <a:rPr lang="en-US" sz="2000" dirty="0"/>
              <a:t>"</a:t>
            </a:r>
            <a:r>
              <a:rPr lang="bg-BG" sz="2000" dirty="0">
                <a:hlinkClick r:id="rId4"/>
              </a:rPr>
              <a:t>Основи на програмирането със </a:t>
            </a:r>
            <a:r>
              <a:rPr lang="en-US" sz="2000" dirty="0">
                <a:hlinkClick r:id="rId4"/>
              </a:rPr>
              <a:t>C#"</a:t>
            </a:r>
            <a:r>
              <a:rPr lang="bg-BG" sz="2000" dirty="0"/>
              <a:t> от Светлин Наков и колектив с лиценз</a:t>
            </a:r>
            <a:r>
              <a:rPr lang="en-US" sz="2000" dirty="0"/>
              <a:t> </a:t>
            </a:r>
            <a:r>
              <a:rPr lang="en-US" sz="2000" dirty="0">
                <a:hlinkClick r:id="rId5"/>
              </a:rPr>
              <a:t>CC-BY-SA</a:t>
            </a:r>
            <a:endParaRPr lang="bg-BG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Лиценз</a:t>
            </a:r>
            <a:endParaRPr lang="en-US" dirty="0"/>
          </a:p>
        </p:txBody>
      </p:sp>
      <p:pic>
        <p:nvPicPr>
          <p:cNvPr id="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7637" y="3462620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85248"/>
      </p:ext>
    </p:extLst>
  </p:cSld>
  <p:clrMapOvr>
    <a:masterClrMapping/>
  </p:clrMapOvr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72809E0BA352146887A598B2150FBCE" ma:contentTypeVersion="4" ma:contentTypeDescription="Създаване на нов документ" ma:contentTypeScope="" ma:versionID="30c80d78220d05fd27aa80afaa729309">
  <xsd:schema xmlns:xsd="http://www.w3.org/2001/XMLSchema" xmlns:xs="http://www.w3.org/2001/XMLSchema" xmlns:p="http://schemas.microsoft.com/office/2006/metadata/properties" xmlns:ns2="0401b427-85e3-40cd-b50d-13f667a12a32" targetNamespace="http://schemas.microsoft.com/office/2006/metadata/properties" ma:root="true" ma:fieldsID="b567aba00756e876f94a97c73625782e" ns2:_="">
    <xsd:import namespace="0401b427-85e3-40cd-b50d-13f667a12a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01b427-85e3-40cd-b50d-13f667a12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D5AAA2-BAC8-47BB-9979-BA74B8A31400}"/>
</file>

<file path=customXml/itemProps2.xml><?xml version="1.0" encoding="utf-8"?>
<ds:datastoreItem xmlns:ds="http://schemas.openxmlformats.org/officeDocument/2006/customXml" ds:itemID="{0FB3F2CE-204F-49E2-8D53-53F4C39996CC}"/>
</file>

<file path=customXml/itemProps3.xml><?xml version="1.0" encoding="utf-8"?>
<ds:datastoreItem xmlns:ds="http://schemas.openxmlformats.org/officeDocument/2006/customXml" ds:itemID="{F2BDC9E7-03AA-4996-BB9F-10A8BF370042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738</Words>
  <Application>Microsoft Office PowerPoint</Application>
  <PresentationFormat>Custom</PresentationFormat>
  <Paragraphs>153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Wingdings</vt:lpstr>
      <vt:lpstr>Wingdings 2</vt:lpstr>
      <vt:lpstr>SoftUni 16x9</vt:lpstr>
      <vt:lpstr>PowerPoint Presentation</vt:lpstr>
      <vt:lpstr>Съдържание</vt:lpstr>
      <vt:lpstr>Конструктори</vt:lpstr>
      <vt:lpstr>Конструктори (2)</vt:lpstr>
      <vt:lpstr>Начално състояние на обекта</vt:lpstr>
      <vt:lpstr>Верижно извикване на конструктори</vt:lpstr>
      <vt:lpstr>Задача: Дефиниране на клас Физ.лице</vt:lpstr>
      <vt:lpstr>Решение: Дефиниране на клас Физ.лице</vt:lpstr>
      <vt:lpstr>Конструктори</vt:lpstr>
      <vt:lpstr>PowerPoint Presentation</vt:lpstr>
      <vt:lpstr>PowerPoint Presentation</vt:lpstr>
      <vt:lpstr>PowerPoint Presentation</vt:lpstr>
      <vt:lpstr>Какво научихме днес?</vt:lpstr>
      <vt:lpstr>Конструктори</vt:lpstr>
      <vt:lpstr>Лиценз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Defining Classes</dc:title>
  <dc:subject>C# Basics Course</dc:subject>
  <dc:creator/>
  <cp:keywords>C#, class, object, fields, methods, properties, constructors, static</cp:keywords>
  <dc:description>Software University Foundation - http://softuni.org</dc:description>
  <cp:lastModifiedBy/>
  <cp:revision>3</cp:revision>
  <dcterms:created xsi:type="dcterms:W3CDTF">2018-03-04T07:34:42Z</dcterms:created>
  <dcterms:modified xsi:type="dcterms:W3CDTF">2019-04-03T19:57:48Z</dcterms:modified>
  <cp:category>programming, software engineering, C#, OOP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  <property fmtid="{D5CDD505-2E9C-101B-9397-08002B2CF9AE}" pid="3" name="KSOProductBuildVer">
    <vt:lpwstr>1026-10.1.0.5707</vt:lpwstr>
  </property>
  <property fmtid="{D5CDD505-2E9C-101B-9397-08002B2CF9AE}" pid="4" name="ContentTypeId">
    <vt:lpwstr>0x010100C72809E0BA352146887A598B2150FBCE</vt:lpwstr>
  </property>
</Properties>
</file>