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94" r:id="rId2"/>
    <p:sldId id="571" r:id="rId3"/>
    <p:sldId id="578" r:id="rId4"/>
    <p:sldId id="589" r:id="rId5"/>
    <p:sldId id="591" r:id="rId6"/>
    <p:sldId id="592" r:id="rId7"/>
    <p:sldId id="593" r:id="rId8"/>
    <p:sldId id="594" r:id="rId9"/>
    <p:sldId id="595" r:id="rId10"/>
    <p:sldId id="486" r:id="rId11"/>
    <p:sldId id="596" r:id="rId12"/>
    <p:sldId id="597" r:id="rId13"/>
  </p:sldIdLst>
  <p:sldSz cx="12188825" cy="6858000"/>
  <p:notesSz cx="6858000" cy="9144000"/>
  <p:defaultTextStyle>
    <a:defPPr>
      <a:defRPr lang="en-US"/>
    </a:defPPr>
    <a:lvl1pPr marL="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5D7E5960-A9BC-43C4-BCE0-8E99BC3BA6A9}">
          <p14:sldIdLst>
            <p14:sldId id="394"/>
            <p14:sldId id="571"/>
          </p14:sldIdLst>
        </p14:section>
        <p14:section name="Методи" id="{51D0FD15-3932-43D9-82C9-6AF03C9EE001}">
          <p14:sldIdLst>
            <p14:sldId id="578"/>
            <p14:sldId id="589"/>
            <p14:sldId id="591"/>
            <p14:sldId id="592"/>
            <p14:sldId id="593"/>
            <p14:sldId id="594"/>
            <p14:sldId id="595"/>
          </p14:sldIdLst>
        </p14:section>
        <p14:section name="Заключения" id="{3E23A7B0-228F-4458-953E-A0823B82CFF0}">
          <p14:sldIdLst>
            <p14:sldId id="486"/>
            <p14:sldId id="596"/>
            <p14:sldId id="5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3BE60"/>
    <a:srgbClr val="D2A010"/>
    <a:srgbClr val="F6D18E"/>
    <a:srgbClr val="C6C0AA"/>
    <a:srgbClr val="F9F0AB"/>
    <a:srgbClr val="F9E6AB"/>
    <a:srgbClr val="F9FAAB"/>
    <a:srgbClr val="767691"/>
    <a:srgbClr val="7676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6" autoAdjust="0"/>
    <p:restoredTop sz="98670" autoAdjust="0"/>
  </p:normalViewPr>
  <p:slideViewPr>
    <p:cSldViewPr>
      <p:cViewPr varScale="1">
        <p:scale>
          <a:sx n="87" d="100"/>
          <a:sy n="87" d="100"/>
        </p:scale>
        <p:origin x="276" y="80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19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4/1/2018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384755204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t>4/1/2018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88434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344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90436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316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814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BE65B3B-E6E2-4525-8F2E-49AC8F612DB9}" type="slidenum">
              <a:rPr lang="en-US"/>
              <a:t>10</a:t>
            </a:fld>
            <a:r>
              <a:rPr lang="en-US" dirty="0"/>
              <a:t>##</a:t>
            </a:r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58903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>
                <a:solidFill>
                  <a:prstClr val="black"/>
                </a:solidFill>
              </a:rPr>
              <a:t>© Software University Foundation – </a:t>
            </a:r>
            <a:r>
              <a:rPr lang="en-US" sz="1000" u="sng" dirty="0">
                <a:solidFill>
                  <a:prstClr val="black"/>
                </a:solidFill>
                <a:hlinkClick r:id="rId3"/>
              </a:rPr>
              <a:t>http://softuni.org</a:t>
            </a:r>
            <a:endParaRPr lang="en-US" sz="1000" dirty="0">
              <a:solidFill>
                <a:prstClr val="black"/>
              </a:solidFill>
            </a:endParaRPr>
          </a:p>
          <a:p>
            <a:r>
              <a:rPr lang="en-US" sz="1000" dirty="0">
                <a:solidFill>
                  <a:prstClr val="black"/>
                </a:solidFill>
              </a:rPr>
              <a:t>This work is licensed under the </a:t>
            </a:r>
            <a:r>
              <a:rPr lang="en-US" sz="1000" u="sng" noProof="1">
                <a:solidFill>
                  <a:prstClr val="black"/>
                </a:solidFill>
                <a:hlinkClick r:id="rId4"/>
              </a:rPr>
              <a:t>Creative Commons Attribution-NonCommercial-ShareAlike</a:t>
            </a:r>
            <a:r>
              <a:rPr lang="en-US" sz="1000" noProof="1">
                <a:solidFill>
                  <a:prstClr val="black"/>
                </a:solidFill>
              </a:rPr>
              <a:t> </a:t>
            </a:r>
            <a:r>
              <a:rPr lang="en-US" sz="1000" dirty="0">
                <a:solidFill>
                  <a:prstClr val="black"/>
                </a:solidFill>
              </a:rPr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025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84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SoftwareUniversity" TargetMode="External"/><Relationship Id="rId3" Type="http://schemas.openxmlformats.org/officeDocument/2006/relationships/hyperlink" Target="http://softuni.bg/" TargetMode="External"/><Relationship Id="rId7" Type="http://schemas.openxmlformats.org/officeDocument/2006/relationships/hyperlink" Target="http://judge.softuni.bg/" TargetMode="External"/><Relationship Id="rId12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forum.softuni.bg/" TargetMode="External"/><Relationship Id="rId11" Type="http://schemas.openxmlformats.org/officeDocument/2006/relationships/hyperlink" Target="http://www.introprogramming.info/" TargetMode="External"/><Relationship Id="rId5" Type="http://schemas.openxmlformats.org/officeDocument/2006/relationships/hyperlink" Target="http://www.nakov.com/" TargetMode="External"/><Relationship Id="rId10" Type="http://schemas.openxmlformats.org/officeDocument/2006/relationships/hyperlink" Target="http://www.youtube.com/SoftwareUniversity" TargetMode="External"/><Relationship Id="rId4" Type="http://schemas.openxmlformats.org/officeDocument/2006/relationships/hyperlink" Target="http://softuni.org/" TargetMode="External"/><Relationship Id="rId9" Type="http://schemas.openxmlformats.org/officeDocument/2006/relationships/hyperlink" Target="https://twitter.com/softunibg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 bwMode="grayWhite"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/>
              <a:t>Insert a Picture Here</a:t>
            </a:r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Web Site</a:t>
            </a:r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Slide Title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6212" y="4953000"/>
            <a:ext cx="8938472" cy="820600"/>
          </a:xfrm>
        </p:spPr>
        <p:txBody>
          <a:bodyPr lIns="36000" tIns="36000" rIns="36000" bIns="36000" anchor="b">
            <a:spAutoFit/>
          </a:bodyPr>
          <a:lstStyle>
            <a:lvl1pPr algn="ctr">
              <a:defRPr sz="5400" b="1" cap="none" baseline="0"/>
            </a:lvl1pPr>
          </a:lstStyle>
          <a:p>
            <a:r>
              <a:rPr lang="en-US" dirty="0"/>
              <a:t>Click to Edit Section Title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46212" y="5754968"/>
            <a:ext cx="8938472" cy="688256"/>
          </a:xfrm>
        </p:spPr>
        <p:txBody>
          <a:bodyPr lIns="36000" tIns="36000" rIns="36000" bIns="3600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1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3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5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1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Section Subtitle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1529384" y="6400802"/>
            <a:ext cx="10482604" cy="363552"/>
          </a:xfrm>
          <a:prstGeom prst="rect">
            <a:avLst/>
          </a:prstGeom>
        </p:spPr>
        <p:txBody>
          <a:bodyPr wrap="square" lIns="36000" rIns="36000">
            <a:spAutoFit/>
          </a:bodyPr>
          <a:lstStyle>
            <a:lvl1pPr marL="0" indent="0" algn="r"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/>
              <a:t>Course Web Site</a:t>
            </a:r>
          </a:p>
        </p:txBody>
      </p:sp>
      <p:sp>
        <p:nvSpPr>
          <p:cNvPr id="50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2" name="TextBox 1">
            <a:hlinkClick r:id="rId3" tooltip="Software University - Quality Education, Profession and Job for Software Engineers"/>
          </p:cNvPr>
          <p:cNvSpPr txBox="1"/>
          <p:nvPr userDrawn="1"/>
        </p:nvSpPr>
        <p:spPr>
          <a:xfrm rot="322982">
            <a:off x="10066442" y="2253546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7" name="TextBox 26">
            <a:hlinkClick r:id="rId4" tooltip="Software University Foundaton"/>
          </p:cNvPr>
          <p:cNvSpPr txBox="1"/>
          <p:nvPr userDrawn="1"/>
        </p:nvSpPr>
        <p:spPr>
          <a:xfrm rot="20630519">
            <a:off x="7568290" y="4341197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1" name="TextBox 50">
            <a:hlinkClick r:id="rId5" tooltip="Svetlin Nakov - Programming and Education for Developers"/>
          </p:cNvPr>
          <p:cNvSpPr txBox="1"/>
          <p:nvPr userDrawn="1"/>
        </p:nvSpPr>
        <p:spPr>
          <a:xfrm>
            <a:off x="11500162" y="467963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2" name="TextBox 51">
            <a:hlinkClick r:id="rId6" tooltip="Software University - Discussion Forum"/>
          </p:cNvPr>
          <p:cNvSpPr txBox="1"/>
          <p:nvPr userDrawn="1"/>
        </p:nvSpPr>
        <p:spPr>
          <a:xfrm rot="20971262">
            <a:off x="6094412" y="610908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3" name="TextBox 52">
            <a:hlinkClick r:id="rId7" tooltip="Software University - Online Judge System"/>
          </p:cNvPr>
          <p:cNvSpPr txBox="1"/>
          <p:nvPr userDrawn="1"/>
        </p:nvSpPr>
        <p:spPr>
          <a:xfrm rot="569019">
            <a:off x="9155998" y="403273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4" name="TextBox 53">
            <a:hlinkClick r:id="rId8" tooltip="Software University @ Facebook"/>
          </p:cNvPr>
          <p:cNvSpPr txBox="1"/>
          <p:nvPr userDrawn="1"/>
        </p:nvSpPr>
        <p:spPr>
          <a:xfrm rot="219682">
            <a:off x="7047355" y="2560119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6" name="TextBox 55">
            <a:hlinkClick r:id="rId9" tooltip="Software University @ Twitter"/>
          </p:cNvPr>
          <p:cNvSpPr txBox="1"/>
          <p:nvPr userDrawn="1"/>
        </p:nvSpPr>
        <p:spPr>
          <a:xfrm rot="20972266">
            <a:off x="11754532" y="232084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7" name="TextBox 56">
            <a:hlinkClick r:id="rId10" tooltip="Software University @ YouTube - free training courses and video lessons for software engineers"/>
          </p:cNvPr>
          <p:cNvSpPr txBox="1"/>
          <p:nvPr userDrawn="1"/>
        </p:nvSpPr>
        <p:spPr>
          <a:xfrm rot="562174">
            <a:off x="11774596" y="3447926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8" name="TextBox 57">
            <a:hlinkClick r:id="rId11" tooltip="Programming Fundamentals Book and Vide Lessons: Learn C#, Programming, Data Structures, Algorithms and Quality Coding"/>
          </p:cNvPr>
          <p:cNvSpPr txBox="1"/>
          <p:nvPr userDrawn="1"/>
        </p:nvSpPr>
        <p:spPr>
          <a:xfrm rot="571210">
            <a:off x="11136783" y="562591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6" name="Rectangle 15"/>
          <p:cNvSpPr/>
          <p:nvPr userDrawn="1"/>
        </p:nvSpPr>
        <p:spPr>
          <a:xfrm rot="20949717">
            <a:off x="2718532" y="3306088"/>
            <a:ext cx="4540980" cy="948072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0" hangingPunct="0">
              <a:buClr>
                <a:srgbClr val="A19574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</a:pPr>
            <a:r>
              <a:rPr lang="bg-BG" sz="6600" b="1" dirty="0">
                <a:solidFill>
                  <a:srgbClr val="F3BE60"/>
                </a:solidFill>
              </a:rPr>
              <a:t>Въпроси</a:t>
            </a:r>
            <a:r>
              <a:rPr lang="en-US" sz="6600" b="1" dirty="0">
                <a:solidFill>
                  <a:srgbClr val="F3BE60"/>
                </a:solidFill>
              </a:rPr>
              <a:t>?</a:t>
            </a:r>
            <a:endParaRPr lang="en-US" sz="6600" b="1" spc="150" dirty="0">
              <a:ln w="11430"/>
              <a:solidFill>
                <a:prstClr val="white">
                  <a:lumMod val="40000"/>
                  <a:lumOff val="60000"/>
                </a:prst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AAFB65-F193-4484-85C5-7FFA43021634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7714">
            <a:off x="504277" y="2018007"/>
            <a:ext cx="2849278" cy="330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937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03" y="39574"/>
            <a:ext cx="11806432" cy="1111549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13" y="1151123"/>
            <a:ext cx="11804822" cy="5570353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1218565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3BE60"/>
          </a:solidFill>
          <a:latin typeface="+mj-lt"/>
          <a:ea typeface="+mj-ea"/>
          <a:cs typeface="+mj-cs"/>
        </a:defRPr>
      </a:lvl1pPr>
    </p:titleStyle>
    <p:bodyStyle>
      <a:lvl1pPr marL="304800" indent="-304800" algn="l" defTabSz="1218565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F2B254"/>
        </a:buClr>
        <a:buSzPct val="100000"/>
        <a:buFont typeface="Wingdings" charset="2"/>
        <a:buChar char="§"/>
        <a:defRPr sz="3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indent="-231775" algn="l" defTabSz="1218565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accent1"/>
        </a:buClr>
        <a:buSzPct val="80000"/>
        <a:buFont typeface="Wingdings" charset="2"/>
        <a:buChar char="§"/>
        <a:defRPr sz="32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31775" algn="l" defTabSz="1218565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F9A1D"/>
        </a:buClr>
        <a:buSzPct val="80000"/>
        <a:buFont typeface="Wingdings" charset="2"/>
        <a:buChar char="§"/>
        <a:defRPr sz="3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219200" indent="-231775" algn="l" defTabSz="1218565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D9411"/>
        </a:buClr>
        <a:buSzPct val="80000"/>
        <a:buFont typeface="Wingdings" charset="2"/>
        <a:buChar char="§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4000" indent="-231775" algn="l" defTabSz="1218565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28D10"/>
        </a:buClr>
        <a:buSzPct val="80000"/>
        <a:buFont typeface="Wingdings" charset="2"/>
        <a:buChar char="§"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165" indent="-231775" algn="l" defTabSz="1218565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2965" indent="-231775" algn="l" defTabSz="1218565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765" indent="-231775" algn="l" defTabSz="1218565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565" indent="-231775" algn="l" defTabSz="1218565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it-kariera.mon.bg/e-learnin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t-kariera.mon.bg/e-learnin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://creativecommons.org/licenses/by-sa/4.0/" TargetMode="External"/><Relationship Id="rId4" Type="http://schemas.openxmlformats.org/officeDocument/2006/relationships/hyperlink" Target="https://csharp-book.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7084414" y="3512151"/>
            <a:ext cx="4481897" cy="2777542"/>
            <a:chOff x="3160644" y="914400"/>
            <a:chExt cx="5638935" cy="3486878"/>
          </a:xfrm>
        </p:grpSpPr>
        <p:grpSp>
          <p:nvGrpSpPr>
            <p:cNvPr id="35" name="Group 34"/>
            <p:cNvGrpSpPr/>
            <p:nvPr/>
          </p:nvGrpSpPr>
          <p:grpSpPr>
            <a:xfrm>
              <a:off x="3160644" y="914400"/>
              <a:ext cx="5638935" cy="3486878"/>
              <a:chOff x="3160644" y="914400"/>
              <a:chExt cx="5638935" cy="3486878"/>
            </a:xfrm>
          </p:grpSpPr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60644" y="914400"/>
                <a:ext cx="5638935" cy="3486878"/>
              </a:xfrm>
              <a:prstGeom prst="roundRect">
                <a:avLst>
                  <a:gd name="adj" fmla="val 1624"/>
                </a:avLst>
              </a:prstGeom>
            </p:spPr>
          </p:pic>
          <p:sp>
            <p:nvSpPr>
              <p:cNvPr id="39" name="Oval 38"/>
              <p:cNvSpPr/>
              <p:nvPr/>
            </p:nvSpPr>
            <p:spPr>
              <a:xfrm rot="551640">
                <a:off x="6498858" y="2691587"/>
                <a:ext cx="222299" cy="3735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/>
              </a:p>
            </p:txBody>
          </p:sp>
          <p:sp>
            <p:nvSpPr>
              <p:cNvPr id="40" name="Oval 39"/>
              <p:cNvSpPr/>
              <p:nvPr/>
            </p:nvSpPr>
            <p:spPr>
              <a:xfrm rot="5400000">
                <a:off x="5889136" y="1556663"/>
                <a:ext cx="161738" cy="40121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/>
              </a:p>
            </p:txBody>
          </p:sp>
          <p:sp>
            <p:nvSpPr>
              <p:cNvPr id="41" name="Oval 40"/>
              <p:cNvSpPr/>
              <p:nvPr/>
            </p:nvSpPr>
            <p:spPr>
              <a:xfrm rot="5400000">
                <a:off x="5878756" y="1841747"/>
                <a:ext cx="182497" cy="40121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/>
              </a:p>
            </p:txBody>
          </p:sp>
          <p:sp>
            <p:nvSpPr>
              <p:cNvPr id="42" name="Oval 41"/>
              <p:cNvSpPr/>
              <p:nvPr/>
            </p:nvSpPr>
            <p:spPr>
              <a:xfrm rot="20524110">
                <a:off x="5378296" y="2649208"/>
                <a:ext cx="251239" cy="3237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/>
              </a:p>
            </p:txBody>
          </p:sp>
          <p:sp>
            <p:nvSpPr>
              <p:cNvPr id="43" name="Oval 42"/>
              <p:cNvSpPr/>
              <p:nvPr/>
            </p:nvSpPr>
            <p:spPr>
              <a:xfrm rot="20524110">
                <a:off x="4995149" y="2456518"/>
                <a:ext cx="251239" cy="3237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/>
              </a:p>
            </p:txBody>
          </p:sp>
          <p:sp>
            <p:nvSpPr>
              <p:cNvPr id="44" name="Oval 43"/>
              <p:cNvSpPr/>
              <p:nvPr/>
            </p:nvSpPr>
            <p:spPr>
              <a:xfrm rot="20524110">
                <a:off x="5378296" y="3060983"/>
                <a:ext cx="251239" cy="3237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/>
              </a:p>
            </p:txBody>
          </p:sp>
          <p:sp>
            <p:nvSpPr>
              <p:cNvPr id="45" name="Oval 44"/>
              <p:cNvSpPr/>
              <p:nvPr/>
            </p:nvSpPr>
            <p:spPr>
              <a:xfrm rot="20524110">
                <a:off x="4995150" y="2868295"/>
                <a:ext cx="251239" cy="3237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/>
              </a:p>
            </p:txBody>
          </p:sp>
        </p:grpSp>
        <p:sp>
          <p:nvSpPr>
            <p:cNvPr id="36" name="Arc 35"/>
            <p:cNvSpPr/>
            <p:nvPr/>
          </p:nvSpPr>
          <p:spPr>
            <a:xfrm rot="13884984">
              <a:off x="4542743" y="1203968"/>
              <a:ext cx="1922345" cy="3152060"/>
            </a:xfrm>
            <a:prstGeom prst="arc">
              <a:avLst>
                <a:gd name="adj1" fmla="val 15472451"/>
                <a:gd name="adj2" fmla="val 18010623"/>
              </a:avLst>
            </a:prstGeom>
            <a:noFill/>
            <a:ln w="127000" cap="sq" cmpd="sng">
              <a:solidFill>
                <a:schemeClr val="bg1">
                  <a:alpha val="86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Arc 36"/>
            <p:cNvSpPr/>
            <p:nvPr/>
          </p:nvSpPr>
          <p:spPr>
            <a:xfrm rot="3095802">
              <a:off x="5365181" y="895203"/>
              <a:ext cx="1922345" cy="3152060"/>
            </a:xfrm>
            <a:prstGeom prst="arc">
              <a:avLst>
                <a:gd name="adj1" fmla="val 15472451"/>
                <a:gd name="adj2" fmla="val 18010623"/>
              </a:avLst>
            </a:prstGeom>
            <a:noFill/>
            <a:ln w="127000" cap="sq" cmpd="sng">
              <a:solidFill>
                <a:schemeClr val="bg1">
                  <a:alpha val="86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" name="Title 4"/>
          <p:cNvSpPr txBox="1"/>
          <p:nvPr/>
        </p:nvSpPr>
        <p:spPr>
          <a:xfrm>
            <a:off x="3351212" y="762000"/>
            <a:ext cx="8215099" cy="117155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r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F6D18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dirty="0"/>
              <a:t>Методи</a:t>
            </a:r>
            <a:endParaRPr lang="en-US" dirty="0"/>
          </a:p>
        </p:txBody>
      </p:sp>
      <p:sp>
        <p:nvSpPr>
          <p:cNvPr id="22" name="Subtitle 5"/>
          <p:cNvSpPr txBox="1"/>
          <p:nvPr/>
        </p:nvSpPr>
        <p:spPr>
          <a:xfrm>
            <a:off x="3503612" y="1915602"/>
            <a:ext cx="8062699" cy="1335052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0" indent="0" algn="r" defTabSz="1218565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charset="2"/>
              <a:buNone/>
              <a:defRPr sz="4000" b="0" kern="1200" cap="none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600" indent="0" algn="ctr" defTabSz="1218565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None/>
              <a:defRPr sz="32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200" indent="0" algn="ctr" defTabSz="1218565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None/>
              <a:defRPr sz="30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165" indent="0" algn="ctr" defTabSz="1218565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None/>
              <a:defRPr sz="28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765" indent="0" algn="ctr" defTabSz="1218565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365" indent="0" algn="ctr" defTabSz="1218565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5" indent="0" algn="ctr" defTabSz="1218565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565" indent="0" algn="ctr" defTabSz="1218565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165" indent="0" algn="ctr" defTabSz="1218565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dirty="0"/>
              <a:t>Описване на </a:t>
            </a:r>
            <a:br>
              <a:rPr lang="bg-BG" dirty="0"/>
            </a:br>
            <a:r>
              <a:rPr lang="bg-BG" dirty="0"/>
              <a:t>поведението на класа</a:t>
            </a:r>
            <a:endParaRPr lang="en-GB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604815C-6A2B-4CFF-B3D3-33108216129C}"/>
              </a:ext>
            </a:extLst>
          </p:cNvPr>
          <p:cNvGrpSpPr/>
          <p:nvPr/>
        </p:nvGrpSpPr>
        <p:grpSpPr>
          <a:xfrm>
            <a:off x="745783" y="3624633"/>
            <a:ext cx="5812658" cy="2524722"/>
            <a:chOff x="745783" y="3624633"/>
            <a:chExt cx="5812658" cy="2524722"/>
          </a:xfrm>
        </p:grpSpPr>
        <p:pic>
          <p:nvPicPr>
            <p:cNvPr id="33" name="Picture 32" descr="http://softuni.bg">
              <a:extLst>
                <a:ext uri="{FF2B5EF4-FFF2-40B4-BE49-F238E27FC236}">
                  <a16:creationId xmlns:a16="http://schemas.microsoft.com/office/drawing/2014/main" id="{3BCA4626-C0B8-450A-A06A-06FFDBCD6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960812" y="3624633"/>
              <a:ext cx="1828798" cy="2006988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4F36E7-4D91-47E5-AEDE-15DC43234F33}"/>
                </a:ext>
              </a:extLst>
            </p:cNvPr>
            <p:cNvSpPr txBox="1"/>
            <p:nvPr/>
          </p:nvSpPr>
          <p:spPr>
            <a:xfrm rot="576164">
              <a:off x="5020391" y="3707206"/>
              <a:ext cx="1538050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bg-BG" sz="2000" b="1" spc="50" dirty="0">
                  <a:ln w="9525" cmpd="sng">
                    <a:solidFill>
                      <a:srgbClr val="FFA72A"/>
                    </a:solidFill>
                    <a:prstDash val="solid"/>
                  </a:ln>
                  <a:solidFill>
                    <a:srgbClr val="FFF0D9"/>
                  </a:solidFill>
                  <a:effectLst>
                    <a:glow rad="38100">
                      <a:srgbClr val="F0A22E">
                        <a:alpha val="40000"/>
                      </a:srgbClr>
                    </a:glow>
                  </a:effectLst>
                </a:rPr>
                <a:t>Увод в ООП</a:t>
              </a:r>
              <a:endParaRPr lang="en-US" sz="2000" b="1" spc="50" dirty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rgbClr val="F0A22E">
                      <a:alpha val="40000"/>
                    </a:srgbClr>
                  </a:glow>
                </a:effectLst>
              </a:endParaRPr>
            </a:p>
          </p:txBody>
        </p:sp>
        <p:pic>
          <p:nvPicPr>
            <p:cNvPr id="47" name="Picture 4" title="CC-BY-NC-SA License">
              <a:hlinkClick r:id="rId5" tooltip="This work is licensed under the &quot;Creative Commons Attribution-NonCommercial-ShareAlike 4.0 International&quot; license"/>
              <a:extLst>
                <a:ext uri="{FF2B5EF4-FFF2-40B4-BE49-F238E27FC236}">
                  <a16:creationId xmlns:a16="http://schemas.microsoft.com/office/drawing/2014/main" id="{22F11C6E-B5A6-41CA-9CD2-B8E558703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45783" y="4076772"/>
              <a:ext cx="2175525" cy="761165"/>
            </a:xfrm>
            <a:prstGeom prst="roundRect">
              <a:avLst>
                <a:gd name="adj" fmla="val 3940"/>
              </a:avLst>
            </a:prstGeom>
            <a:solidFill>
              <a:srgbClr val="231F20">
                <a:alpha val="50000"/>
              </a:srgbClr>
            </a:solidFill>
            <a:ln>
              <a:solidFill>
                <a:schemeClr val="accent1">
                  <a:lumMod val="75000"/>
                  <a:alpha val="50000"/>
                </a:schemeClr>
              </a:solidFill>
            </a:ln>
          </p:spPr>
        </p:pic>
        <p:sp>
          <p:nvSpPr>
            <p:cNvPr id="48" name="Text Placeholder 7">
              <a:extLst>
                <a:ext uri="{FF2B5EF4-FFF2-40B4-BE49-F238E27FC236}">
                  <a16:creationId xmlns:a16="http://schemas.microsoft.com/office/drawing/2014/main" id="{5A81FC99-4396-49A7-8279-8D0D86A7F9B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0413" y="4998598"/>
              <a:ext cx="3187614" cy="444343"/>
            </a:xfrm>
            <a:prstGeom prst="rect">
              <a:avLst/>
            </a:prstGeom>
            <a:noFill/>
            <a:effectLst/>
          </p:spPr>
          <p:txBody>
            <a:bodyPr vert="horz" wrap="square" lIns="36000" tIns="36000" rIns="36000" bIns="36000" rtlCol="0" anchor="ctr" anchorCtr="0">
              <a:spAutoFit/>
            </a:bodyPr>
            <a:lstStyle>
              <a:lvl1pPr marL="0" indent="0" algn="l" defTabSz="1218987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sz="2300" b="1" kern="1200" dirty="0" smtClean="0">
                  <a:solidFill>
                    <a:srgbClr val="F4B36C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0949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40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8987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73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2848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3227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37972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72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bg-BG" noProof="1"/>
                <a:t>Учителски</a:t>
              </a:r>
              <a:r>
                <a:rPr lang="bg-BG"/>
                <a:t> екип</a:t>
              </a:r>
            </a:p>
          </p:txBody>
        </p:sp>
        <p:sp>
          <p:nvSpPr>
            <p:cNvPr id="49" name="Text Placeholder 10">
              <a:extLst>
                <a:ext uri="{FF2B5EF4-FFF2-40B4-BE49-F238E27FC236}">
                  <a16:creationId xmlns:a16="http://schemas.microsoft.com/office/drawing/2014/main" id="{5F659F32-4D88-4BCE-B970-65520F57176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0412" y="5403725"/>
              <a:ext cx="3187613" cy="382788"/>
            </a:xfrm>
            <a:prstGeom prst="rect">
              <a:avLst/>
            </a:prstGeom>
            <a:noFill/>
            <a:effectLst/>
          </p:spPr>
          <p:txBody>
            <a:bodyPr vert="horz" wrap="square" lIns="36000" tIns="36000" rIns="36000" bIns="36000" rtlCol="0" anchor="ctr" anchorCtr="0">
              <a:spAutoFit/>
            </a:bodyPr>
            <a:lstStyle>
              <a:lvl1pPr marL="0" indent="0" algn="l" defTabSz="1218987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sz="2000" b="1" kern="1200" dirty="0" smtClean="0">
                  <a:solidFill>
                    <a:schemeClr val="accent1">
                      <a:lumMod val="40000"/>
                      <a:lumOff val="60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0949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40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8987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73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2848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3227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37972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72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bg-BG"/>
                <a:t>Обучение за ИТ кариера</a:t>
              </a:r>
            </a:p>
          </p:txBody>
        </p:sp>
        <p:sp>
          <p:nvSpPr>
            <p:cNvPr id="50" name="Text Placeholder 11">
              <a:extLst>
                <a:ext uri="{FF2B5EF4-FFF2-40B4-BE49-F238E27FC236}">
                  <a16:creationId xmlns:a16="http://schemas.microsoft.com/office/drawing/2014/main" id="{8A773E71-8B8C-4A86-BE43-5970B131D49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0412" y="5690893"/>
              <a:ext cx="3810000" cy="458462"/>
            </a:xfrm>
            <a:prstGeom prst="rect">
              <a:avLst/>
            </a:prstGeom>
            <a:noFill/>
            <a:effectLst/>
          </p:spPr>
          <p:txBody>
            <a:bodyPr vert="horz" wrap="square" lIns="36000" tIns="36000" rIns="36000" bIns="36000" rtlCol="0" anchor="ctr" anchorCtr="0">
              <a:spAutoFit/>
            </a:bodyPr>
            <a:lstStyle>
              <a:lvl1pPr marL="0" indent="0" algn="l" defTabSz="1218987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sz="1800" b="1" kern="1200" dirty="0" smtClean="0">
                  <a:solidFill>
                    <a:srgbClr val="F27A44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0949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40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8987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73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2848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3227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37972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72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>
                  <a:hlinkClick r:id="rId7"/>
                </a:rPr>
                <a:t>https://it-kariera.mon.bg/e-learning/</a:t>
              </a:r>
              <a:endParaRPr lang="en-GB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Съдържание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fld id="{C014DD1E-5D91-48A3-AD6D-45FBA980D106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0413" y="1191467"/>
            <a:ext cx="11804822" cy="5530010"/>
          </a:xfrm>
        </p:spPr>
        <p:txBody>
          <a:bodyPr>
            <a:normAutofit/>
          </a:bodyPr>
          <a:lstStyle/>
          <a:p>
            <a:pPr marL="443230" indent="-443230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/>
              <a:t>Методи</a:t>
            </a:r>
            <a:endParaRPr lang="en-US" dirty="0"/>
          </a:p>
          <a:p>
            <a:pPr marL="443230" indent="-443230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en-US" dirty="0"/>
              <a:t>Getter </a:t>
            </a:r>
            <a:r>
              <a:rPr lang="bg-BG" dirty="0"/>
              <a:t>и </a:t>
            </a:r>
            <a:r>
              <a:rPr lang="en-US" dirty="0"/>
              <a:t>Setter </a:t>
            </a:r>
            <a:r>
              <a:rPr lang="bg-BG" dirty="0"/>
              <a:t>методи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AC3EF3-E0FC-4734-8847-3CC64240F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682" y="1499022"/>
            <a:ext cx="476250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Клас се дефинира чрез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състояние</a:t>
            </a:r>
            <a:r>
              <a:rPr lang="en-US" dirty="0"/>
              <a:t> </a:t>
            </a:r>
            <a:r>
              <a:rPr lang="bg-BG" dirty="0"/>
              <a:t>и</a:t>
            </a:r>
            <a:r>
              <a:rPr lang="en-US" dirty="0"/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поведение</a:t>
            </a:r>
          </a:p>
          <a:p>
            <a:r>
              <a:rPr lang="bg-BG" dirty="0"/>
              <a:t>Полетата</a:t>
            </a:r>
            <a:r>
              <a:rPr lang="en-GB" dirty="0"/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съхраняват състоянието</a:t>
            </a:r>
            <a:endParaRPr lang="en-GB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bg-BG" dirty="0"/>
              <a:t>Методите</a:t>
            </a:r>
            <a:r>
              <a:rPr lang="en-GB" dirty="0"/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описват поведението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Елементи на класа</a:t>
            </a:r>
            <a:endParaRPr lang="en-US" dirty="0"/>
          </a:p>
        </p:txBody>
      </p:sp>
      <p:sp>
        <p:nvSpPr>
          <p:cNvPr id="5" name="Text Placeholder 5"/>
          <p:cNvSpPr txBox="1"/>
          <p:nvPr/>
        </p:nvSpPr>
        <p:spPr>
          <a:xfrm>
            <a:off x="849275" y="3300739"/>
            <a:ext cx="10693778" cy="310006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class Dice {</a:t>
            </a:r>
          </a:p>
          <a:p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int sides;</a:t>
            </a:r>
          </a:p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 string type;</a:t>
            </a:r>
          </a:p>
          <a:p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 void Roll(){ … }</a:t>
            </a:r>
          </a:p>
          <a:p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}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4494212" y="3741849"/>
            <a:ext cx="1600200" cy="525351"/>
          </a:xfrm>
          <a:prstGeom prst="wedgeRoundRectCallout">
            <a:avLst>
              <a:gd name="adj1" fmla="val -108621"/>
              <a:gd name="adj2" fmla="val 34043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800" dirty="0">
                <a:solidFill>
                  <a:srgbClr val="FFFFFF"/>
                </a:solidFill>
              </a:rPr>
              <a:t>Полета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latin typeface="Consolas" pitchFamily="49" charset="0"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5632532" y="5616758"/>
            <a:ext cx="1676400" cy="593469"/>
          </a:xfrm>
          <a:prstGeom prst="wedgeRoundRectCallout">
            <a:avLst>
              <a:gd name="adj1" fmla="val -76131"/>
              <a:gd name="adj2" fmla="val -49927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800" dirty="0">
                <a:solidFill>
                  <a:srgbClr val="FFFFFF"/>
                </a:solidFill>
              </a:rPr>
              <a:t>Метод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latin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Те са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изпълним код</a:t>
            </a:r>
            <a:r>
              <a:rPr lang="en-US" dirty="0"/>
              <a:t> (</a:t>
            </a:r>
            <a:r>
              <a:rPr lang="bg-BG" dirty="0"/>
              <a:t>алгоритъм</a:t>
            </a:r>
            <a:r>
              <a:rPr lang="en-US" dirty="0"/>
              <a:t>)</a:t>
            </a:r>
            <a:r>
              <a:rPr lang="bg-BG" dirty="0"/>
              <a:t>, който променя състоянието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Методи</a:t>
            </a:r>
            <a:endParaRPr lang="en-US" dirty="0"/>
          </a:p>
        </p:txBody>
      </p:sp>
      <p:sp>
        <p:nvSpPr>
          <p:cNvPr id="5" name="Text Placeholder 5"/>
          <p:cNvSpPr txBox="1"/>
          <p:nvPr/>
        </p:nvSpPr>
        <p:spPr>
          <a:xfrm>
            <a:off x="455612" y="1899611"/>
            <a:ext cx="11501986" cy="45773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tx2"/>
                </a:solidFill>
              </a:rPr>
              <a:t>class Dice {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public int sides;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private Random rnd = new Random();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public int Roll()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{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   int rollResult = rnd.Next(1,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this</a:t>
            </a:r>
            <a:r>
              <a:rPr lang="en-US" sz="3200" dirty="0">
                <a:solidFill>
                  <a:schemeClr val="tx2"/>
                </a:solidFill>
              </a:rPr>
              <a:t>.sides + 1); 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   return rollResult;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}</a:t>
            </a:r>
          </a:p>
          <a:p>
            <a:r>
              <a:rPr lang="en-US" sz="3200" dirty="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8761412" y="2971800"/>
            <a:ext cx="3170649" cy="1063319"/>
          </a:xfrm>
          <a:prstGeom prst="wedgeRoundRectCallout">
            <a:avLst>
              <a:gd name="adj1" fmla="val -49831"/>
              <a:gd name="adj2" fmla="val 87557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GB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</a:rPr>
              <a:t>this</a:t>
            </a:r>
            <a:r>
              <a:rPr lang="en-GB" sz="2800" noProof="1">
                <a:solidFill>
                  <a:schemeClr val="tx1"/>
                </a:solidFill>
                <a:latin typeface="+mj-lt"/>
              </a:rPr>
              <a:t> </a:t>
            </a:r>
            <a:r>
              <a:rPr lang="bg-BG" sz="2800" noProof="1">
                <a:solidFill>
                  <a:schemeClr val="tx1"/>
                </a:solidFill>
                <a:latin typeface="+mj-lt"/>
              </a:rPr>
              <a:t>сочи към тази инстанция</a:t>
            </a:r>
            <a:endParaRPr lang="en-US" sz="2800" noProof="1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/>
              <a:t>Създайте клас </a:t>
            </a:r>
            <a:r>
              <a:rPr lang="en-US" noProof="1">
                <a:solidFill>
                  <a:schemeClr val="tx2">
                    <a:lumMod val="75000"/>
                  </a:schemeClr>
                </a:solidFill>
              </a:rPr>
              <a:t>BankAccount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</a:t>
            </a:r>
            <a:r>
              <a:rPr lang="en-US" dirty="0"/>
              <a:t>: Getter</a:t>
            </a:r>
            <a:r>
              <a:rPr lang="bg-BG" dirty="0"/>
              <a:t>-и</a:t>
            </a:r>
            <a:r>
              <a:rPr lang="en-US" dirty="0"/>
              <a:t> </a:t>
            </a:r>
            <a:r>
              <a:rPr lang="bg-BG" dirty="0"/>
              <a:t>и</a:t>
            </a:r>
            <a:r>
              <a:rPr lang="en-US" dirty="0"/>
              <a:t> Setter</a:t>
            </a:r>
            <a:r>
              <a:rPr lang="bg-BG" dirty="0"/>
              <a:t>-и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673818" y="2286000"/>
            <a:ext cx="5115794" cy="3286736"/>
            <a:chOff x="-306388" y="2077297"/>
            <a:chExt cx="3137848" cy="3286736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-306388" y="2077297"/>
              <a:ext cx="3137848" cy="582633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spcBef>
                  <a:spcPts val="0"/>
                </a:spcBef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latin typeface="Consolas" pitchFamily="49" charset="0"/>
                </a:rPr>
                <a:t>BankAccount</a:t>
              </a:r>
              <a:endParaRPr lang="en-US" sz="16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</a:endParaRPr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-306388" y="2668032"/>
              <a:ext cx="3137848" cy="966376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latin typeface="Consolas" pitchFamily="49" charset="0"/>
                </a:rPr>
                <a:t>-id:int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latin typeface="Consolas" pitchFamily="49" charset="0"/>
                </a:rPr>
                <a:t>-balance:double</a:t>
              </a:r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-306388" y="3642511"/>
              <a:ext cx="3137848" cy="1721522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latin typeface="Consolas" pitchFamily="49" charset="0"/>
                </a:rPr>
                <a:t>+setI:void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latin typeface="Consolas" pitchFamily="49" charset="0"/>
                </a:rPr>
                <a:t>+Balance:double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latin typeface="Consolas" pitchFamily="49" charset="0"/>
                </a:rPr>
                <a:t>+Deposit(double amount):void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latin typeface="Consolas" pitchFamily="49" charset="0"/>
                </a:rPr>
                <a:t>+Withdraw(double amount):void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endParaRPr lang="en-US" sz="1800" b="1" noProof="1">
                <a:latin typeface="Consolas" pitchFamily="49" charset="0"/>
              </a:endParaRPr>
            </a:p>
          </p:txBody>
        </p:sp>
      </p:grpSp>
      <p:sp>
        <p:nvSpPr>
          <p:cNvPr id="30" name="Right Arrow 7"/>
          <p:cNvSpPr/>
          <p:nvPr/>
        </p:nvSpPr>
        <p:spPr>
          <a:xfrm>
            <a:off x="6039337" y="3760731"/>
            <a:ext cx="327663" cy="3511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auto">
          <a:xfrm>
            <a:off x="836612" y="5812652"/>
            <a:ext cx="1854572" cy="426137"/>
          </a:xfrm>
          <a:prstGeom prst="wedgeRoundRectCallout">
            <a:avLst>
              <a:gd name="adj1" fmla="val -44045"/>
              <a:gd name="adj2" fmla="val -133860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800" noProof="1">
                <a:solidFill>
                  <a:schemeClr val="tx1"/>
                </a:solidFill>
                <a:latin typeface="+mj-lt"/>
              </a:rPr>
              <a:t>+ == public</a:t>
            </a: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auto">
          <a:xfrm>
            <a:off x="303212" y="2108277"/>
            <a:ext cx="1878799" cy="426137"/>
          </a:xfrm>
          <a:prstGeom prst="wedgeRoundRectCallout">
            <a:avLst>
              <a:gd name="adj1" fmla="val -21423"/>
              <a:gd name="adj2" fmla="val 161185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800" noProof="1">
                <a:solidFill>
                  <a:schemeClr val="tx1"/>
                </a:solidFill>
                <a:latin typeface="+mj-lt"/>
              </a:rPr>
              <a:t>- == private</a:t>
            </a: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auto">
          <a:xfrm>
            <a:off x="3520062" y="3046356"/>
            <a:ext cx="2040949" cy="426137"/>
          </a:xfrm>
          <a:prstGeom prst="wedgeRoundRectCallout">
            <a:avLst>
              <a:gd name="adj1" fmla="val -57496"/>
              <a:gd name="adj2" fmla="val 53896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800" noProof="1">
                <a:solidFill>
                  <a:schemeClr val="tx1"/>
                </a:solidFill>
                <a:latin typeface="+mj-lt"/>
              </a:rPr>
              <a:t>Връщан тип</a:t>
            </a:r>
            <a:endParaRPr lang="en-US" sz="2800" noProof="1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725" y="2686083"/>
            <a:ext cx="4468275" cy="2500428"/>
          </a:xfrm>
          <a:prstGeom prst="rect">
            <a:avLst/>
          </a:prstGeom>
        </p:spPr>
      </p:pic>
      <p:sp>
        <p:nvSpPr>
          <p:cNvPr id="17" name="AutoShape 6"/>
          <p:cNvSpPr>
            <a:spLocks noChangeArrowheads="1"/>
          </p:cNvSpPr>
          <p:nvPr/>
        </p:nvSpPr>
        <p:spPr bwMode="auto">
          <a:xfrm>
            <a:off x="8532812" y="5433884"/>
            <a:ext cx="2552188" cy="757535"/>
          </a:xfrm>
          <a:prstGeom prst="wedgeRoundRectCallout">
            <a:avLst>
              <a:gd name="adj1" fmla="val -265"/>
              <a:gd name="adj2" fmla="val -123280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noProof="1">
                <a:solidFill>
                  <a:schemeClr val="tx1"/>
                </a:solidFill>
                <a:latin typeface="+mj-lt"/>
              </a:rPr>
              <a:t>Предефинирайте</a:t>
            </a:r>
            <a:r>
              <a:rPr lang="en-GB" noProof="1">
                <a:solidFill>
                  <a:schemeClr val="tx1"/>
                </a:solidFill>
                <a:latin typeface="+mj-lt"/>
              </a:rPr>
              <a:t> </a:t>
            </a:r>
            <a:br>
              <a:rPr lang="en-GB" noProof="1">
                <a:solidFill>
                  <a:schemeClr val="tx1"/>
                </a:solidFill>
                <a:latin typeface="+mj-lt"/>
              </a:rPr>
            </a:br>
            <a:r>
              <a:rPr lang="en-GB" noProof="1">
                <a:solidFill>
                  <a:schemeClr val="tx1"/>
                </a:solidFill>
                <a:latin typeface="+mj-lt"/>
              </a:rPr>
              <a:t>toString()</a:t>
            </a:r>
            <a:endParaRPr lang="en-US" noProof="1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14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</a:t>
            </a:r>
            <a:r>
              <a:rPr lang="en-US" dirty="0"/>
              <a:t>: Getter</a:t>
            </a:r>
            <a:r>
              <a:rPr lang="bg-BG" dirty="0"/>
              <a:t>-и</a:t>
            </a:r>
            <a:r>
              <a:rPr lang="en-US" dirty="0"/>
              <a:t> </a:t>
            </a:r>
            <a:r>
              <a:rPr lang="bg-BG" dirty="0"/>
              <a:t>и</a:t>
            </a:r>
            <a:r>
              <a:rPr lang="en-US" dirty="0"/>
              <a:t> Setter</a:t>
            </a:r>
            <a:r>
              <a:rPr lang="bg-BG" dirty="0"/>
              <a:t>-и</a:t>
            </a:r>
            <a:endParaRPr lang="en-US" dirty="0"/>
          </a:p>
        </p:txBody>
      </p:sp>
      <p:sp>
        <p:nvSpPr>
          <p:cNvPr id="5" name="Text Placeholder 5"/>
          <p:cNvSpPr txBox="1"/>
          <p:nvPr/>
        </p:nvSpPr>
        <p:spPr>
          <a:xfrm>
            <a:off x="513648" y="937528"/>
            <a:ext cx="11219563" cy="574694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GB" sz="2800" dirty="0"/>
              <a:t>private double balance;</a:t>
            </a:r>
          </a:p>
          <a:p>
            <a:r>
              <a:rPr lang="en-GB" sz="2800" dirty="0">
                <a:solidFill>
                  <a:schemeClr val="tx2">
                    <a:lumMod val="75000"/>
                  </a:schemeClr>
                </a:solidFill>
              </a:rPr>
              <a:t>public void Deposit</a:t>
            </a:r>
            <a:r>
              <a:rPr lang="en-GB" sz="2800" dirty="0"/>
              <a:t>(double amount)</a:t>
            </a:r>
          </a:p>
          <a:p>
            <a:r>
              <a:rPr lang="en-GB" sz="2800" dirty="0"/>
              <a:t>{</a:t>
            </a:r>
          </a:p>
          <a:p>
            <a:r>
              <a:rPr lang="en-GB" sz="2800" dirty="0"/>
              <a:t>  </a:t>
            </a:r>
            <a:r>
              <a:rPr lang="en-GB" sz="2800" dirty="0">
                <a:solidFill>
                  <a:schemeClr val="tx2">
                    <a:lumMod val="75000"/>
                  </a:schemeClr>
                </a:solidFill>
              </a:rPr>
              <a:t>this.balance += amount;</a:t>
            </a:r>
          </a:p>
          <a:p>
            <a:r>
              <a:rPr lang="en-GB" sz="2800" dirty="0"/>
              <a:t>}</a:t>
            </a:r>
          </a:p>
          <a:p>
            <a:r>
              <a:rPr lang="en-GB" sz="2800" dirty="0">
                <a:solidFill>
                  <a:schemeClr val="tx2">
                    <a:lumMod val="75000"/>
                  </a:schemeClr>
                </a:solidFill>
              </a:rPr>
              <a:t>public void Withdraw</a:t>
            </a:r>
            <a:r>
              <a:rPr lang="en-GB" sz="2800" dirty="0"/>
              <a:t>(double amount)</a:t>
            </a:r>
          </a:p>
          <a:p>
            <a:r>
              <a:rPr lang="en-GB" sz="2800" dirty="0"/>
              <a:t>{</a:t>
            </a:r>
          </a:p>
          <a:p>
            <a:r>
              <a:rPr lang="en-GB" sz="2800" dirty="0"/>
              <a:t>  </a:t>
            </a:r>
            <a:r>
              <a:rPr lang="en-GB" sz="2800" dirty="0">
                <a:solidFill>
                  <a:schemeClr val="tx2">
                    <a:lumMod val="75000"/>
                  </a:schemeClr>
                </a:solidFill>
              </a:rPr>
              <a:t>this.balance -= amount; </a:t>
            </a:r>
          </a:p>
          <a:p>
            <a:r>
              <a:rPr lang="en-GB" sz="2800" dirty="0"/>
              <a:t>}</a:t>
            </a:r>
          </a:p>
          <a:p>
            <a:r>
              <a:rPr lang="en-GB" sz="2800" dirty="0">
                <a:solidFill>
                  <a:schemeClr val="tx2">
                    <a:lumMod val="75000"/>
                  </a:schemeClr>
                </a:solidFill>
              </a:rPr>
              <a:t>public override string ToString</a:t>
            </a:r>
            <a:r>
              <a:rPr lang="en-GB" sz="2800" dirty="0"/>
              <a:t>()</a:t>
            </a:r>
          </a:p>
          <a:p>
            <a:r>
              <a:rPr lang="en-GB" sz="2800" dirty="0"/>
              <a:t>{ </a:t>
            </a:r>
          </a:p>
          <a:p>
            <a:r>
              <a:rPr lang="en-GB" sz="2800" dirty="0"/>
              <a:t>  return $"Account </a:t>
            </a:r>
            <a:r>
              <a:rPr lang="en-GB" sz="2800" dirty="0">
                <a:solidFill>
                  <a:schemeClr val="tx2">
                    <a:lumMod val="75000"/>
                  </a:schemeClr>
                </a:solidFill>
              </a:rPr>
              <a:t>{this.id}</a:t>
            </a:r>
            <a:r>
              <a:rPr lang="en-GB" sz="2800" dirty="0"/>
              <a:t>, balance </a:t>
            </a:r>
            <a:r>
              <a:rPr lang="en-GB" sz="2800" dirty="0">
                <a:solidFill>
                  <a:schemeClr val="tx2">
                    <a:lumMod val="75000"/>
                  </a:schemeClr>
                </a:solidFill>
              </a:rPr>
              <a:t>{this.balance}</a:t>
            </a:r>
            <a:r>
              <a:rPr lang="en-GB" sz="2800" dirty="0"/>
              <a:t>";</a:t>
            </a:r>
          </a:p>
          <a:p>
            <a:r>
              <a:rPr lang="en-GB" sz="2800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/>
              <a:t>Създайте</a:t>
            </a:r>
            <a:r>
              <a:rPr lang="en-US" dirty="0"/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тестов клиент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bg-BG" dirty="0"/>
              <a:t>за тестване на класа</a:t>
            </a:r>
            <a:r>
              <a:rPr lang="en-US" dirty="0"/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Consolas" pitchFamily="49" charset="0"/>
              </a:rPr>
              <a:t>BankAccount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bg-BG" dirty="0"/>
              <a:t>Поддържани команди</a:t>
            </a:r>
            <a:r>
              <a:rPr lang="en-US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Create {Id}</a:t>
            </a:r>
          </a:p>
          <a:p>
            <a:pPr lvl="1">
              <a:lnSpc>
                <a:spcPct val="100000"/>
              </a:lnSpc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Deposit {Id} {Amount}</a:t>
            </a:r>
          </a:p>
          <a:p>
            <a:pPr lvl="1">
              <a:lnSpc>
                <a:spcPct val="100000"/>
              </a:lnSpc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Withdraw {Id} {Amount}</a:t>
            </a:r>
          </a:p>
          <a:p>
            <a:pPr lvl="1">
              <a:lnSpc>
                <a:spcPct val="100000"/>
              </a:lnSpc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Print {Id}</a:t>
            </a:r>
          </a:p>
          <a:p>
            <a:pPr lvl="1">
              <a:lnSpc>
                <a:spcPct val="100000"/>
              </a:lnSpc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End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</a:t>
            </a:r>
            <a:r>
              <a:rPr lang="en-GB" dirty="0"/>
              <a:t> </a:t>
            </a:r>
            <a:r>
              <a:rPr lang="bg-BG"/>
              <a:t>за напреднали</a:t>
            </a:r>
            <a:r>
              <a:rPr lang="en-US"/>
              <a:t>: </a:t>
            </a:r>
            <a:r>
              <a:rPr lang="bg-BG" dirty="0"/>
              <a:t>Тестов клиент</a:t>
            </a:r>
            <a:endParaRPr lang="en-US" dirty="0"/>
          </a:p>
        </p:txBody>
      </p:sp>
      <p:sp>
        <p:nvSpPr>
          <p:cNvPr id="30" name="Right Arrow 7"/>
          <p:cNvSpPr/>
          <p:nvPr/>
        </p:nvSpPr>
        <p:spPr>
          <a:xfrm rot="5400000">
            <a:off x="8214992" y="4518352"/>
            <a:ext cx="327663" cy="3511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5559424" y="1828800"/>
            <a:ext cx="5638800" cy="264072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Create 1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Create 1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Deposit 1 20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Withdraw 1 30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Withdraw 1 10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Print 1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End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5559424" y="4953000"/>
            <a:ext cx="5638800" cy="115416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Account already exists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Insufficient balance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Account </a:t>
            </a:r>
            <a:r>
              <a:rPr lang="en-GB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ID1</a:t>
            </a: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, balance 10.00</a:t>
            </a:r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auto">
          <a:xfrm>
            <a:off x="9142412" y="5115257"/>
            <a:ext cx="762000" cy="376732"/>
          </a:xfrm>
          <a:prstGeom prst="wedgeRoundRectCallout">
            <a:avLst>
              <a:gd name="adj1" fmla="val -48598"/>
              <a:gd name="adj2" fmla="val 100613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GB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</a:rPr>
              <a:t>.2f</a:t>
            </a:r>
            <a:endParaRPr lang="en-US" b="1" noProof="1">
              <a:solidFill>
                <a:schemeClr val="tx2">
                  <a:lumMod val="75000"/>
                </a:schemeClr>
              </a:solidFill>
              <a:latin typeface="Consolas" pitchFamily="49" charset="0"/>
            </a:endParaRP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auto">
          <a:xfrm>
            <a:off x="8342423" y="2743698"/>
            <a:ext cx="2247789" cy="800569"/>
          </a:xfrm>
          <a:prstGeom prst="wedgeRoundRectCallout">
            <a:avLst>
              <a:gd name="adj1" fmla="val -82062"/>
              <a:gd name="adj2" fmla="val -13066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noProof="1">
                <a:solidFill>
                  <a:schemeClr val="tx1"/>
                </a:solidFill>
                <a:latin typeface="+mj-lt"/>
              </a:rPr>
              <a:t>Недостатъчен баланс</a:t>
            </a:r>
            <a:endParaRPr lang="en-US" noProof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auto">
          <a:xfrm>
            <a:off x="7618412" y="2066019"/>
            <a:ext cx="3124200" cy="367468"/>
          </a:xfrm>
          <a:prstGeom prst="wedgeRoundRectCallout">
            <a:avLst>
              <a:gd name="adj1" fmla="val -75021"/>
              <a:gd name="adj2" fmla="val 35257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noProof="1">
                <a:solidFill>
                  <a:schemeClr val="tx1"/>
                </a:solidFill>
                <a:latin typeface="+mj-lt"/>
              </a:rPr>
              <a:t>Съществуваща сметка</a:t>
            </a:r>
            <a:endParaRPr lang="en-US" noProof="1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</a:t>
            </a:r>
            <a:r>
              <a:rPr lang="en-US" dirty="0"/>
              <a:t>: </a:t>
            </a:r>
            <a:r>
              <a:rPr lang="bg-BG" dirty="0"/>
              <a:t>Тестов клиент</a:t>
            </a:r>
            <a:endParaRPr lang="en-US" dirty="0"/>
          </a:p>
        </p:txBody>
      </p:sp>
      <p:sp>
        <p:nvSpPr>
          <p:cNvPr id="5" name="Text Placeholder 5"/>
          <p:cNvSpPr txBox="1"/>
          <p:nvPr/>
        </p:nvSpPr>
        <p:spPr>
          <a:xfrm>
            <a:off x="754470" y="927935"/>
            <a:ext cx="10667998" cy="531605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GB" dirty="0"/>
              <a:t>var accounts = new Dictionary&lt;int, BankAccount&gt;();</a:t>
            </a:r>
          </a:p>
          <a:p>
            <a:r>
              <a:rPr lang="en-GB" dirty="0"/>
              <a:t>string command;</a:t>
            </a:r>
          </a:p>
          <a:p>
            <a:r>
              <a:rPr lang="en-GB" dirty="0"/>
              <a:t>while ((command = Console.ReadLine()) != "End")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var cmdArgs = command.Split();</a:t>
            </a:r>
          </a:p>
          <a:p>
            <a:r>
              <a:rPr lang="en-GB" dirty="0"/>
              <a:t>  var cmdType = cmdArgs[0];</a:t>
            </a:r>
          </a:p>
          <a:p>
            <a:r>
              <a:rPr lang="en-GB" dirty="0"/>
              <a:t>  switch (cmdType)</a:t>
            </a:r>
          </a:p>
          <a:p>
            <a:r>
              <a:rPr lang="en-GB" dirty="0"/>
              <a:t>  {</a:t>
            </a:r>
          </a:p>
          <a:p>
            <a:r>
              <a:rPr lang="en-GB" dirty="0"/>
              <a:t>    case "Create": Create(cmdArgs, accounts); break;</a:t>
            </a:r>
          </a:p>
          <a:p>
            <a:r>
              <a:rPr lang="en-GB" dirty="0"/>
              <a:t>    case "Deposit": Deposit(cmdArgs, accounts); break;</a:t>
            </a:r>
          </a:p>
          <a:p>
            <a:r>
              <a:rPr lang="en-GB" dirty="0"/>
              <a:t>    case "Withdraw": Withdraw(cmdArgs, accounts); break;</a:t>
            </a:r>
          </a:p>
          <a:p>
            <a:r>
              <a:rPr lang="en-GB" dirty="0"/>
              <a:t>    case "Print": Print(cmdArgs, accounts); break;</a:t>
            </a:r>
          </a:p>
          <a:p>
            <a:r>
              <a:rPr lang="en-GB" dirty="0"/>
              <a:t>  }</a:t>
            </a:r>
          </a:p>
          <a:p>
            <a:r>
              <a:rPr lang="en-GB" dirty="0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</a:t>
            </a:r>
            <a:r>
              <a:rPr lang="en-US" dirty="0"/>
              <a:t>: </a:t>
            </a:r>
            <a:r>
              <a:rPr lang="bg-BG" dirty="0"/>
              <a:t>Тестов клиент</a:t>
            </a:r>
            <a:r>
              <a:rPr lang="en-US" dirty="0"/>
              <a:t> (2)</a:t>
            </a:r>
          </a:p>
        </p:txBody>
      </p:sp>
      <p:sp>
        <p:nvSpPr>
          <p:cNvPr id="5" name="Text Placeholder 5"/>
          <p:cNvSpPr txBox="1"/>
          <p:nvPr/>
        </p:nvSpPr>
        <p:spPr>
          <a:xfrm>
            <a:off x="760414" y="1073079"/>
            <a:ext cx="10667998" cy="48851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GB" sz="2800" i="1" dirty="0">
                <a:solidFill>
                  <a:schemeClr val="tx2">
                    <a:lumMod val="75000"/>
                  </a:schemeClr>
                </a:solidFill>
              </a:rPr>
              <a:t>// </a:t>
            </a:r>
            <a:r>
              <a:rPr lang="bg-BG" sz="2800" i="1" dirty="0">
                <a:solidFill>
                  <a:schemeClr val="tx2">
                    <a:lumMod val="75000"/>
                  </a:schemeClr>
                </a:solidFill>
              </a:rPr>
              <a:t>създаване на сметката</a:t>
            </a:r>
            <a:endParaRPr lang="en-GB" sz="2800" i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GB" sz="2800" dirty="0"/>
              <a:t>var id = int.Parse(cmdArgs[1]);</a:t>
            </a:r>
          </a:p>
          <a:p>
            <a:r>
              <a:rPr lang="en-GB" sz="2800" dirty="0"/>
              <a:t>if (accounts.ContainsKey(id))   </a:t>
            </a:r>
          </a:p>
          <a:p>
            <a:r>
              <a:rPr lang="en-GB" sz="2800" dirty="0"/>
              <a:t>  Console.WriteLine("Account already exists");</a:t>
            </a:r>
          </a:p>
          <a:p>
            <a:r>
              <a:rPr lang="en-GB" sz="2800" dirty="0"/>
              <a:t>else</a:t>
            </a:r>
          </a:p>
          <a:p>
            <a:r>
              <a:rPr lang="en-GB" sz="2800" dirty="0"/>
              <a:t>{</a:t>
            </a:r>
          </a:p>
          <a:p>
            <a:r>
              <a:rPr lang="en-GB" sz="2800" dirty="0"/>
              <a:t>  var acc = new BankAccount();</a:t>
            </a:r>
          </a:p>
          <a:p>
            <a:r>
              <a:rPr lang="en-GB" sz="2800" dirty="0"/>
              <a:t>  acc.ID = id;</a:t>
            </a:r>
          </a:p>
          <a:p>
            <a:r>
              <a:rPr lang="en-GB" sz="2800" dirty="0"/>
              <a:t>  accounts.Add(id, acc);</a:t>
            </a:r>
          </a:p>
          <a:p>
            <a:r>
              <a:rPr lang="en-GB" sz="2800" dirty="0"/>
              <a:t>}</a:t>
            </a:r>
          </a:p>
          <a:p>
            <a:r>
              <a:rPr lang="en-US" sz="2800" i="1" dirty="0">
                <a:solidFill>
                  <a:schemeClr val="tx2">
                    <a:lumMod val="75000"/>
                  </a:schemeClr>
                </a:solidFill>
              </a:rPr>
              <a:t>// TODO: </a:t>
            </a:r>
            <a:r>
              <a:rPr lang="bg-BG" sz="2800" i="1" dirty="0">
                <a:solidFill>
                  <a:schemeClr val="tx2">
                    <a:lumMod val="75000"/>
                  </a:schemeClr>
                </a:solidFill>
              </a:rPr>
              <a:t>разписване на останалите команди</a:t>
            </a:r>
            <a:r>
              <a:rPr lang="en-US" sz="2800" i="1" dirty="0">
                <a:solidFill>
                  <a:schemeClr val="tx2">
                    <a:lumMod val="75000"/>
                  </a:schemeClr>
                </a:solidFill>
              </a:rPr>
              <a:t>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научихме днес?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>
          <a:xfrm>
            <a:off x="190412" y="1138653"/>
            <a:ext cx="11804822" cy="2934584"/>
          </a:xfrm>
        </p:spPr>
        <p:txBody>
          <a:bodyPr>
            <a:noAutofit/>
          </a:bodyPr>
          <a:lstStyle/>
          <a:p>
            <a:pPr marL="358775" indent="-358775">
              <a:lnSpc>
                <a:spcPct val="110000"/>
              </a:lnSpc>
            </a:pPr>
            <a:r>
              <a:rPr lang="bg-BG" sz="3200" dirty="0"/>
              <a:t>Методите</a:t>
            </a:r>
            <a:r>
              <a:rPr lang="en-GB" sz="3200" dirty="0"/>
              <a:t> 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описват </a:t>
            </a:r>
            <a:br>
              <a:rPr lang="bg-BG" sz="32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поведението </a:t>
            </a:r>
            <a:r>
              <a:rPr lang="bg-BG" sz="3200" dirty="0">
                <a:solidFill>
                  <a:srgbClr val="FFFFFF"/>
                </a:solidFill>
              </a:rPr>
              <a:t>на обектите</a:t>
            </a:r>
          </a:p>
          <a:p>
            <a:pPr marL="358775" indent="-358775">
              <a:lnSpc>
                <a:spcPct val="110000"/>
              </a:lnSpc>
            </a:pPr>
            <a:r>
              <a:rPr lang="bg-BG" sz="3200" dirty="0">
                <a:solidFill>
                  <a:srgbClr val="FFFFFF"/>
                </a:solidFill>
              </a:rPr>
              <a:t>Методите може да </a:t>
            </a:r>
            <a:br>
              <a:rPr lang="bg-BG" sz="3200" dirty="0">
                <a:solidFill>
                  <a:srgbClr val="FFFFFF"/>
                </a:solidFill>
              </a:rPr>
            </a:b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променят  състоянието</a:t>
            </a:r>
            <a:r>
              <a:rPr lang="en-US" sz="3200" dirty="0"/>
              <a:t> </a:t>
            </a:r>
            <a:r>
              <a:rPr lang="bg-BG" sz="3200" dirty="0"/>
              <a:t> на </a:t>
            </a:r>
            <a:br>
              <a:rPr lang="bg-BG" sz="3200" dirty="0"/>
            </a:br>
            <a:r>
              <a:rPr lang="bg-BG" sz="3200" dirty="0"/>
              <a:t>обектите или да го 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достъпват и анализират</a:t>
            </a:r>
            <a:r>
              <a:rPr lang="bg-BG" sz="3200" dirty="0"/>
              <a:t> </a:t>
            </a:r>
            <a:endParaRPr lang="en-US" sz="3200" dirty="0"/>
          </a:p>
          <a:p>
            <a:pPr marL="358775" indent="-358775">
              <a:lnSpc>
                <a:spcPct val="110000"/>
              </a:lnSpc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Getter</a:t>
            </a:r>
            <a:r>
              <a:rPr lang="en-US" sz="3200" dirty="0"/>
              <a:t> /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setter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 методите </a:t>
            </a:r>
            <a:r>
              <a:rPr lang="bg-BG" sz="3200" dirty="0"/>
              <a:t>са </a:t>
            </a:r>
            <a:r>
              <a:rPr lang="bg-BG" sz="3200"/>
              <a:t>за </a:t>
            </a:r>
            <a:r>
              <a:rPr lang="bg-BG" sz="3200">
                <a:solidFill>
                  <a:schemeClr val="tx2">
                    <a:lumMod val="75000"/>
                  </a:schemeClr>
                </a:solidFill>
              </a:rPr>
              <a:t>достъп до</a:t>
            </a:r>
            <a:br>
              <a:rPr lang="bg-BG" sz="32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bg-BG" sz="3200" dirty="0"/>
              <a:t>и</a:t>
            </a:r>
            <a:r>
              <a:rPr lang="en-US" sz="3200" dirty="0"/>
              <a:t> 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промяна на полетата</a:t>
            </a:r>
            <a:r>
              <a:rPr lang="bg-BG" sz="3200" dirty="0">
                <a:solidFill>
                  <a:srgbClr val="FFFFFF"/>
                </a:solidFill>
              </a:rPr>
              <a:t> на обекта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Picture 2" descr="C:\Users\Ivan\Desktop\elements_presentations\summary_pic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240" y="762000"/>
            <a:ext cx="5135702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Методи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529384" y="6400802"/>
            <a:ext cx="10482604" cy="363552"/>
          </a:xfrm>
        </p:spPr>
        <p:txBody>
          <a:bodyPr/>
          <a:lstStyle/>
          <a:p>
            <a:r>
              <a:rPr lang="en-US" dirty="0">
                <a:hlinkClick r:id="rId3"/>
              </a:rPr>
              <a:t>https://it-kariera.mon.bg/e-learning/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16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>
            <a:normAutofit/>
          </a:bodyPr>
          <a:lstStyle/>
          <a:p>
            <a:r>
              <a:rPr lang="bg-BG" dirty="0"/>
              <a:t>Настоящият курс </a:t>
            </a:r>
            <a:r>
              <a:rPr lang="en-US" dirty="0"/>
              <a:t>(</a:t>
            </a:r>
            <a:r>
              <a:rPr lang="bg-BG" dirty="0"/>
              <a:t>слайдове</a:t>
            </a:r>
            <a:r>
              <a:rPr lang="en-US" dirty="0"/>
              <a:t>, </a:t>
            </a:r>
            <a:r>
              <a:rPr lang="bg-BG" dirty="0"/>
              <a:t>примери</a:t>
            </a:r>
            <a:r>
              <a:rPr lang="en-US" dirty="0"/>
              <a:t>, </a:t>
            </a:r>
            <a:r>
              <a:rPr lang="bg-BG" dirty="0"/>
              <a:t>видео</a:t>
            </a:r>
            <a:r>
              <a:rPr lang="en-US" dirty="0"/>
              <a:t>, </a:t>
            </a:r>
            <a:r>
              <a:rPr lang="bg-BG" dirty="0"/>
              <a:t>задачи и др.</a:t>
            </a:r>
            <a:r>
              <a:rPr lang="en-US" dirty="0"/>
              <a:t>)</a:t>
            </a:r>
            <a:r>
              <a:rPr lang="bg-BG" dirty="0"/>
              <a:t> се разпространяват под свободен лиценз </a:t>
            </a:r>
            <a:r>
              <a:rPr lang="en-US" dirty="0"/>
              <a:t>"</a:t>
            </a:r>
            <a:r>
              <a:rPr lang="en-US" dirty="0">
                <a:hlinkClick r:id="rId3"/>
              </a:rPr>
              <a:t>Creative Commons </a:t>
            </a:r>
            <a:r>
              <a:rPr lang="en-US" noProof="1">
                <a:hlinkClick r:id="rId3"/>
              </a:rPr>
              <a:t>Attribution-NonCommercial-ShareAlike</a:t>
            </a:r>
            <a:r>
              <a:rPr lang="en-US" dirty="0">
                <a:hlinkClick r:id="rId3"/>
              </a:rPr>
              <a:t> 4.0 International</a:t>
            </a:r>
            <a:r>
              <a:rPr lang="en-US" dirty="0"/>
              <a:t>"</a:t>
            </a:r>
            <a:endParaRPr lang="bg-BG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pPr>
              <a:spcBef>
                <a:spcPts val="1800"/>
              </a:spcBef>
            </a:pPr>
            <a:r>
              <a:rPr lang="bg-BG" sz="2400" dirty="0"/>
              <a:t>Благодарности</a:t>
            </a:r>
            <a:r>
              <a:rPr lang="en-US" sz="2400" dirty="0"/>
              <a:t>: </a:t>
            </a:r>
            <a:r>
              <a:rPr lang="bg-BG" sz="2400" dirty="0"/>
              <a:t>настоящият материал може да съдържа части от следните източници</a:t>
            </a:r>
            <a:endParaRPr lang="en-US" sz="2400" dirty="0"/>
          </a:p>
          <a:p>
            <a:pPr lvl="1"/>
            <a:r>
              <a:rPr lang="bg-BG" sz="2000" dirty="0"/>
              <a:t>Книга </a:t>
            </a:r>
            <a:r>
              <a:rPr lang="en-US" sz="2000" dirty="0"/>
              <a:t>"</a:t>
            </a:r>
            <a:r>
              <a:rPr lang="bg-BG" sz="2000" dirty="0">
                <a:hlinkClick r:id="rId4"/>
              </a:rPr>
              <a:t>Основи на програмирането със </a:t>
            </a:r>
            <a:r>
              <a:rPr lang="en-US" sz="2000" dirty="0">
                <a:hlinkClick r:id="rId4"/>
              </a:rPr>
              <a:t>C#"</a:t>
            </a:r>
            <a:r>
              <a:rPr lang="bg-BG" sz="2000" dirty="0"/>
              <a:t> от Светлин Наков и колектив с лиценз</a:t>
            </a:r>
            <a:r>
              <a:rPr lang="en-US" sz="2000" dirty="0"/>
              <a:t> </a:t>
            </a:r>
            <a:r>
              <a:rPr lang="en-US" sz="2000" dirty="0">
                <a:hlinkClick r:id="rId5"/>
              </a:rPr>
              <a:t>CC-BY-SA</a:t>
            </a:r>
            <a:endParaRPr lang="bg-BG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Лиценз</a:t>
            </a:r>
            <a:endParaRPr lang="en-US" dirty="0"/>
          </a:p>
        </p:txBody>
      </p:sp>
      <p:pic>
        <p:nvPicPr>
          <p:cNvPr id="8" name="Picture 4">
            <a:hlinkClick r:id="rId3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07637" y="3462620"/>
            <a:ext cx="3170776" cy="1109380"/>
          </a:xfrm>
          <a:prstGeom prst="roundRect">
            <a:avLst>
              <a:gd name="adj" fmla="val 432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185248"/>
      </p:ext>
    </p:extLst>
  </p:cSld>
  <p:clrMapOvr>
    <a:masterClrMapping/>
  </p:clrMapOvr>
</p:sld>
</file>

<file path=ppt/theme/theme1.xml><?xml version="1.0" encoding="utf-8"?>
<a:theme xmlns:a="http://schemas.openxmlformats.org/drawingml/2006/main" name="SoftUni 16x9">
  <a:themeElements>
    <a:clrScheme name="SoftUni Color The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F6C781"/>
      </a:hlink>
      <a:folHlink>
        <a:srgbClr val="F2AC44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72809E0BA352146887A598B2150FBCE" ma:contentTypeVersion="4" ma:contentTypeDescription="Създаване на нов документ" ma:contentTypeScope="" ma:versionID="30c80d78220d05fd27aa80afaa729309">
  <xsd:schema xmlns:xsd="http://www.w3.org/2001/XMLSchema" xmlns:xs="http://www.w3.org/2001/XMLSchema" xmlns:p="http://schemas.microsoft.com/office/2006/metadata/properties" xmlns:ns2="0401b427-85e3-40cd-b50d-13f667a12a32" targetNamespace="http://schemas.microsoft.com/office/2006/metadata/properties" ma:root="true" ma:fieldsID="b567aba00756e876f94a97c73625782e" ns2:_="">
    <xsd:import namespace="0401b427-85e3-40cd-b50d-13f667a12a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01b427-85e3-40cd-b50d-13f667a12a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6F892A-3452-4C91-A73F-EEBFE7138FCC}"/>
</file>

<file path=customXml/itemProps2.xml><?xml version="1.0" encoding="utf-8"?>
<ds:datastoreItem xmlns:ds="http://schemas.openxmlformats.org/officeDocument/2006/customXml" ds:itemID="{8FBD8FCC-E048-4E6B-B888-FE1FA4F4DF45}"/>
</file>

<file path=customXml/itemProps3.xml><?xml version="1.0" encoding="utf-8"?>
<ds:datastoreItem xmlns:ds="http://schemas.openxmlformats.org/officeDocument/2006/customXml" ds:itemID="{95F5801D-8D66-4368-AA4B-3D2C281B0E3F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697</Words>
  <Application>Microsoft Office PowerPoint</Application>
  <PresentationFormat>Custom</PresentationFormat>
  <Paragraphs>147</Paragraphs>
  <Slides>12</Slides>
  <Notes>7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Wingdings</vt:lpstr>
      <vt:lpstr>Wingdings 2</vt:lpstr>
      <vt:lpstr>SoftUni 16x9</vt:lpstr>
      <vt:lpstr>PowerPoint Presentation</vt:lpstr>
      <vt:lpstr>Съдържание</vt:lpstr>
      <vt:lpstr>Елементи на класа</vt:lpstr>
      <vt:lpstr>Методи</vt:lpstr>
      <vt:lpstr>Задача: Getter-и и Setter-и</vt:lpstr>
      <vt:lpstr>Решение: Getter-и и Setter-и</vt:lpstr>
      <vt:lpstr>Задача за напреднали: Тестов клиент</vt:lpstr>
      <vt:lpstr>Решение: Тестов клиент</vt:lpstr>
      <vt:lpstr>Решение: Тестов клиент (2)</vt:lpstr>
      <vt:lpstr>Какво научихме днес?</vt:lpstr>
      <vt:lpstr>Методи</vt:lpstr>
      <vt:lpstr>Лиценз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Defining Classes</dc:title>
  <dc:subject>C# Basics Course</dc:subject>
  <dc:creator/>
  <cp:keywords>C#, class, object, fields, methods, properties, constructors, static</cp:keywords>
  <dc:description>Software University Foundation - http://softuni.org</dc:description>
  <cp:lastModifiedBy/>
  <cp:revision>3</cp:revision>
  <dcterms:created xsi:type="dcterms:W3CDTF">2018-03-04T07:34:42Z</dcterms:created>
  <dcterms:modified xsi:type="dcterms:W3CDTF">2018-04-01T12:22:11Z</dcterms:modified>
  <cp:category>programming, software engineering, C#, OOP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  <property fmtid="{D5CDD505-2E9C-101B-9397-08002B2CF9AE}" pid="3" name="KSOProductBuildVer">
    <vt:lpwstr>1026-10.1.0.5707</vt:lpwstr>
  </property>
  <property fmtid="{D5CDD505-2E9C-101B-9397-08002B2CF9AE}" pid="4" name="ContentTypeId">
    <vt:lpwstr>0x010100C72809E0BA352146887A598B2150FBCE</vt:lpwstr>
  </property>
</Properties>
</file>