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2"/>
  </p:sldMasterIdLst>
  <p:notesMasterIdLst>
    <p:notesMasterId r:id="rId18"/>
  </p:notesMasterIdLst>
  <p:handoutMasterIdLst>
    <p:handoutMasterId r:id="rId19"/>
  </p:handoutMasterIdLst>
  <p:sldIdLst>
    <p:sldId id="394" r:id="rId3"/>
    <p:sldId id="571" r:id="rId4"/>
    <p:sldId id="576" r:id="rId5"/>
    <p:sldId id="583" r:id="rId6"/>
    <p:sldId id="584" r:id="rId7"/>
    <p:sldId id="585" r:id="rId8"/>
    <p:sldId id="586" r:id="rId9"/>
    <p:sldId id="587" r:id="rId10"/>
    <p:sldId id="588" r:id="rId11"/>
    <p:sldId id="589" r:id="rId12"/>
    <p:sldId id="590" r:id="rId13"/>
    <p:sldId id="591" r:id="rId14"/>
    <p:sldId id="592" r:id="rId15"/>
    <p:sldId id="594" r:id="rId16"/>
    <p:sldId id="593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D7E5960-A9BC-43C4-BCE0-8E99BC3BA6A9}">
          <p14:sldIdLst>
            <p14:sldId id="394"/>
            <p14:sldId id="571"/>
          </p14:sldIdLst>
        </p14:section>
        <p14:section name="Defining Classes" id="{51D0FD15-3932-43D9-82C9-6AF03C9EE001}">
          <p14:sldIdLst>
            <p14:sldId id="576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</p14:sldIdLst>
        </p14:section>
        <p14:section name="Conclusion" id="{3E23A7B0-228F-4458-953E-A0823B82CFF0}">
          <p14:sldIdLst>
            <p14:sldId id="594"/>
            <p14:sldId id="5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BE60"/>
    <a:srgbClr val="D2A010"/>
    <a:srgbClr val="F6D18E"/>
    <a:srgbClr val="FFFFFF"/>
    <a:srgbClr val="C6C0AA"/>
    <a:srgbClr val="F9F0AB"/>
    <a:srgbClr val="F9E6AB"/>
    <a:srgbClr val="F9FAAB"/>
    <a:srgbClr val="767691"/>
    <a:srgbClr val="7676A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98670" autoAdjust="0"/>
  </p:normalViewPr>
  <p:slideViewPr>
    <p:cSldViewPr>
      <p:cViewPr varScale="1">
        <p:scale>
          <a:sx n="46" d="100"/>
          <a:sy n="46" d="100"/>
        </p:scale>
        <p:origin x="618" y="4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9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3/30/2019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3/30/2019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014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08763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318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950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64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285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032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767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128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78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47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228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03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>
                <a:solidFill>
                  <a:prstClr val="black"/>
                </a:solidFill>
              </a:rPr>
              <a:t>© Software University Foundation – </a:t>
            </a:r>
            <a:r>
              <a:rPr lang="en-US" sz="1000" u="sng" dirty="0">
                <a:solidFill>
                  <a:prstClr val="black"/>
                </a:solidFill>
                <a:hlinkClick r:id="rId3"/>
              </a:rPr>
              <a:t>http://softuni.org</a:t>
            </a:r>
            <a:endParaRPr lang="en-US" sz="1000" dirty="0">
              <a:solidFill>
                <a:prstClr val="black"/>
              </a:solidFill>
            </a:endParaRPr>
          </a:p>
          <a:p>
            <a:r>
              <a:rPr lang="en-US" sz="1000" dirty="0">
                <a:solidFill>
                  <a:prstClr val="black"/>
                </a:solidFill>
              </a:rPr>
              <a:t>This work is licensed under the </a:t>
            </a:r>
            <a:r>
              <a:rPr lang="en-US" sz="1000" u="sng" noProof="1">
                <a:solidFill>
                  <a:prstClr val="black"/>
                </a:solidFill>
                <a:hlinkClick r:id="rId4"/>
              </a:rPr>
              <a:t>Creative Commons Attribution-NonCommercial-ShareAlike</a:t>
            </a:r>
            <a:r>
              <a:rPr lang="en-US" sz="1000" noProof="1">
                <a:solidFill>
                  <a:prstClr val="black"/>
                </a:solidFill>
              </a:rPr>
              <a:t> </a:t>
            </a:r>
            <a:r>
              <a:rPr lang="en-US" sz="1000" dirty="0">
                <a:solidFill>
                  <a:prstClr val="black"/>
                </a:solidFill>
              </a:rPr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930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28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SoftwareUniversity" TargetMode="External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judge.softuni.bg/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forum.softuni.bg/" TargetMode="External"/><Relationship Id="rId11" Type="http://schemas.openxmlformats.org/officeDocument/2006/relationships/hyperlink" Target="http://www.introprogramming.info/" TargetMode="External"/><Relationship Id="rId5" Type="http://schemas.openxmlformats.org/officeDocument/2006/relationships/hyperlink" Target="http://www.nakov.com/" TargetMode="External"/><Relationship Id="rId10" Type="http://schemas.openxmlformats.org/officeDocument/2006/relationships/hyperlink" Target="http://www.youtube.com/SoftwareUniversity" TargetMode="External"/><Relationship Id="rId4" Type="http://schemas.openxmlformats.org/officeDocument/2006/relationships/hyperlink" Target="http://softuni.org/" TargetMode="External"/><Relationship Id="rId9" Type="http://schemas.openxmlformats.org/officeDocument/2006/relationships/hyperlink" Target="https://twitter.com/softunib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Course Web Site</a:t>
            </a:r>
          </a:p>
        </p:txBody>
      </p:sp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2" name="TextBox 1">
            <a:hlinkClick r:id="rId3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7" name="TextBox 26">
            <a:hlinkClick r:id="rId4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1" name="TextBox 50">
            <a:hlinkClick r:id="rId5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2" name="TextBox 51">
            <a:hlinkClick r:id="rId6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3" name="TextBox 52">
            <a:hlinkClick r:id="rId7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4" name="TextBox 53">
            <a:hlinkClick r:id="rId8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6" name="TextBox 55">
            <a:hlinkClick r:id="rId9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7" name="TextBox 56">
            <a:hlinkClick r:id="rId10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8" name="TextBox 57">
            <a:hlinkClick r:id="rId11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6" name="Rectangle 15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bg-BG" sz="6600" b="1" dirty="0">
                <a:solidFill>
                  <a:srgbClr val="F3BE60"/>
                </a:solidFill>
              </a:rPr>
              <a:t>Въпроси</a:t>
            </a:r>
            <a:r>
              <a:rPr lang="en-US" sz="6600" b="1" dirty="0">
                <a:solidFill>
                  <a:srgbClr val="F3BE60"/>
                </a:solidFill>
              </a:rPr>
              <a:t>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AAFB65-F193-4484-85C5-7FFA43021634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7714">
            <a:off x="504277" y="2018007"/>
            <a:ext cx="2849278" cy="33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4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68" r:id="rId5"/>
  </p:sldLayoutIdLst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hyperlink" Target="https://it-kariera.mon.bg/e-learnin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t-kariera.mon.bg/e-learnin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hyperlink" Target="https://csharp-book.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4"/>
          <p:cNvSpPr txBox="1">
            <a:spLocks/>
          </p:cNvSpPr>
          <p:nvPr/>
        </p:nvSpPr>
        <p:spPr>
          <a:xfrm>
            <a:off x="3351212" y="762000"/>
            <a:ext cx="8215099" cy="117155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r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F6D18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dirty="0"/>
              <a:t>Дефиниране на класове</a:t>
            </a:r>
            <a:endParaRPr lang="en-US" dirty="0"/>
          </a:p>
        </p:txBody>
      </p:sp>
      <p:sp>
        <p:nvSpPr>
          <p:cNvPr id="22" name="Subtitle 5"/>
          <p:cNvSpPr txBox="1">
            <a:spLocks/>
          </p:cNvSpPr>
          <p:nvPr/>
        </p:nvSpPr>
        <p:spPr>
          <a:xfrm>
            <a:off x="3503612" y="1915602"/>
            <a:ext cx="8062699" cy="13350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r" defTabSz="1218987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sz="4000" b="0" kern="1200" cap="none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None/>
              <a:defRPr sz="30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None/>
              <a:defRPr sz="28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2" indent="0" algn="ctr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6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558" y="3735977"/>
            <a:ext cx="4652811" cy="254317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A0ADD6E4-664D-4B27-BE61-5A56E60D9702}"/>
              </a:ext>
            </a:extLst>
          </p:cNvPr>
          <p:cNvGrpSpPr/>
          <p:nvPr/>
        </p:nvGrpSpPr>
        <p:grpSpPr>
          <a:xfrm>
            <a:off x="745783" y="3624633"/>
            <a:ext cx="5812658" cy="2524722"/>
            <a:chOff x="745783" y="3624633"/>
            <a:chExt cx="5812658" cy="2524722"/>
          </a:xfrm>
        </p:grpSpPr>
        <p:pic>
          <p:nvPicPr>
            <p:cNvPr id="24" name="Picture 23" descr="http://softuni.bg">
              <a:extLst>
                <a:ext uri="{FF2B5EF4-FFF2-40B4-BE49-F238E27FC236}">
                  <a16:creationId xmlns:a16="http://schemas.microsoft.com/office/drawing/2014/main" id="{09FAB067-40A6-4A38-93D1-07FB4AB7C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960812" y="3624633"/>
              <a:ext cx="1828798" cy="200698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5A4366-F5D6-4393-BD7A-141ED3660C17}"/>
                </a:ext>
              </a:extLst>
            </p:cNvPr>
            <p:cNvSpPr txBox="1"/>
            <p:nvPr/>
          </p:nvSpPr>
          <p:spPr>
            <a:xfrm rot="576164">
              <a:off x="5020391" y="3707206"/>
              <a:ext cx="1538050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bg-BG" sz="2000" b="1" spc="50" dirty="0">
                  <a:ln w="9525" cmpd="sng">
                    <a:solidFill>
                      <a:srgbClr val="FFA72A"/>
                    </a:solidFill>
                    <a:prstDash val="solid"/>
                  </a:ln>
                  <a:solidFill>
                    <a:srgbClr val="FFF0D9"/>
                  </a:solidFill>
                  <a:effectLst>
                    <a:glow rad="38100">
                      <a:srgbClr val="F0A22E">
                        <a:alpha val="40000"/>
                      </a:srgbClr>
                    </a:glow>
                  </a:effectLst>
                </a:rPr>
                <a:t>Увод в ООП</a:t>
              </a:r>
              <a:endParaRPr lang="en-US" sz="2000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rgbClr val="F0A22E">
                      <a:alpha val="40000"/>
                    </a:srgbClr>
                  </a:glow>
                </a:effectLst>
              </a:endParaRPr>
            </a:p>
          </p:txBody>
        </p:sp>
        <p:pic>
          <p:nvPicPr>
            <p:cNvPr id="26" name="Picture 4" title="CC-BY-NC-SA License">
              <a:hlinkClick r:id="rId5" tooltip="This work is licensed under the &quot;Creative Commons Attribution-NonCommercial-ShareAlike 4.0 International&quot; license"/>
              <a:extLst>
                <a:ext uri="{FF2B5EF4-FFF2-40B4-BE49-F238E27FC236}">
                  <a16:creationId xmlns:a16="http://schemas.microsoft.com/office/drawing/2014/main" id="{56E2204D-C57C-439A-9210-E0B131EC6C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45783" y="4076772"/>
              <a:ext cx="2175525" cy="761165"/>
            </a:xfrm>
            <a:prstGeom prst="roundRect">
              <a:avLst>
                <a:gd name="adj" fmla="val 3940"/>
              </a:avLst>
            </a:prstGeom>
            <a:solidFill>
              <a:srgbClr val="231F20">
                <a:alpha val="50000"/>
              </a:srgbClr>
            </a:solidFill>
            <a:ln>
              <a:solidFill>
                <a:schemeClr val="accent1">
                  <a:lumMod val="75000"/>
                  <a:alpha val="50000"/>
                </a:schemeClr>
              </a:solidFill>
            </a:ln>
          </p:spPr>
        </p:pic>
        <p:sp>
          <p:nvSpPr>
            <p:cNvPr id="27" name="Text Placeholder 7">
              <a:extLst>
                <a:ext uri="{FF2B5EF4-FFF2-40B4-BE49-F238E27FC236}">
                  <a16:creationId xmlns:a16="http://schemas.microsoft.com/office/drawing/2014/main" id="{DEC0E384-8CE2-4278-814B-20BBC04E211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3" y="4998598"/>
              <a:ext cx="3187614" cy="444343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2300" b="1" kern="1200" dirty="0" smtClean="0">
                  <a:solidFill>
                    <a:srgbClr val="F4B36C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bg-BG" noProof="1"/>
                <a:t>Учителски</a:t>
              </a:r>
              <a:r>
                <a:rPr lang="bg-BG"/>
                <a:t> екип</a:t>
              </a:r>
            </a:p>
          </p:txBody>
        </p:sp>
        <p:sp>
          <p:nvSpPr>
            <p:cNvPr id="28" name="Text Placeholder 10">
              <a:extLst>
                <a:ext uri="{FF2B5EF4-FFF2-40B4-BE49-F238E27FC236}">
                  <a16:creationId xmlns:a16="http://schemas.microsoft.com/office/drawing/2014/main" id="{6B9D00F6-6C28-4C4E-8777-DB21EB7CFB3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2" y="5403725"/>
              <a:ext cx="3187613" cy="382788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2000" b="1" kern="1200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bg-BG"/>
                <a:t>Обучение за ИТ кариера</a:t>
              </a:r>
            </a:p>
          </p:txBody>
        </p:sp>
        <p:sp>
          <p:nvSpPr>
            <p:cNvPr id="29" name="Text Placeholder 11">
              <a:extLst>
                <a:ext uri="{FF2B5EF4-FFF2-40B4-BE49-F238E27FC236}">
                  <a16:creationId xmlns:a16="http://schemas.microsoft.com/office/drawing/2014/main" id="{F4228145-6F82-4534-95DE-2617A32E17B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2" y="5690893"/>
              <a:ext cx="3810000" cy="458462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1800" b="1" kern="1200" dirty="0" smtClean="0">
                  <a:solidFill>
                    <a:srgbClr val="F27A44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>
                  <a:hlinkClick r:id="rId7"/>
                </a:rPr>
                <a:t>https://it-kariera.mon.bg/e-learning/</a:t>
              </a:r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01407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04212" y="2057400"/>
            <a:ext cx="3429001" cy="4421449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Дефиниране на клас </a:t>
            </a:r>
            <a:r>
              <a:rPr lang="en-US" dirty="0"/>
              <a:t>Person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Използване на обекти</a:t>
            </a:r>
            <a:endParaRPr lang="en-US" dirty="0"/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Дефиниране на по-сложен клас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82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Задача: Дефинирайте клас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Person</a:t>
            </a:r>
            <a:r>
              <a:rPr lang="bg-BG" dirty="0"/>
              <a:t>, като за него пазете информация за името и възрастта на човек и реализирайте единствено действието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IntroduceYourself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bg-BG" dirty="0"/>
              <a:t>, което отпечатва представяне на човека. След това създайте и използвайте обект от класа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Person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Задача: Дефинирайте клас </a:t>
            </a:r>
            <a:r>
              <a:rPr lang="en-US" dirty="0"/>
              <a:t>Person</a:t>
            </a:r>
          </a:p>
        </p:txBody>
      </p:sp>
    </p:spTree>
    <p:extLst>
      <p:ext uri="{BB962C8B-B14F-4D97-AF65-F5344CB8AC3E}">
        <p14:creationId xmlns:p14="http://schemas.microsoft.com/office/powerpoint/2010/main" val="227015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Нека първо да създадем файл за този клас:</a:t>
            </a:r>
            <a:br>
              <a:rPr lang="bg-BG" dirty="0"/>
            </a:br>
            <a:r>
              <a:rPr lang="en-US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[Project]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 [Add Class] </a:t>
            </a:r>
            <a:r>
              <a:rPr lang="bg-BG" dirty="0">
                <a:sym typeface="Wingdings" panose="05000000000000000000" pitchFamily="2" charset="2"/>
              </a:rPr>
              <a:t>или:</a:t>
            </a:r>
            <a:br>
              <a:rPr lang="bg-BG" dirty="0">
                <a:sym typeface="Wingdings" panose="05000000000000000000" pitchFamily="2" charset="2"/>
              </a:rPr>
            </a:br>
            <a:r>
              <a:rPr lang="bg-BG" dirty="0">
                <a:sym typeface="Wingdings" panose="05000000000000000000" pitchFamily="2" charset="2"/>
              </a:rPr>
              <a:t>десен бутон върху проекта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[Add]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 [New Item]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 [Class]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r>
              <a:rPr lang="bg-BG" dirty="0">
                <a:sym typeface="Wingdings" panose="05000000000000000000" pitchFamily="2" charset="2"/>
              </a:rPr>
              <a:t>Внимавайте с именуването на класа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Дефинирайте клас </a:t>
            </a:r>
            <a:r>
              <a:rPr lang="en-US" dirty="0"/>
              <a:t>Person</a:t>
            </a:r>
            <a:r>
              <a:rPr lang="bg-BG" dirty="0"/>
              <a:t> (1)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44" y="2971800"/>
            <a:ext cx="8943268" cy="231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9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Дефинирайте клас </a:t>
            </a:r>
            <a:r>
              <a:rPr lang="en-US" dirty="0"/>
              <a:t>Person</a:t>
            </a:r>
            <a:r>
              <a:rPr lang="bg-BG" dirty="0"/>
              <a:t> (2)</a:t>
            </a:r>
            <a:endParaRPr lang="en-US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455612" y="1066800"/>
            <a:ext cx="11263200" cy="556227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200" dirty="0">
                <a:solidFill>
                  <a:schemeClr val="tx2"/>
                </a:solidFill>
              </a:rPr>
              <a:t>class 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Person </a:t>
            </a:r>
            <a:r>
              <a:rPr lang="en-US" sz="2200" dirty="0">
                <a:solidFill>
                  <a:schemeClr val="tx2"/>
                </a:solidFill>
              </a:rPr>
              <a:t>{</a:t>
            </a:r>
          </a:p>
          <a:p>
            <a:r>
              <a:rPr lang="en-US" sz="2200" dirty="0"/>
              <a:t>  private string name;</a:t>
            </a:r>
          </a:p>
          <a:p>
            <a:r>
              <a:rPr lang="en-US" sz="2200" dirty="0"/>
              <a:t>  private </a:t>
            </a:r>
            <a:r>
              <a:rPr lang="en-US" sz="2200" dirty="0" err="1"/>
              <a:t>int</a:t>
            </a:r>
            <a:r>
              <a:rPr lang="en-US" sz="2200" dirty="0"/>
              <a:t> age;</a:t>
            </a:r>
          </a:p>
          <a:p>
            <a:r>
              <a:rPr lang="en-US" sz="2200" dirty="0"/>
              <a:t>  public String Name { //</a:t>
            </a:r>
            <a:r>
              <a:rPr lang="bg-BG" sz="2200" b="0" dirty="0"/>
              <a:t>реализираме свойство </a:t>
            </a:r>
            <a:r>
              <a:rPr lang="en-US" sz="2200" b="0" dirty="0"/>
              <a:t>Name</a:t>
            </a:r>
          </a:p>
          <a:p>
            <a:r>
              <a:rPr lang="en-US" sz="2200" dirty="0"/>
              <a:t>    get { return name; }</a:t>
            </a:r>
          </a:p>
          <a:p>
            <a:r>
              <a:rPr lang="en-US" sz="2200" dirty="0"/>
              <a:t>    set { name = value; }</a:t>
            </a:r>
          </a:p>
          <a:p>
            <a:r>
              <a:rPr lang="en-US" sz="2200" dirty="0"/>
              <a:t>  }</a:t>
            </a:r>
          </a:p>
          <a:p>
            <a:r>
              <a:rPr lang="en-US" sz="2200" dirty="0"/>
              <a:t>  public </a:t>
            </a:r>
            <a:r>
              <a:rPr lang="en-US" sz="2200" dirty="0" err="1"/>
              <a:t>int</a:t>
            </a:r>
            <a:r>
              <a:rPr lang="en-US" sz="2200" dirty="0"/>
              <a:t> Age { //</a:t>
            </a:r>
            <a:r>
              <a:rPr lang="bg-BG" sz="2200" b="0" dirty="0"/>
              <a:t>реализираме свойство </a:t>
            </a:r>
            <a:r>
              <a:rPr lang="en-US" sz="2200" b="0" dirty="0"/>
              <a:t>Age</a:t>
            </a:r>
          </a:p>
          <a:p>
            <a:r>
              <a:rPr lang="en-US" sz="2200" dirty="0"/>
              <a:t>    get { return age; }</a:t>
            </a:r>
          </a:p>
          <a:p>
            <a:r>
              <a:rPr lang="en-US" sz="2200" dirty="0"/>
              <a:t>    set { age = value; }</a:t>
            </a:r>
          </a:p>
          <a:p>
            <a:r>
              <a:rPr lang="en-US" sz="2200" dirty="0"/>
              <a:t>  }</a:t>
            </a:r>
          </a:p>
          <a:p>
            <a:r>
              <a:rPr lang="en-US" sz="2200" dirty="0"/>
              <a:t>  public void </a:t>
            </a:r>
            <a:r>
              <a:rPr lang="en-US" sz="2200" dirty="0" err="1"/>
              <a:t>IntroduceYourself</a:t>
            </a:r>
            <a:r>
              <a:rPr lang="en-US" sz="2200" dirty="0"/>
              <a:t>() {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Console.WriteLine</a:t>
            </a:r>
            <a:r>
              <a:rPr lang="en-US" sz="2200" dirty="0"/>
              <a:t>("</a:t>
            </a:r>
            <a:r>
              <a:rPr lang="bg-BG" sz="2200" dirty="0"/>
              <a:t>Здравейте! Аз съм {0} и съм на {1} години.", </a:t>
            </a:r>
            <a:r>
              <a:rPr lang="en-US" sz="2200" dirty="0"/>
              <a:t>name, age);</a:t>
            </a:r>
          </a:p>
          <a:p>
            <a:r>
              <a:rPr lang="en-US" sz="2200" dirty="0"/>
              <a:t>  }</a:t>
            </a:r>
          </a:p>
          <a:p>
            <a:r>
              <a:rPr lang="en-US" sz="2200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160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Дефинирайте клас </a:t>
            </a:r>
            <a:r>
              <a:rPr lang="en-US" dirty="0"/>
              <a:t>Person</a:t>
            </a:r>
            <a:r>
              <a:rPr lang="bg-BG" dirty="0"/>
              <a:t> (</a:t>
            </a:r>
            <a:r>
              <a:rPr lang="en-US" dirty="0"/>
              <a:t>3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455612" y="2392054"/>
            <a:ext cx="11263200" cy="359250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/>
              <a:t>static void Main(string[] </a:t>
            </a:r>
            <a:r>
              <a:rPr lang="en-US" sz="3200" dirty="0" err="1"/>
              <a:t>args</a:t>
            </a:r>
            <a:r>
              <a:rPr lang="en-US" sz="3200" dirty="0"/>
              <a:t>) {</a:t>
            </a:r>
          </a:p>
          <a:p>
            <a:r>
              <a:rPr lang="en-US" sz="3200" dirty="0"/>
              <a:t>  Person </a:t>
            </a:r>
            <a:r>
              <a:rPr lang="en-US" sz="3200" dirty="0" err="1"/>
              <a:t>firstPerson</a:t>
            </a:r>
            <a:r>
              <a:rPr lang="en-US" sz="3200" dirty="0"/>
              <a:t> = new Person();</a:t>
            </a:r>
          </a:p>
          <a:p>
            <a:r>
              <a:rPr lang="en-US" sz="3200" dirty="0"/>
              <a:t>  </a:t>
            </a:r>
            <a:r>
              <a:rPr lang="en-US" sz="3200" dirty="0" err="1"/>
              <a:t>firstPerson.Name</a:t>
            </a:r>
            <a:r>
              <a:rPr lang="en-US" sz="3200" dirty="0"/>
              <a:t> = "</a:t>
            </a:r>
            <a:r>
              <a:rPr lang="bg-BG" sz="3200" dirty="0"/>
              <a:t>Гошо";</a:t>
            </a:r>
          </a:p>
          <a:p>
            <a:r>
              <a:rPr lang="en-US" sz="3200" dirty="0"/>
              <a:t>  </a:t>
            </a:r>
            <a:r>
              <a:rPr lang="en-US" sz="3200" dirty="0" err="1"/>
              <a:t>firstPerson.Age</a:t>
            </a:r>
            <a:r>
              <a:rPr lang="en-US" sz="3200" dirty="0"/>
              <a:t> = 15;</a:t>
            </a:r>
          </a:p>
          <a:p>
            <a:r>
              <a:rPr lang="en-US" sz="3200" dirty="0" smtClean="0"/>
              <a:t>firs</a:t>
            </a:r>
            <a:endParaRPr lang="en-US" sz="3200" dirty="0"/>
          </a:p>
          <a:p>
            <a:r>
              <a:rPr lang="en-US" sz="3200" dirty="0"/>
              <a:t>  </a:t>
            </a:r>
            <a:r>
              <a:rPr lang="en-US" sz="3200" dirty="0" err="1"/>
              <a:t>firstPerson.IntroduceYourself</a:t>
            </a:r>
            <a:r>
              <a:rPr lang="en-US" sz="3200" dirty="0"/>
              <a:t>();</a:t>
            </a:r>
          </a:p>
          <a:p>
            <a:r>
              <a:rPr lang="en-US" sz="3200" dirty="0"/>
              <a:t>}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1211079"/>
          </a:xfrm>
        </p:spPr>
        <p:txBody>
          <a:bodyPr/>
          <a:lstStyle/>
          <a:p>
            <a:r>
              <a:rPr lang="bg-BG" dirty="0">
                <a:sym typeface="Wingdings" panose="05000000000000000000" pitchFamily="2" charset="2"/>
              </a:rPr>
              <a:t>Сега е време да използваме класа и да направим обект в </a:t>
            </a:r>
            <a:r>
              <a:rPr lang="en-US" dirty="0">
                <a:sym typeface="Wingdings" panose="05000000000000000000" pitchFamily="2" charset="2"/>
              </a:rPr>
              <a:t>Main </a:t>
            </a:r>
            <a:r>
              <a:rPr lang="bg-BG" dirty="0">
                <a:sym typeface="Wingdings" panose="05000000000000000000" pitchFamily="2" charset="2"/>
              </a:rPr>
              <a:t>метода ни в </a:t>
            </a:r>
            <a:r>
              <a:rPr lang="en-US" dirty="0" err="1">
                <a:sym typeface="Wingdings" panose="05000000000000000000" pitchFamily="2" charset="2"/>
              </a:rPr>
              <a:t>Program.cs</a:t>
            </a:r>
            <a:r>
              <a:rPr lang="en-US" dirty="0">
                <a:sym typeface="Wingdings" panose="05000000000000000000" pitchFamily="2" charset="2"/>
              </a:rPr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18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Дефинирайте клас </a:t>
            </a:r>
            <a:r>
              <a:rPr lang="en-US" dirty="0"/>
              <a:t>Person</a:t>
            </a:r>
            <a:r>
              <a:rPr lang="bg-BG" dirty="0"/>
              <a:t> (</a:t>
            </a:r>
            <a:r>
              <a:rPr lang="en-US" dirty="0"/>
              <a:t>4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542799" cy="5373881"/>
          </a:xfrm>
        </p:spPr>
        <p:txBody>
          <a:bodyPr>
            <a:normAutofit lnSpcReduction="10000"/>
          </a:bodyPr>
          <a:lstStyle/>
          <a:p>
            <a:r>
              <a:rPr lang="bg-BG" dirty="0">
                <a:sym typeface="Wingdings" panose="05000000000000000000" pitchFamily="2" charset="2"/>
              </a:rPr>
              <a:t>Ако сте работили правилно ще получите</a:t>
            </a:r>
            <a:r>
              <a:rPr lang="en-US" dirty="0">
                <a:sym typeface="Wingdings" panose="05000000000000000000" pitchFamily="2" charset="2"/>
              </a:rPr>
              <a:t>:</a:t>
            </a:r>
            <a:endParaRPr lang="bg-BG" dirty="0">
              <a:sym typeface="Wingdings" panose="05000000000000000000" pitchFamily="2" charset="2"/>
            </a:endParaRPr>
          </a:p>
          <a:p>
            <a:endParaRPr lang="bg-BG" dirty="0">
              <a:sym typeface="Wingdings" panose="05000000000000000000" pitchFamily="2" charset="2"/>
            </a:endParaRPr>
          </a:p>
          <a:p>
            <a:endParaRPr lang="bg-BG" dirty="0">
              <a:sym typeface="Wingdings" panose="05000000000000000000" pitchFamily="2" charset="2"/>
            </a:endParaRPr>
          </a:p>
          <a:p>
            <a:endParaRPr lang="bg-BG" dirty="0"/>
          </a:p>
          <a:p>
            <a:r>
              <a:rPr lang="bg-BG" dirty="0"/>
              <a:t>Аналогично създайте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secondPerson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thirdPerson</a:t>
            </a:r>
            <a:r>
              <a:rPr lang="en-US" dirty="0"/>
              <a:t> </a:t>
            </a:r>
            <a:r>
              <a:rPr lang="bg-BG" dirty="0"/>
              <a:t>и извикайте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IntroduceYourself</a:t>
            </a:r>
            <a:r>
              <a:rPr lang="en-US" dirty="0"/>
              <a:t> </a:t>
            </a:r>
            <a:r>
              <a:rPr lang="bg-BG" dirty="0"/>
              <a:t>и за тях</a:t>
            </a:r>
            <a:endParaRPr lang="en-US" dirty="0"/>
          </a:p>
          <a:p>
            <a:r>
              <a:rPr lang="bg-BG" dirty="0"/>
              <a:t>За момента няма да акцентираме на теоретичния смисъл на кода от по-рано – той ще се уточни допълнително в следващите теми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2" y="2140284"/>
            <a:ext cx="6829739" cy="104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0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Задача: Дефинирайте клас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Person</a:t>
            </a:r>
            <a:r>
              <a:rPr lang="bg-BG" dirty="0"/>
              <a:t>, като за него пазете информация за името и възрастта на човек</a:t>
            </a:r>
            <a:r>
              <a:rPr lang="en-US" dirty="0"/>
              <a:t>, </a:t>
            </a:r>
            <a:r>
              <a:rPr lang="bg-BG" dirty="0"/>
              <a:t>както и информация за банкови сметки (клас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BankAccount</a:t>
            </a:r>
            <a:r>
              <a:rPr lang="en-US" dirty="0"/>
              <a:t>). </a:t>
            </a:r>
            <a:r>
              <a:rPr lang="bg-BG" dirty="0"/>
              <a:t>Направете метод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GetBalance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, </a:t>
            </a:r>
            <a:r>
              <a:rPr lang="bg-BG" dirty="0"/>
              <a:t>който дава информация каква е общата стойност на парите, които притежава човек.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Задача:</a:t>
            </a:r>
            <a:r>
              <a:rPr lang="en-US" dirty="0"/>
              <a:t> </a:t>
            </a:r>
            <a:r>
              <a:rPr lang="bg-BG" dirty="0"/>
              <a:t>Човекът и неговите пари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8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Първо ще създадем файл за клас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BankAccount</a:t>
            </a:r>
            <a:r>
              <a:rPr lang="bg-BG" dirty="0"/>
              <a:t>.</a:t>
            </a:r>
          </a:p>
          <a:p>
            <a:r>
              <a:rPr lang="bg-BG" dirty="0"/>
              <a:t>След това ще направим възможно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Person</a:t>
            </a:r>
            <a:r>
              <a:rPr lang="en-US" dirty="0"/>
              <a:t> </a:t>
            </a:r>
            <a:r>
              <a:rPr lang="bg-BG" dirty="0"/>
              <a:t>да се пази списък от банковите сметки на човека</a:t>
            </a:r>
          </a:p>
          <a:p>
            <a:r>
              <a:rPr lang="bg-BG" dirty="0"/>
              <a:t>Последно в класа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Person</a:t>
            </a:r>
            <a:r>
              <a:rPr lang="en-US" dirty="0"/>
              <a:t> </a:t>
            </a:r>
            <a:r>
              <a:rPr lang="bg-BG" dirty="0"/>
              <a:t>ще добавим метод, който изчислява сумата от балансите на всички смекти в списъка</a:t>
            </a:r>
            <a:br>
              <a:rPr lang="bg-BG" dirty="0"/>
            </a:b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Човекът и неговите пари 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45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Човекът и неговите пари (2)</a:t>
            </a:r>
            <a:endParaRPr lang="en-US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455612" y="1066800"/>
            <a:ext cx="11263200" cy="55314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500" dirty="0">
                <a:solidFill>
                  <a:schemeClr val="tx2"/>
                </a:solidFill>
              </a:rPr>
              <a:t>class </a:t>
            </a:r>
            <a:r>
              <a:rPr lang="en-US" sz="2500" dirty="0" err="1">
                <a:solidFill>
                  <a:schemeClr val="tx2"/>
                </a:solidFill>
              </a:rPr>
              <a:t>BankAccount</a:t>
            </a:r>
            <a:r>
              <a:rPr lang="en-US" sz="2500" dirty="0">
                <a:solidFill>
                  <a:schemeClr val="tx2"/>
                </a:solidFill>
              </a:rPr>
              <a:t> {</a:t>
            </a:r>
          </a:p>
          <a:p>
            <a:r>
              <a:rPr lang="bg-BG" sz="2500" dirty="0"/>
              <a:t>  </a:t>
            </a:r>
            <a:r>
              <a:rPr lang="en-US" sz="2500" dirty="0"/>
              <a:t>private </a:t>
            </a:r>
            <a:r>
              <a:rPr lang="en-US" sz="2500" dirty="0" err="1"/>
              <a:t>int</a:t>
            </a:r>
            <a:r>
              <a:rPr lang="en-US" sz="2500" dirty="0"/>
              <a:t> id;</a:t>
            </a:r>
          </a:p>
          <a:p>
            <a:r>
              <a:rPr lang="en-US" sz="2500" dirty="0"/>
              <a:t> </a:t>
            </a:r>
            <a:r>
              <a:rPr lang="bg-BG" sz="2500" dirty="0"/>
              <a:t> </a:t>
            </a:r>
            <a:r>
              <a:rPr lang="en-US" sz="2500" dirty="0"/>
              <a:t>private double balance;</a:t>
            </a:r>
          </a:p>
          <a:p>
            <a:endParaRPr lang="en-US" sz="2500" dirty="0"/>
          </a:p>
          <a:p>
            <a:r>
              <a:rPr lang="bg-BG" sz="2500" dirty="0"/>
              <a:t>  </a:t>
            </a:r>
            <a:r>
              <a:rPr lang="en-US" sz="2500" dirty="0"/>
              <a:t>public </a:t>
            </a:r>
            <a:r>
              <a:rPr lang="en-US" sz="2500" dirty="0" err="1"/>
              <a:t>int</a:t>
            </a:r>
            <a:r>
              <a:rPr lang="en-US" sz="2500" dirty="0"/>
              <a:t> ID</a:t>
            </a:r>
            <a:r>
              <a:rPr lang="bg-BG" sz="2500" dirty="0"/>
              <a:t> </a:t>
            </a:r>
            <a:r>
              <a:rPr lang="en-US" sz="2500" dirty="0"/>
              <a:t>{</a:t>
            </a:r>
          </a:p>
          <a:p>
            <a:r>
              <a:rPr lang="en-US" sz="2500" dirty="0"/>
              <a:t> </a:t>
            </a:r>
            <a:r>
              <a:rPr lang="bg-BG" sz="2500" dirty="0"/>
              <a:t>   </a:t>
            </a:r>
            <a:r>
              <a:rPr lang="en-US" sz="2500" dirty="0"/>
              <a:t>get { return id; }</a:t>
            </a:r>
          </a:p>
          <a:p>
            <a:r>
              <a:rPr lang="bg-BG" sz="2500" dirty="0"/>
              <a:t>    </a:t>
            </a:r>
            <a:r>
              <a:rPr lang="en-US" sz="2500" dirty="0"/>
              <a:t>set { id = value; }</a:t>
            </a:r>
            <a:endParaRPr lang="bg-BG" sz="2500" dirty="0"/>
          </a:p>
          <a:p>
            <a:r>
              <a:rPr lang="bg-BG" sz="2500" dirty="0"/>
              <a:t>  </a:t>
            </a:r>
            <a:r>
              <a:rPr lang="en-US" sz="2500" dirty="0"/>
              <a:t>}</a:t>
            </a:r>
          </a:p>
          <a:p>
            <a:endParaRPr lang="en-US" sz="2500" dirty="0"/>
          </a:p>
          <a:p>
            <a:r>
              <a:rPr lang="bg-BG" sz="2500" dirty="0"/>
              <a:t>  </a:t>
            </a:r>
            <a:r>
              <a:rPr lang="en-US" sz="2500" dirty="0"/>
              <a:t>public double Balance</a:t>
            </a:r>
            <a:r>
              <a:rPr lang="bg-BG" sz="2500" dirty="0"/>
              <a:t> </a:t>
            </a:r>
            <a:r>
              <a:rPr lang="en-US" sz="2500" dirty="0"/>
              <a:t>{</a:t>
            </a:r>
          </a:p>
          <a:p>
            <a:r>
              <a:rPr lang="en-US" sz="2500" dirty="0"/>
              <a:t>  </a:t>
            </a:r>
            <a:r>
              <a:rPr lang="bg-BG" sz="2500" dirty="0"/>
              <a:t>  </a:t>
            </a:r>
            <a:r>
              <a:rPr lang="en-US" sz="2500" dirty="0"/>
              <a:t>get { return balance; }</a:t>
            </a:r>
          </a:p>
          <a:p>
            <a:r>
              <a:rPr lang="bg-BG" sz="2500" dirty="0"/>
              <a:t>    </a:t>
            </a:r>
            <a:r>
              <a:rPr lang="en-US" sz="2500" dirty="0"/>
              <a:t>set { balance = value; }</a:t>
            </a:r>
          </a:p>
          <a:p>
            <a:r>
              <a:rPr lang="bg-BG" sz="2500" dirty="0"/>
              <a:t>  </a:t>
            </a:r>
            <a:r>
              <a:rPr lang="en-US" sz="2500" dirty="0"/>
              <a:t>}</a:t>
            </a:r>
            <a:endParaRPr lang="bg-BG" sz="2500" dirty="0">
              <a:solidFill>
                <a:schemeClr val="tx2"/>
              </a:solidFill>
            </a:endParaRPr>
          </a:p>
          <a:p>
            <a:r>
              <a:rPr lang="en-US" sz="2500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499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Човекът и неговите пари (</a:t>
            </a:r>
            <a:r>
              <a:rPr lang="en-US" dirty="0"/>
              <a:t>3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455612" y="2284104"/>
            <a:ext cx="10439400" cy="445427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/>
              <a:t>class Person {</a:t>
            </a:r>
            <a:endParaRPr lang="bg-BG" sz="2800" dirty="0"/>
          </a:p>
          <a:p>
            <a:r>
              <a:rPr lang="bg-BG" sz="2800" dirty="0"/>
              <a:t>  //</a:t>
            </a:r>
            <a:r>
              <a:rPr lang="en-US" sz="2800" dirty="0"/>
              <a:t>TODO: </a:t>
            </a:r>
            <a:r>
              <a:rPr lang="bg-BG" sz="2800" dirty="0"/>
              <a:t>добавете полета за име и възраст</a:t>
            </a:r>
            <a:endParaRPr lang="en-US" sz="2800" dirty="0"/>
          </a:p>
          <a:p>
            <a:r>
              <a:rPr lang="en-US" sz="2800" dirty="0"/>
              <a:t>  private List&lt;</a:t>
            </a:r>
            <a:r>
              <a:rPr lang="en-US" sz="2800" dirty="0" err="1"/>
              <a:t>BankAccount</a:t>
            </a:r>
            <a:r>
              <a:rPr lang="en-US" sz="2800" dirty="0"/>
              <a:t>&gt; accounts</a:t>
            </a:r>
            <a:r>
              <a:rPr lang="bg-BG" sz="2800" dirty="0"/>
              <a:t> </a:t>
            </a:r>
            <a:r>
              <a:rPr lang="en-US" sz="2800" dirty="0"/>
              <a:t>=</a:t>
            </a:r>
            <a:br>
              <a:rPr lang="en-US" sz="2800" dirty="0"/>
            </a:br>
            <a:r>
              <a:rPr lang="en-US" sz="2800" dirty="0"/>
              <a:t>	new List&lt;</a:t>
            </a:r>
            <a:r>
              <a:rPr lang="en-US" sz="2800" dirty="0" err="1"/>
              <a:t>BankAccount</a:t>
            </a:r>
            <a:r>
              <a:rPr lang="en-US" sz="2800" dirty="0"/>
              <a:t>&gt;();</a:t>
            </a:r>
          </a:p>
          <a:p>
            <a:r>
              <a:rPr lang="bg-BG" sz="2800" dirty="0"/>
              <a:t>  //</a:t>
            </a:r>
            <a:r>
              <a:rPr lang="en-US" sz="2800" dirty="0"/>
              <a:t>TODO: </a:t>
            </a:r>
            <a:r>
              <a:rPr lang="bg-BG" sz="2800" dirty="0"/>
              <a:t>добавете свойства за име и възраст</a:t>
            </a:r>
          </a:p>
          <a:p>
            <a:r>
              <a:rPr lang="bg-BG" sz="2800" dirty="0"/>
              <a:t>  </a:t>
            </a:r>
            <a:r>
              <a:rPr lang="en-US" sz="2800" dirty="0"/>
              <a:t>public List&lt;</a:t>
            </a:r>
            <a:r>
              <a:rPr lang="en-US" sz="2800" dirty="0" err="1"/>
              <a:t>BankAccount</a:t>
            </a:r>
            <a:r>
              <a:rPr lang="en-US" sz="2800" dirty="0"/>
              <a:t>&gt; Accounts</a:t>
            </a:r>
            <a:r>
              <a:rPr lang="bg-BG" sz="2800" dirty="0"/>
              <a:t> </a:t>
            </a:r>
            <a:r>
              <a:rPr lang="en-US" sz="2800" dirty="0"/>
              <a:t>{</a:t>
            </a:r>
          </a:p>
          <a:p>
            <a:r>
              <a:rPr lang="en-US" sz="2800" dirty="0"/>
              <a:t>  </a:t>
            </a:r>
            <a:r>
              <a:rPr lang="bg-BG" sz="2800" dirty="0"/>
              <a:t>  </a:t>
            </a:r>
            <a:r>
              <a:rPr lang="en-US" sz="2800" dirty="0"/>
              <a:t>get { return accounts; }</a:t>
            </a:r>
          </a:p>
          <a:p>
            <a:r>
              <a:rPr lang="bg-BG" sz="2800" dirty="0"/>
              <a:t>    </a:t>
            </a:r>
            <a:r>
              <a:rPr lang="en-US" sz="2800" dirty="0"/>
              <a:t>set { accounts = value; }</a:t>
            </a:r>
          </a:p>
          <a:p>
            <a:r>
              <a:rPr lang="bg-BG" sz="2800" dirty="0"/>
              <a:t>  </a:t>
            </a:r>
            <a:r>
              <a:rPr lang="en-US" sz="2800" dirty="0"/>
              <a:t>}</a:t>
            </a:r>
          </a:p>
          <a:p>
            <a:r>
              <a:rPr lang="en-US" sz="28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1211079"/>
          </a:xfrm>
        </p:spPr>
        <p:txBody>
          <a:bodyPr/>
          <a:lstStyle/>
          <a:p>
            <a:r>
              <a:rPr lang="bg-BG" dirty="0">
                <a:sym typeface="Wingdings" panose="05000000000000000000" pitchFamily="2" charset="2"/>
              </a:rPr>
              <a:t>В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Person.cs</a:t>
            </a:r>
            <a:r>
              <a:rPr lang="bg-BG" dirty="0">
                <a:sym typeface="Wingdings" panose="05000000000000000000" pitchFamily="2" charset="2"/>
              </a:rPr>
              <a:t> добавете поле, в което ще се пази списък от банковите сметки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bg-BG" dirty="0">
                <a:sym typeface="Wingdings" panose="05000000000000000000" pitchFamily="2" charset="2"/>
              </a:rPr>
              <a:t>както и свойство: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04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Човекът и неговите пари (4)</a:t>
            </a:r>
            <a:endParaRPr lang="en-US" dirty="0"/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455612" y="2667000"/>
            <a:ext cx="11263200" cy="273072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/>
              <a:t>class Person {</a:t>
            </a:r>
            <a:endParaRPr lang="bg-BG" sz="2800" dirty="0"/>
          </a:p>
          <a:p>
            <a:r>
              <a:rPr lang="bg-BG" sz="2800" dirty="0"/>
              <a:t>  //...</a:t>
            </a:r>
          </a:p>
          <a:p>
            <a:r>
              <a:rPr lang="bg-BG" sz="2800" dirty="0"/>
              <a:t>  </a:t>
            </a:r>
            <a:r>
              <a:rPr lang="en-US" sz="2800" dirty="0"/>
              <a:t>public double </a:t>
            </a:r>
            <a:r>
              <a:rPr lang="en-US" sz="2800" dirty="0" err="1"/>
              <a:t>GetBalance</a:t>
            </a:r>
            <a:r>
              <a:rPr lang="en-US" sz="2800" dirty="0"/>
              <a:t>()</a:t>
            </a:r>
            <a:r>
              <a:rPr lang="bg-BG" sz="2800" dirty="0"/>
              <a:t> </a:t>
            </a:r>
            <a:r>
              <a:rPr lang="en-US" sz="2800" dirty="0"/>
              <a:t>{</a:t>
            </a:r>
          </a:p>
          <a:p>
            <a:r>
              <a:rPr lang="en-US" sz="2800" dirty="0"/>
              <a:t>  </a:t>
            </a:r>
            <a:r>
              <a:rPr lang="bg-BG" sz="2800" dirty="0"/>
              <a:t>  </a:t>
            </a:r>
            <a:r>
              <a:rPr lang="en-US" sz="2800" dirty="0"/>
              <a:t>return </a:t>
            </a:r>
            <a:r>
              <a:rPr lang="en-US" sz="2800" dirty="0" err="1"/>
              <a:t>accounts.Sum</a:t>
            </a:r>
            <a:r>
              <a:rPr lang="en-US" sz="2800" dirty="0"/>
              <a:t>(element =&gt; </a:t>
            </a:r>
            <a:r>
              <a:rPr lang="en-US" sz="2800" dirty="0" err="1"/>
              <a:t>element.Balance</a:t>
            </a:r>
            <a:r>
              <a:rPr lang="en-US" sz="2800" dirty="0"/>
              <a:t>);</a:t>
            </a:r>
          </a:p>
          <a:p>
            <a:r>
              <a:rPr lang="bg-BG" sz="2800" dirty="0"/>
              <a:t>  </a:t>
            </a:r>
            <a:r>
              <a:rPr lang="en-US" sz="2800" dirty="0"/>
              <a:t>}</a:t>
            </a:r>
            <a:endParaRPr lang="bg-BG" sz="2800" dirty="0">
              <a:solidFill>
                <a:schemeClr val="tx2"/>
              </a:solidFill>
            </a:endParaRPr>
          </a:p>
          <a:p>
            <a:r>
              <a:rPr lang="en-US" sz="28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1211079"/>
          </a:xfrm>
        </p:spPr>
        <p:txBody>
          <a:bodyPr/>
          <a:lstStyle/>
          <a:p>
            <a:r>
              <a:rPr lang="bg-BG" dirty="0">
                <a:sym typeface="Wingdings" panose="05000000000000000000" pitchFamily="2" charset="2"/>
              </a:rPr>
              <a:t>В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Person.cs</a:t>
            </a:r>
            <a:r>
              <a:rPr lang="bg-BG" dirty="0">
                <a:sym typeface="Wingdings" panose="05000000000000000000" pitchFamily="2" charset="2"/>
              </a:rPr>
              <a:t> добавете метода, който ще изчислява стойността на сумата от балансите на всички сметки: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18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Човекът и неговите пари (</a:t>
            </a:r>
            <a:r>
              <a:rPr lang="en-US" dirty="0"/>
              <a:t>4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542799" cy="5373881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Създайте три обекта от клас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Person</a:t>
            </a:r>
            <a:r>
              <a:rPr lang="bg-BG" dirty="0"/>
              <a:t> в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Main()</a:t>
            </a:r>
            <a:r>
              <a:rPr lang="en-US" dirty="0"/>
              <a:t>.</a:t>
            </a:r>
          </a:p>
          <a:p>
            <a:r>
              <a:rPr lang="bg-BG" dirty="0"/>
              <a:t>Създайте един обект от клас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BankAccount</a:t>
            </a:r>
            <a:r>
              <a:rPr lang="bg-BG" dirty="0"/>
              <a:t>, задайте му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ID</a:t>
            </a:r>
            <a:r>
              <a:rPr lang="en-US" dirty="0"/>
              <a:t> </a:t>
            </a:r>
            <a:r>
              <a:rPr lang="bg-BG" dirty="0"/>
              <a:t>и баланс и го добавете към първия човек, използвайки метода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Add()</a:t>
            </a:r>
            <a:r>
              <a:rPr lang="en-US" dirty="0"/>
              <a:t> - </a:t>
            </a:r>
            <a:r>
              <a:rPr lang="bg-BG" dirty="0"/>
              <a:t>не забравяйте, че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.Accounts</a:t>
            </a:r>
            <a:r>
              <a:rPr lang="en-US" dirty="0"/>
              <a:t> </a:t>
            </a:r>
            <a:r>
              <a:rPr lang="bg-BG" dirty="0"/>
              <a:t>е списък и има метод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Add()</a:t>
            </a:r>
            <a:endParaRPr lang="bg-BG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bg-BG" dirty="0"/>
              <a:t>Аналогично за втория човек създайте две сметки и му ги добавете, а за третия – три</a:t>
            </a:r>
            <a:r>
              <a:rPr lang="en-US" dirty="0"/>
              <a:t>;</a:t>
            </a:r>
            <a:endParaRPr lang="bg-BG" dirty="0"/>
          </a:p>
          <a:p>
            <a:r>
              <a:rPr lang="bg-BG" dirty="0"/>
              <a:t>Изкарайте трите суми – състоянието на първия, втория и третия човек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46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Дефиниране на класове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29384" y="6400802"/>
            <a:ext cx="10482604" cy="363552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https://it-kariera.mon.bg/e-learning/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865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r>
              <a:rPr lang="bg-BG" dirty="0"/>
              <a:t>Настоящият курс </a:t>
            </a:r>
            <a:r>
              <a:rPr lang="en-US" dirty="0"/>
              <a:t>(</a:t>
            </a:r>
            <a:r>
              <a:rPr lang="bg-BG" dirty="0"/>
              <a:t>слайдове</a:t>
            </a:r>
            <a:r>
              <a:rPr lang="en-US" dirty="0"/>
              <a:t>, </a:t>
            </a:r>
            <a:r>
              <a:rPr lang="bg-BG" dirty="0"/>
              <a:t>примери</a:t>
            </a:r>
            <a:r>
              <a:rPr lang="en-US" dirty="0"/>
              <a:t>, </a:t>
            </a:r>
            <a:r>
              <a:rPr lang="bg-BG" dirty="0"/>
              <a:t>видео</a:t>
            </a:r>
            <a:r>
              <a:rPr lang="en-US" dirty="0"/>
              <a:t>, </a:t>
            </a:r>
            <a:r>
              <a:rPr lang="bg-BG" dirty="0"/>
              <a:t>задачи и др.</a:t>
            </a:r>
            <a:r>
              <a:rPr lang="en-US" dirty="0"/>
              <a:t>)</a:t>
            </a:r>
            <a:r>
              <a:rPr lang="bg-BG" dirty="0"/>
              <a:t> се разпространяват под свободен лиценз </a:t>
            </a:r>
            <a:r>
              <a:rPr lang="en-US" dirty="0"/>
              <a:t>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>
                <a:hlinkClick r:id="rId3"/>
              </a:rPr>
              <a:t>Attribution-NonCommercial-ShareAlike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"</a:t>
            </a:r>
            <a:endParaRPr lang="bg-BG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pPr>
              <a:spcBef>
                <a:spcPts val="1800"/>
              </a:spcBef>
            </a:pPr>
            <a:r>
              <a:rPr lang="bg-BG" sz="2400" dirty="0"/>
              <a:t>Благодарности</a:t>
            </a:r>
            <a:r>
              <a:rPr lang="en-US" sz="2400" dirty="0"/>
              <a:t>: </a:t>
            </a:r>
            <a:r>
              <a:rPr lang="bg-BG" sz="2400" dirty="0"/>
              <a:t>настоящият материал може да съдържа части от следните източници</a:t>
            </a:r>
            <a:endParaRPr lang="en-US" sz="2400" dirty="0"/>
          </a:p>
          <a:p>
            <a:pPr lvl="1"/>
            <a:r>
              <a:rPr lang="bg-BG" sz="2000" dirty="0"/>
              <a:t>Книга </a:t>
            </a:r>
            <a:r>
              <a:rPr lang="en-US" sz="2000" dirty="0"/>
              <a:t>"</a:t>
            </a:r>
            <a:r>
              <a:rPr lang="bg-BG" sz="2000" dirty="0">
                <a:hlinkClick r:id="rId4"/>
              </a:rPr>
              <a:t>Основи на програмирането със </a:t>
            </a:r>
            <a:r>
              <a:rPr lang="en-US" sz="2000" dirty="0">
                <a:hlinkClick r:id="rId4"/>
              </a:rPr>
              <a:t>C#"</a:t>
            </a:r>
            <a:r>
              <a:rPr lang="bg-BG" sz="2000" dirty="0"/>
              <a:t> от Светлин Наков и колектив с лиценз</a:t>
            </a:r>
            <a:r>
              <a:rPr lang="en-US" sz="2000" dirty="0"/>
              <a:t> </a:t>
            </a:r>
            <a:r>
              <a:rPr lang="en-US" sz="2000" dirty="0">
                <a:hlinkClick r:id="rId5"/>
              </a:rPr>
              <a:t>CC-BY-SA</a:t>
            </a:r>
            <a:endParaRPr lang="bg-BG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Лиценз</a:t>
            </a:r>
            <a:endParaRPr lang="en-US" dirty="0"/>
          </a:p>
        </p:txBody>
      </p:sp>
      <p:pic>
        <p:nvPicPr>
          <p:cNvPr id="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07637" y="3462620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185248"/>
      </p:ext>
    </p:extLst>
  </p:cSld>
  <p:clrMapOvr>
    <a:masterClrMapping/>
  </p:clrMapOvr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72809E0BA352146887A598B2150FBCE" ma:contentTypeVersion="4" ma:contentTypeDescription="Създаване на нов документ" ma:contentTypeScope="" ma:versionID="30c80d78220d05fd27aa80afaa729309">
  <xsd:schema xmlns:xsd="http://www.w3.org/2001/XMLSchema" xmlns:xs="http://www.w3.org/2001/XMLSchema" xmlns:p="http://schemas.microsoft.com/office/2006/metadata/properties" xmlns:ns2="0401b427-85e3-40cd-b50d-13f667a12a32" targetNamespace="http://schemas.microsoft.com/office/2006/metadata/properties" ma:root="true" ma:fieldsID="b567aba00756e876f94a97c73625782e" ns2:_="">
    <xsd:import namespace="0401b427-85e3-40cd-b50d-13f667a12a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01b427-85e3-40cd-b50d-13f667a12a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178E67-9869-4DC2-A3F2-FDBF8C7248E8}"/>
</file>

<file path=customXml/itemProps2.xml><?xml version="1.0" encoding="utf-8"?>
<ds:datastoreItem xmlns:ds="http://schemas.openxmlformats.org/officeDocument/2006/customXml" ds:itemID="{69A15E54-50F4-4CA2-AE91-5168CD202A4C}"/>
</file>

<file path=customXml/itemProps3.xml><?xml version="1.0" encoding="utf-8"?>
<ds:datastoreItem xmlns:ds="http://schemas.openxmlformats.org/officeDocument/2006/customXml" ds:itemID="{D26518BC-D06A-4124-B43B-31C05E72C18C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977</Words>
  <Application>Microsoft Office PowerPoint</Application>
  <PresentationFormat>Custom</PresentationFormat>
  <Paragraphs>157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Wingdings</vt:lpstr>
      <vt:lpstr>Wingdings 2</vt:lpstr>
      <vt:lpstr>SoftUni 16x9</vt:lpstr>
      <vt:lpstr>PowerPoint Presentation</vt:lpstr>
      <vt:lpstr>Съдържание</vt:lpstr>
      <vt:lpstr>Задача: Дефинирайте клас Person</vt:lpstr>
      <vt:lpstr>Решение: Дефинирайте клас Person (1)</vt:lpstr>
      <vt:lpstr>Решение: Дефинирайте клас Person (2)</vt:lpstr>
      <vt:lpstr>Решение: Дефинирайте клас Person (3)</vt:lpstr>
      <vt:lpstr>Решение: Дефинирайте клас Person (4)</vt:lpstr>
      <vt:lpstr>Задача: Човекът и неговите пари</vt:lpstr>
      <vt:lpstr>Решение: Човекът и неговите пари (1)</vt:lpstr>
      <vt:lpstr>Решение: Човекът и неговите пари (2)</vt:lpstr>
      <vt:lpstr>Решение: Човекът и неговите пари (3)</vt:lpstr>
      <vt:lpstr>Решение: Човекът и неговите пари (4)</vt:lpstr>
      <vt:lpstr>Решение: Човекът и неговите пари (4)</vt:lpstr>
      <vt:lpstr>Дефиниране на класове</vt:lpstr>
      <vt:lpstr>Лиценз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Defining Classes</dc:title>
  <dc:subject>C# Basics Course</dc:subject>
  <dc:creator/>
  <cp:keywords>C#, class, object, fields, methods, properties, constructors, static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2019-03-30T20:42:38Z</dcterms:modified>
  <cp:category>programming, software engineering, C#, OOP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  <property fmtid="{D5CDD505-2E9C-101B-9397-08002B2CF9AE}" pid="3" name="ContentTypeId">
    <vt:lpwstr>0x010100C72809E0BA352146887A598B2150FBCE</vt:lpwstr>
  </property>
</Properties>
</file>