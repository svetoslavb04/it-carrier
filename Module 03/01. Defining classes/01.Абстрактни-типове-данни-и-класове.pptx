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2"/>
  </p:sldMasterIdLst>
  <p:notesMasterIdLst>
    <p:notesMasterId r:id="rId21"/>
  </p:notesMasterIdLst>
  <p:handoutMasterIdLst>
    <p:handoutMasterId r:id="rId22"/>
  </p:handoutMasterIdLst>
  <p:sldIdLst>
    <p:sldId id="394" r:id="rId3"/>
    <p:sldId id="571" r:id="rId4"/>
    <p:sldId id="572" r:id="rId5"/>
    <p:sldId id="573" r:id="rId6"/>
    <p:sldId id="616" r:id="rId7"/>
    <p:sldId id="574" r:id="rId8"/>
    <p:sldId id="617" r:id="rId9"/>
    <p:sldId id="618" r:id="rId10"/>
    <p:sldId id="619" r:id="rId11"/>
    <p:sldId id="620" r:id="rId12"/>
    <p:sldId id="621" r:id="rId13"/>
    <p:sldId id="622" r:id="rId14"/>
    <p:sldId id="623" r:id="rId15"/>
    <p:sldId id="627" r:id="rId16"/>
    <p:sldId id="624" r:id="rId17"/>
    <p:sldId id="486" r:id="rId18"/>
    <p:sldId id="626" r:id="rId19"/>
    <p:sldId id="625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7E5960-A9BC-43C4-BCE0-8E99BC3BA6A9}">
          <p14:sldIdLst>
            <p14:sldId id="394"/>
            <p14:sldId id="571"/>
          </p14:sldIdLst>
        </p14:section>
        <p14:section name="Abstract Data Types" id="{1D86108B-4120-49AB-8CAF-DB7E1521C0DC}">
          <p14:sldIdLst>
            <p14:sldId id="572"/>
            <p14:sldId id="573"/>
            <p14:sldId id="616"/>
            <p14:sldId id="574"/>
            <p14:sldId id="617"/>
            <p14:sldId id="618"/>
            <p14:sldId id="619"/>
            <p14:sldId id="620"/>
            <p14:sldId id="621"/>
            <p14:sldId id="622"/>
            <p14:sldId id="623"/>
            <p14:sldId id="627"/>
            <p14:sldId id="624"/>
          </p14:sldIdLst>
        </p14:section>
        <p14:section name="Conclusion" id="{3E23A7B0-228F-4458-953E-A0823B82CFF0}">
          <p14:sldIdLst>
            <p14:sldId id="486"/>
            <p14:sldId id="626"/>
            <p14:sldId id="6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0AB"/>
    <a:srgbClr val="F3BE60"/>
    <a:srgbClr val="D2A010"/>
    <a:srgbClr val="F6D18E"/>
    <a:srgbClr val="FFFFFF"/>
    <a:srgbClr val="C6C0AA"/>
    <a:srgbClr val="F9E6AB"/>
    <a:srgbClr val="F9FAAB"/>
    <a:srgbClr val="767691"/>
    <a:srgbClr val="7676A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 autoAdjust="0"/>
    <p:restoredTop sz="98670" autoAdjust="0"/>
  </p:normalViewPr>
  <p:slideViewPr>
    <p:cSldViewPr>
      <p:cViewPr varScale="1">
        <p:scale>
          <a:sx n="73" d="100"/>
          <a:sy n="73" d="100"/>
        </p:scale>
        <p:origin x="402" y="7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9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3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28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3/24/2019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3/24/2019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014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8763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8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225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472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07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084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65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98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63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601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16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14111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dirty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dirty="0">
              <a:solidFill>
                <a:prstClr val="black"/>
              </a:solidFill>
            </a:endParaRPr>
          </a:p>
          <a:p>
            <a:r>
              <a:rPr lang="en-US" sz="1000" dirty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>
                <a:solidFill>
                  <a:prstClr val="black"/>
                </a:solidFill>
              </a:rPr>
              <a:t> </a:t>
            </a:r>
            <a:r>
              <a:rPr lang="en-US" sz="1000" dirty="0">
                <a:solidFill>
                  <a:prstClr val="black"/>
                </a:solidFill>
              </a:rPr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803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84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SoftwareUniversity" TargetMode="External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judge.softuni.bg/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hyperlink" Target="http://www.introprogramming.info/" TargetMode="External"/><Relationship Id="rId5" Type="http://schemas.openxmlformats.org/officeDocument/2006/relationships/hyperlink" Target="http://www.nakov.com/" TargetMode="External"/><Relationship Id="rId10" Type="http://schemas.openxmlformats.org/officeDocument/2006/relationships/hyperlink" Target="http://www.youtube.com/SoftwareUniversity" TargetMode="External"/><Relationship Id="rId4" Type="http://schemas.openxmlformats.org/officeDocument/2006/relationships/hyperlink" Target="http://softuni.org/" TargetMode="External"/><Relationship Id="rId9" Type="http://schemas.openxmlformats.org/officeDocument/2006/relationships/hyperlink" Target="https://twitter.com/softunib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Course Web Site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2" name="TextBox 1">
            <a:hlinkClick r:id="rId3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7" name="TextBox 26">
            <a:hlinkClick r:id="rId4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1" name="TextBox 50">
            <a:hlinkClick r:id="rId5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2" name="TextBox 51">
            <a:hlinkClick r:id="rId6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3" name="TextBox 52">
            <a:hlinkClick r:id="rId7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4" name="TextBox 53">
            <a:hlinkClick r:id="rId8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6" name="TextBox 55">
            <a:hlinkClick r:id="rId9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7" name="TextBox 56">
            <a:hlinkClick r:id="rId10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8" name="TextBox 57">
            <a:hlinkClick r:id="rId11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6" name="Rectangle 15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bg-BG" sz="6600" b="1" dirty="0">
                <a:solidFill>
                  <a:srgbClr val="F3BE60"/>
                </a:solidFill>
              </a:rPr>
              <a:t>Въпроси</a:t>
            </a:r>
            <a:r>
              <a:rPr lang="en-US" sz="6600" b="1" dirty="0">
                <a:solidFill>
                  <a:srgbClr val="F3BE60"/>
                </a:solidFill>
              </a:rPr>
              <a:t>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AAFB65-F193-4484-85C5-7FFA43021634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7714">
            <a:off x="504277" y="2018007"/>
            <a:ext cx="2849278" cy="33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68" r:id="rId5"/>
  </p:sldLayoutIdLs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hyperlink" Target="https://csharp-book.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4"/>
          <p:cNvSpPr txBox="1">
            <a:spLocks/>
          </p:cNvSpPr>
          <p:nvPr/>
        </p:nvSpPr>
        <p:spPr>
          <a:xfrm>
            <a:off x="3351212" y="762000"/>
            <a:ext cx="8215099" cy="117155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r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F6D18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/>
              <a:t>Дефиниране на класове</a:t>
            </a:r>
            <a:endParaRPr lang="en-US" dirty="0"/>
          </a:p>
        </p:txBody>
      </p:sp>
      <p:sp>
        <p:nvSpPr>
          <p:cNvPr id="22" name="Subtitle 5"/>
          <p:cNvSpPr txBox="1">
            <a:spLocks/>
          </p:cNvSpPr>
          <p:nvPr/>
        </p:nvSpPr>
        <p:spPr>
          <a:xfrm>
            <a:off x="3503612" y="1915602"/>
            <a:ext cx="8062699" cy="1335052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r" defTabSz="1218987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sz="4000" b="0" kern="1200" cap="none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None/>
              <a:defRPr sz="30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None/>
              <a:defRPr sz="28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2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6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bg-BG" dirty="0"/>
              <a:t>Класове</a:t>
            </a:r>
            <a:r>
              <a:rPr lang="en-US" dirty="0"/>
              <a:t>,</a:t>
            </a:r>
            <a:r>
              <a:rPr lang="bg-BG" dirty="0"/>
              <a:t> Полета</a:t>
            </a:r>
            <a:r>
              <a:rPr lang="en-US" dirty="0"/>
              <a:t>, </a:t>
            </a:r>
            <a:r>
              <a:rPr lang="bg-BG" dirty="0"/>
              <a:t>Конструктори, Свойства, Методи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558" y="3735977"/>
            <a:ext cx="4652811" cy="254317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784138F-0950-4E77-A9DD-5A425862148D}"/>
              </a:ext>
            </a:extLst>
          </p:cNvPr>
          <p:cNvGrpSpPr/>
          <p:nvPr/>
        </p:nvGrpSpPr>
        <p:grpSpPr>
          <a:xfrm>
            <a:off x="745783" y="3624633"/>
            <a:ext cx="5812658" cy="2524722"/>
            <a:chOff x="745783" y="3624633"/>
            <a:chExt cx="5812658" cy="2524722"/>
          </a:xfrm>
        </p:grpSpPr>
        <p:pic>
          <p:nvPicPr>
            <p:cNvPr id="15" name="Picture 14" descr="http://softuni.b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960812" y="3624633"/>
              <a:ext cx="1828798" cy="2006988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576164">
              <a:off x="5020391" y="3707206"/>
              <a:ext cx="1538050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bg-BG" sz="2000" b="1" spc="50" dirty="0">
                  <a:ln w="9525" cmpd="sng">
                    <a:solidFill>
                      <a:srgbClr val="FFA72A"/>
                    </a:solidFill>
                    <a:prstDash val="solid"/>
                  </a:ln>
                  <a:solidFill>
                    <a:srgbClr val="FFF0D9"/>
                  </a:solidFill>
                  <a:effectLst>
                    <a:glow rad="38100">
                      <a:srgbClr val="F0A22E">
                        <a:alpha val="40000"/>
                      </a:srgbClr>
                    </a:glow>
                  </a:effectLst>
                </a:rPr>
                <a:t>Увод в ООП</a:t>
              </a:r>
              <a:endParaRPr lang="en-US" sz="2000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rgbClr val="F0A22E">
                      <a:alpha val="40000"/>
                    </a:srgbClr>
                  </a:glow>
                </a:effectLst>
              </a:endParaRPr>
            </a:p>
          </p:txBody>
        </p:sp>
        <p:pic>
          <p:nvPicPr>
            <p:cNvPr id="23" name="Picture 4" title="CC-BY-NC-SA License">
              <a:hlinkClick r:id="rId5" tooltip="This work is licensed under the &quot;Creative Commons Attribution-NonCommercial-ShareAlike 4.0 International&quot; license"/>
              <a:extLst>
                <a:ext uri="{FF2B5EF4-FFF2-40B4-BE49-F238E27FC236}">
                  <a16:creationId xmlns:a16="http://schemas.microsoft.com/office/drawing/2014/main" id="{F06E175F-5BEA-4FFA-BEFE-073279FAB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45783" y="4076772"/>
              <a:ext cx="2175525" cy="761165"/>
            </a:xfrm>
            <a:prstGeom prst="roundRect">
              <a:avLst>
                <a:gd name="adj" fmla="val 3940"/>
              </a:avLst>
            </a:prstGeom>
            <a:solidFill>
              <a:srgbClr val="231F20">
                <a:alpha val="50000"/>
              </a:srgbClr>
            </a:solidFill>
            <a:ln>
              <a:solidFill>
                <a:schemeClr val="accent1">
                  <a:lumMod val="75000"/>
                  <a:alpha val="50000"/>
                </a:schemeClr>
              </a:solidFill>
            </a:ln>
          </p:spPr>
        </p:pic>
        <p:sp>
          <p:nvSpPr>
            <p:cNvPr id="24" name="Text Placeholder 7">
              <a:extLst>
                <a:ext uri="{FF2B5EF4-FFF2-40B4-BE49-F238E27FC236}">
                  <a16:creationId xmlns:a16="http://schemas.microsoft.com/office/drawing/2014/main" id="{89D41982-99A7-459C-A044-BC03FB5F801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3" y="4998598"/>
              <a:ext cx="3187614" cy="444343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300" b="1" kern="1200" dirty="0" smtClean="0">
                  <a:solidFill>
                    <a:srgbClr val="F4B36C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 noProof="1"/>
                <a:t>Учителски</a:t>
              </a:r>
              <a:r>
                <a:rPr lang="bg-BG"/>
                <a:t> екип</a:t>
              </a:r>
            </a:p>
          </p:txBody>
        </p:sp>
        <p:sp>
          <p:nvSpPr>
            <p:cNvPr id="25" name="Text Placeholder 10">
              <a:extLst>
                <a:ext uri="{FF2B5EF4-FFF2-40B4-BE49-F238E27FC236}">
                  <a16:creationId xmlns:a16="http://schemas.microsoft.com/office/drawing/2014/main" id="{0CA1AFB9-AC1A-4329-BE5F-D27D3914135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403725"/>
              <a:ext cx="3187613" cy="382788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000" b="1" kern="1200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/>
                <a:t>Обучение за ИТ кариера</a:t>
              </a:r>
            </a:p>
          </p:txBody>
        </p:sp>
        <p:sp>
          <p:nvSpPr>
            <p:cNvPr id="26" name="Text Placeholder 11">
              <a:extLst>
                <a:ext uri="{FF2B5EF4-FFF2-40B4-BE49-F238E27FC236}">
                  <a16:creationId xmlns:a16="http://schemas.microsoft.com/office/drawing/2014/main" id="{8776A7C3-5AF5-4CA5-B9B0-6A1F89BCBF8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690893"/>
              <a:ext cx="3810000" cy="458462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1800" b="1" kern="1200" dirty="0" smtClean="0">
                  <a:solidFill>
                    <a:srgbClr val="F27A44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>
                  <a:hlinkClick r:id="rId7"/>
                </a:rPr>
                <a:t>https://it-kariera.mon.bg/e-learning/</a:t>
              </a:r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01407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4212" y="2057400"/>
            <a:ext cx="3429001" cy="4421449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Абстрактни типове данни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Класове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400487-B4F4-468B-A698-B3297148A690}"/>
              </a:ext>
            </a:extLst>
          </p:cNvPr>
          <p:cNvGrpSpPr/>
          <p:nvPr/>
        </p:nvGrpSpPr>
        <p:grpSpPr>
          <a:xfrm>
            <a:off x="4557993" y="1905000"/>
            <a:ext cx="3553257" cy="2210196"/>
            <a:chOff x="3160644" y="914400"/>
            <a:chExt cx="5638935" cy="348687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FB094D-9188-4ABF-B90A-99078BCD6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0644" y="914400"/>
              <a:ext cx="5638935" cy="3486878"/>
            </a:xfrm>
            <a:prstGeom prst="roundRect">
              <a:avLst>
                <a:gd name="adj" fmla="val 1624"/>
              </a:avLst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39F019-FFB3-419A-88D0-CFD0F0BF8E4B}"/>
                </a:ext>
              </a:extLst>
            </p:cNvPr>
            <p:cNvSpPr/>
            <p:nvPr/>
          </p:nvSpPr>
          <p:spPr>
            <a:xfrm rot="551640">
              <a:off x="6498858" y="2691587"/>
              <a:ext cx="222299" cy="373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917293F-4959-422A-8615-85BEDB8E1293}"/>
                </a:ext>
              </a:extLst>
            </p:cNvPr>
            <p:cNvSpPr/>
            <p:nvPr/>
          </p:nvSpPr>
          <p:spPr>
            <a:xfrm rot="5400000">
              <a:off x="5889136" y="1556663"/>
              <a:ext cx="161738" cy="4012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F914CB9-8370-44A1-B81B-49F60D06981F}"/>
                </a:ext>
              </a:extLst>
            </p:cNvPr>
            <p:cNvSpPr/>
            <p:nvPr/>
          </p:nvSpPr>
          <p:spPr>
            <a:xfrm rot="5400000">
              <a:off x="5878756" y="1841747"/>
              <a:ext cx="182497" cy="4012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67F3E32-7C72-4BA0-B2F1-82144AC4F11C}"/>
                </a:ext>
              </a:extLst>
            </p:cNvPr>
            <p:cNvSpPr/>
            <p:nvPr/>
          </p:nvSpPr>
          <p:spPr>
            <a:xfrm rot="20524110">
              <a:off x="5378296" y="2649208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EBC57C2-6467-47C3-912C-361D8278C3C4}"/>
                </a:ext>
              </a:extLst>
            </p:cNvPr>
            <p:cNvSpPr/>
            <p:nvPr/>
          </p:nvSpPr>
          <p:spPr>
            <a:xfrm rot="20524110">
              <a:off x="4995149" y="2456518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851CE59-F803-4A7D-938A-B928A4C748B7}"/>
                </a:ext>
              </a:extLst>
            </p:cNvPr>
            <p:cNvSpPr/>
            <p:nvPr/>
          </p:nvSpPr>
          <p:spPr>
            <a:xfrm rot="20524110">
              <a:off x="5378296" y="3060983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2379134-B1E8-400E-8BC8-44CB9667E66A}"/>
                </a:ext>
              </a:extLst>
            </p:cNvPr>
            <p:cNvSpPr/>
            <p:nvPr/>
          </p:nvSpPr>
          <p:spPr>
            <a:xfrm rot="20524110">
              <a:off x="4995150" y="2868295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F5519F8-4735-4981-8F43-648E8C650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66" y="3456337"/>
            <a:ext cx="4016977" cy="2210196"/>
          </a:xfrm>
          <a:prstGeom prst="roundRect">
            <a:avLst>
              <a:gd name="adj" fmla="val 1387"/>
            </a:avLst>
          </a:prstGeom>
        </p:spPr>
      </p:pic>
    </p:spTree>
    <p:extLst>
      <p:ext uri="{BB962C8B-B14F-4D97-AF65-F5344CB8AC3E}">
        <p14:creationId xmlns:p14="http://schemas.microsoft.com/office/powerpoint/2010/main" val="1407820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2" y="4867117"/>
            <a:ext cx="10134600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bg-BG" dirty="0"/>
              <a:t>Абстрактни типове данни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446212" y="5754968"/>
            <a:ext cx="8938472" cy="719034"/>
          </a:xfrm>
        </p:spPr>
        <p:txBody>
          <a:bodyPr/>
          <a:lstStyle/>
          <a:p>
            <a:r>
              <a:rPr lang="bg-BG" dirty="0"/>
              <a:t>Скриване на детайлите</a:t>
            </a:r>
            <a:endParaRPr lang="en-GB" dirty="0"/>
          </a:p>
        </p:txBody>
      </p:sp>
      <p:grpSp>
        <p:nvGrpSpPr>
          <p:cNvPr id="19" name="Group 18"/>
          <p:cNvGrpSpPr/>
          <p:nvPr/>
        </p:nvGrpSpPr>
        <p:grpSpPr>
          <a:xfrm>
            <a:off x="3160644" y="914400"/>
            <a:ext cx="5638935" cy="3486878"/>
            <a:chOff x="3160644" y="914400"/>
            <a:chExt cx="5638935" cy="3486878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0644" y="914400"/>
              <a:ext cx="5638935" cy="3486878"/>
            </a:xfrm>
            <a:prstGeom prst="roundRect">
              <a:avLst>
                <a:gd name="adj" fmla="val 1624"/>
              </a:avLst>
            </a:prstGeom>
          </p:spPr>
        </p:pic>
        <p:sp>
          <p:nvSpPr>
            <p:cNvPr id="23" name="Oval 22"/>
            <p:cNvSpPr/>
            <p:nvPr/>
          </p:nvSpPr>
          <p:spPr>
            <a:xfrm rot="551640">
              <a:off x="6498858" y="2691587"/>
              <a:ext cx="222299" cy="3735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4" name="Oval 23"/>
            <p:cNvSpPr/>
            <p:nvPr/>
          </p:nvSpPr>
          <p:spPr>
            <a:xfrm rot="5400000">
              <a:off x="5889136" y="1556663"/>
              <a:ext cx="161738" cy="4012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5" name="Oval 24"/>
            <p:cNvSpPr/>
            <p:nvPr/>
          </p:nvSpPr>
          <p:spPr>
            <a:xfrm rot="5400000">
              <a:off x="5878756" y="1841747"/>
              <a:ext cx="182497" cy="4012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6" name="Oval 25"/>
            <p:cNvSpPr/>
            <p:nvPr/>
          </p:nvSpPr>
          <p:spPr>
            <a:xfrm rot="20524110">
              <a:off x="5378296" y="2649208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7" name="Oval 26"/>
            <p:cNvSpPr/>
            <p:nvPr/>
          </p:nvSpPr>
          <p:spPr>
            <a:xfrm rot="20524110">
              <a:off x="4995149" y="2456518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8" name="Oval 27"/>
            <p:cNvSpPr/>
            <p:nvPr/>
          </p:nvSpPr>
          <p:spPr>
            <a:xfrm rot="20524110">
              <a:off x="5378296" y="3060983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9" name="Oval 28"/>
            <p:cNvSpPr/>
            <p:nvPr/>
          </p:nvSpPr>
          <p:spPr>
            <a:xfrm rot="20524110">
              <a:off x="4995150" y="2868295"/>
              <a:ext cx="251239" cy="323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</p:spTree>
    <p:extLst>
      <p:ext uri="{BB962C8B-B14F-4D97-AF65-F5344CB8AC3E}">
        <p14:creationId xmlns:p14="http://schemas.microsoft.com/office/powerpoint/2010/main" val="426382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/>
          <a:lstStyle/>
          <a:p>
            <a:r>
              <a:rPr lang="bg-BG" dirty="0"/>
              <a:t>Абстрактните типове данни описват:</a:t>
            </a:r>
          </a:p>
          <a:p>
            <a:pPr lvl="1"/>
            <a:r>
              <a:rPr lang="bg-BG" dirty="0"/>
              <a:t>Множество от данни</a:t>
            </a:r>
          </a:p>
          <a:p>
            <a:pPr lvl="1"/>
            <a:r>
              <a:rPr lang="bg-BG" dirty="0"/>
              <a:t>Възможни операции в рамките на този тип</a:t>
            </a:r>
          </a:p>
          <a:p>
            <a:pPr marL="377887" lvl="1" indent="0">
              <a:buNone/>
            </a:pPr>
            <a:r>
              <a:rPr lang="bg-BG" dirty="0"/>
              <a:t>Абстрактните типове данни ни позволяват да опишем конкретна структура (т.е. нейните данни и операции), без обаче да се интересуваме от детайлите в тази реализация</a:t>
            </a:r>
          </a:p>
          <a:p>
            <a:pPr lvl="1"/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Абстрактни типове данни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0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Абстрактни типове данни</a:t>
            </a:r>
            <a:endParaRPr lang="en-US" dirty="0"/>
          </a:p>
        </p:txBody>
      </p:sp>
      <p:sp>
        <p:nvSpPr>
          <p:cNvPr id="5" name="Text Placeholder 5"/>
          <p:cNvSpPr txBox="1">
            <a:spLocks noGrp="1"/>
          </p:cNvSpPr>
          <p:nvPr>
            <p:ph idx="1"/>
          </p:nvPr>
        </p:nvSpPr>
        <p:spPr>
          <a:xfrm>
            <a:off x="571413" y="1182066"/>
            <a:ext cx="10780799" cy="514253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effectLst/>
              </a:rPr>
              <a:t>String</a:t>
            </a:r>
            <a:r>
              <a:rPr lang="bg-BG" sz="3200" dirty="0">
                <a:effectLst/>
              </a:rPr>
              <a:t> </a:t>
            </a:r>
            <a:r>
              <a:rPr lang="en-US" sz="3200" dirty="0">
                <a:effectLst/>
              </a:rPr>
              <a:t>– </a:t>
            </a:r>
            <a:r>
              <a:rPr lang="bg-BG" sz="3200" dirty="0">
                <a:effectLst/>
              </a:rPr>
              <a:t>поредица от знаци, в която за всеки знак имаме индекс. Низовете се разглеждат със следните методи</a:t>
            </a:r>
            <a:r>
              <a:rPr lang="en-US" sz="3200" dirty="0">
                <a:effectLst/>
              </a:rPr>
              <a:t>:</a:t>
            </a:r>
          </a:p>
          <a:p>
            <a:r>
              <a:rPr lang="en-US" sz="3200" dirty="0">
                <a:effectLst/>
              </a:rPr>
              <a:t>          string()</a:t>
            </a:r>
          </a:p>
          <a:p>
            <a:r>
              <a:rPr lang="en-US" sz="3200" dirty="0">
                <a:effectLst/>
              </a:rPr>
              <a:t>    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effectLst/>
              </a:rPr>
              <a:t>int</a:t>
            </a:r>
            <a:r>
              <a:rPr lang="en-US" sz="3200" dirty="0">
                <a:effectLst/>
              </a:rPr>
              <a:t> Length()</a:t>
            </a:r>
          </a:p>
          <a:p>
            <a:r>
              <a:rPr lang="en-US" sz="3200" dirty="0">
                <a:effectLst/>
              </a:rPr>
              <a:t>   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effectLst/>
              </a:rPr>
              <a:t>char</a:t>
            </a:r>
            <a:r>
              <a:rPr lang="en-US" sz="3200" dirty="0">
                <a:effectLst/>
              </a:rPr>
              <a:t> CharAt(int index)</a:t>
            </a:r>
          </a:p>
          <a:p>
            <a:r>
              <a:rPr lang="en-US" sz="3200" dirty="0">
                <a:effectLst/>
              </a:rPr>
              <a:t>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effectLst/>
              </a:rPr>
              <a:t>boolean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IsEmpty</a:t>
            </a:r>
            <a:r>
              <a:rPr lang="en-US" sz="3200" dirty="0">
                <a:effectLst/>
              </a:rPr>
              <a:t>()</a:t>
            </a:r>
          </a:p>
          <a:p>
            <a:r>
              <a:rPr lang="en-US" sz="3200" i="1" dirty="0">
                <a:solidFill>
                  <a:schemeClr val="tx2">
                    <a:lumMod val="75000"/>
                  </a:schemeClr>
                </a:solidFill>
                <a:effectLst/>
              </a:rPr>
              <a:t>// </a:t>
            </a:r>
            <a:r>
              <a:rPr lang="bg-BG" sz="3200" i="1" dirty="0">
                <a:solidFill>
                  <a:schemeClr val="tx2">
                    <a:lumMod val="75000"/>
                  </a:schemeClr>
                </a:solidFill>
                <a:effectLst/>
              </a:rPr>
              <a:t>и други... Но не мислим как те биха се реализирали, когато ние само ги ползваме „наготово“ </a:t>
            </a:r>
            <a:endParaRPr lang="en-US" sz="3200" i="1" dirty="0"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7313612" y="2506662"/>
            <a:ext cx="3820446" cy="2141538"/>
          </a:xfrm>
          <a:prstGeom prst="wedgeRoundRectCallout">
            <a:avLst>
              <a:gd name="adj1" fmla="val -83923"/>
              <a:gd name="adj2" fmla="val -2155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ADT</a:t>
            </a:r>
            <a:r>
              <a:rPr lang="bg-BG" sz="3600" dirty="0">
                <a:solidFill>
                  <a:srgbClr val="FFFFFF"/>
                </a:solidFill>
              </a:rPr>
              <a:t> се дефинират чрез техния начин на ползване</a:t>
            </a:r>
            <a:endParaRPr lang="bg-BG" sz="3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52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66800"/>
            <a:ext cx="11804822" cy="5570355"/>
          </a:xfrm>
        </p:spPr>
        <p:txBody>
          <a:bodyPr/>
          <a:lstStyle/>
          <a:p>
            <a:r>
              <a:rPr lang="bg-BG" dirty="0"/>
              <a:t>Не е нужно да знаем как нещо е направено, за да позлваме АТД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Абстрактни типове данни </a:t>
            </a:r>
            <a:r>
              <a:rPr lang="en-US" dirty="0"/>
              <a:t>(</a:t>
            </a:r>
            <a:r>
              <a:rPr lang="bg-BG" dirty="0"/>
              <a:t>3</a:t>
            </a:r>
            <a:r>
              <a:rPr lang="en-US" dirty="0"/>
              <a:t>)</a:t>
            </a:r>
          </a:p>
        </p:txBody>
      </p:sp>
      <p:sp>
        <p:nvSpPr>
          <p:cNvPr id="16" name="Text Placeholder 5"/>
          <p:cNvSpPr txBox="1">
            <a:spLocks/>
          </p:cNvSpPr>
          <p:nvPr/>
        </p:nvSpPr>
        <p:spPr>
          <a:xfrm>
            <a:off x="1049174" y="3166177"/>
            <a:ext cx="4343400" cy="277742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  <a:effectLst/>
              </a:rPr>
              <a:t>Dog:</a:t>
            </a:r>
            <a:endParaRPr lang="bg-BG" sz="3200" dirty="0">
              <a:solidFill>
                <a:schemeClr val="tx2"/>
              </a:solidFill>
              <a:effectLst/>
            </a:endParaRPr>
          </a:p>
          <a:p>
            <a:r>
              <a:rPr lang="bg-BG" sz="3200" dirty="0">
                <a:solidFill>
                  <a:schemeClr val="tx2"/>
                </a:solidFill>
                <a:effectLst/>
              </a:rPr>
              <a:t>        </a:t>
            </a:r>
            <a:r>
              <a:rPr lang="en-GB" sz="3200" dirty="0">
                <a:solidFill>
                  <a:schemeClr val="tx2"/>
                </a:solidFill>
                <a:effectLst/>
              </a:rPr>
              <a:t>Dog()</a:t>
            </a:r>
            <a:endParaRPr lang="en-US" sz="3200" dirty="0">
              <a:solidFill>
                <a:schemeClr val="tx2"/>
              </a:solidFill>
              <a:effectLst/>
            </a:endParaRP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string Name()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</a:t>
            </a:r>
            <a:r>
              <a:rPr lang="bg-BG" sz="3200" dirty="0">
                <a:solidFill>
                  <a:schemeClr val="tx2"/>
                </a:solidFill>
                <a:effectLst/>
              </a:rPr>
              <a:t>  </a:t>
            </a:r>
            <a:r>
              <a:rPr lang="en-US" sz="3200" dirty="0">
                <a:solidFill>
                  <a:schemeClr val="tx2"/>
                </a:solidFill>
                <a:effectLst/>
              </a:rPr>
              <a:t>void Bark()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</a:t>
            </a:r>
            <a:r>
              <a:rPr lang="bg-BG" sz="3200" dirty="0">
                <a:solidFill>
                  <a:schemeClr val="tx2"/>
                </a:solidFill>
                <a:effectLst/>
              </a:rPr>
              <a:t>  </a:t>
            </a:r>
            <a:r>
              <a:rPr lang="en-US" sz="3200" dirty="0">
                <a:solidFill>
                  <a:schemeClr val="tx2"/>
                </a:solidFill>
                <a:effectLst/>
              </a:rPr>
              <a:t>void Sleep()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 </a:t>
            </a:r>
          </a:p>
        </p:txBody>
      </p:sp>
      <p:sp>
        <p:nvSpPr>
          <p:cNvPr id="17" name="Text Placeholder 5"/>
          <p:cNvSpPr txBox="1">
            <a:spLocks/>
          </p:cNvSpPr>
          <p:nvPr/>
        </p:nvSpPr>
        <p:spPr>
          <a:xfrm>
            <a:off x="6780212" y="3166177"/>
            <a:ext cx="4343400" cy="277742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  <a:effectLst/>
              </a:rPr>
              <a:t>Computer: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       Computer()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</a:t>
            </a:r>
            <a:r>
              <a:rPr lang="bg-BG" sz="3200" dirty="0">
                <a:solidFill>
                  <a:schemeClr val="tx2"/>
                </a:solidFill>
                <a:effectLst/>
              </a:rPr>
              <a:t>  </a:t>
            </a:r>
            <a:r>
              <a:rPr lang="en-US" sz="3200" dirty="0">
                <a:solidFill>
                  <a:schemeClr val="tx2"/>
                </a:solidFill>
                <a:effectLst/>
              </a:rPr>
              <a:t>void TurnOn()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</a:t>
            </a:r>
            <a:r>
              <a:rPr lang="bg-BG" sz="3200" dirty="0">
                <a:solidFill>
                  <a:schemeClr val="tx2"/>
                </a:solidFill>
                <a:effectLst/>
              </a:rPr>
              <a:t>  </a:t>
            </a:r>
            <a:r>
              <a:rPr lang="en-US" sz="3200" dirty="0">
                <a:solidFill>
                  <a:schemeClr val="tx2"/>
                </a:solidFill>
                <a:effectLst/>
              </a:rPr>
              <a:t>void TurnOff()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string Spec()</a:t>
            </a:r>
          </a:p>
          <a:p>
            <a:r>
              <a:rPr lang="en-US" sz="3200" dirty="0">
                <a:solidFill>
                  <a:schemeClr val="tx2"/>
                </a:solidFill>
                <a:effectLst/>
              </a:rPr>
              <a:t> 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698059" y="2102439"/>
            <a:ext cx="1450016" cy="1450016"/>
            <a:chOff x="4418012" y="2590799"/>
            <a:chExt cx="2286000" cy="2286000"/>
          </a:xfrm>
        </p:grpSpPr>
        <p:sp>
          <p:nvSpPr>
            <p:cNvPr id="9" name="Oval 8"/>
            <p:cNvSpPr/>
            <p:nvPr/>
          </p:nvSpPr>
          <p:spPr>
            <a:xfrm>
              <a:off x="4418012" y="2590799"/>
              <a:ext cx="2286000" cy="228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1612" y="2845177"/>
              <a:ext cx="1878799" cy="1777243"/>
            </a:xfrm>
            <a:prstGeom prst="roundRect">
              <a:avLst>
                <a:gd name="adj" fmla="val 38707"/>
              </a:avLst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9392417" y="2110771"/>
            <a:ext cx="1441684" cy="1441684"/>
            <a:chOff x="7237412" y="2590799"/>
            <a:chExt cx="2286000" cy="2286000"/>
          </a:xfrm>
        </p:grpSpPr>
        <p:sp>
          <p:nvSpPr>
            <p:cNvPr id="10" name="Oval 9"/>
            <p:cNvSpPr/>
            <p:nvPr/>
          </p:nvSpPr>
          <p:spPr>
            <a:xfrm>
              <a:off x="7237412" y="2590799"/>
              <a:ext cx="2286000" cy="228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11126" y="2907229"/>
              <a:ext cx="1938572" cy="1653138"/>
            </a:xfrm>
            <a:prstGeom prst="roundRect">
              <a:avLst>
                <a:gd name="adj" fmla="val 5000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2608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2" y="4867117"/>
            <a:ext cx="10134600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bg-BG" dirty="0"/>
              <a:t>Дефиниране на класове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446212" y="5754968"/>
            <a:ext cx="8938472" cy="719034"/>
          </a:xfrm>
        </p:spPr>
        <p:txBody>
          <a:bodyPr/>
          <a:lstStyle/>
          <a:p>
            <a:r>
              <a:rPr lang="bg-BG" dirty="0"/>
              <a:t>Създаване на класове за АТД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159" y="1225382"/>
            <a:ext cx="5943905" cy="3270418"/>
          </a:xfrm>
          <a:prstGeom prst="roundRect">
            <a:avLst>
              <a:gd name="adj" fmla="val 1387"/>
            </a:avLst>
          </a:prstGeom>
        </p:spPr>
      </p:pic>
    </p:spTree>
    <p:extLst>
      <p:ext uri="{BB962C8B-B14F-4D97-AF65-F5344CB8AC3E}">
        <p14:creationId xmlns:p14="http://schemas.microsoft.com/office/powerpoint/2010/main" val="274263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Класовете служат за създаване на „имплементация“ на АТД</a:t>
            </a:r>
            <a:endParaRPr lang="en-US" dirty="0"/>
          </a:p>
          <a:p>
            <a:r>
              <a:rPr lang="bg-BG" dirty="0"/>
              <a:t>Класовете ни дават начин да опишем и създадем обекти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Дефиниране на прост клас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745935" y="3077761"/>
            <a:ext cx="10693778" cy="310006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4800" dirty="0">
                <a:solidFill>
                  <a:schemeClr val="tx2">
                    <a:lumMod val="75000"/>
                  </a:schemeClr>
                </a:solidFill>
              </a:rPr>
              <a:t>class Dice </a:t>
            </a:r>
          </a:p>
          <a:p>
            <a:r>
              <a:rPr lang="en-US" sz="4800" dirty="0"/>
              <a:t>{</a:t>
            </a:r>
          </a:p>
          <a:p>
            <a:r>
              <a:rPr lang="en-US" sz="4800" dirty="0"/>
              <a:t>  …</a:t>
            </a:r>
          </a:p>
          <a:p>
            <a:r>
              <a:rPr lang="en-US" sz="4800" dirty="0"/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570412" y="2819400"/>
            <a:ext cx="2286000" cy="948166"/>
          </a:xfrm>
          <a:prstGeom prst="wedgeRoundRectCallout">
            <a:avLst>
              <a:gd name="adj1" fmla="val -61310"/>
              <a:gd name="adj2" fmla="val 26106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Име  на класа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1784736" y="5555131"/>
            <a:ext cx="2480876" cy="568254"/>
          </a:xfrm>
          <a:prstGeom prst="wedgeRoundRectCallout">
            <a:avLst>
              <a:gd name="adj1" fmla="val -49213"/>
              <a:gd name="adj2" fmla="val -9721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chemeClr val="tx1"/>
                </a:solidFill>
              </a:rPr>
              <a:t>Тяло на клас</a:t>
            </a:r>
            <a:endParaRPr lang="en-US" sz="2800" b="1" noProof="1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787" y="3810000"/>
            <a:ext cx="2943338" cy="2367824"/>
          </a:xfrm>
          <a:prstGeom prst="rect">
            <a:avLst/>
          </a:prstGeom>
        </p:spPr>
      </p:pic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5856771" y="4799876"/>
            <a:ext cx="2360255" cy="921534"/>
          </a:xfrm>
          <a:prstGeom prst="wedgeRoundRectCallout">
            <a:avLst>
              <a:gd name="adj1" fmla="val 92592"/>
              <a:gd name="adj2" fmla="val 30299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noProof="1">
                <a:solidFill>
                  <a:srgbClr val="FFFFFF"/>
                </a:solidFill>
              </a:rPr>
              <a:t>Клас в отделен файл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08012" y="2532992"/>
            <a:ext cx="2494713" cy="501316"/>
          </a:xfrm>
          <a:prstGeom prst="wedgeRoundRectCallout">
            <a:avLst>
              <a:gd name="adj1" fmla="val -25693"/>
              <a:gd name="adj2" fmla="val 121773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Ключова дума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9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59045"/>
            <a:ext cx="11804822" cy="5570355"/>
          </a:xfrm>
        </p:spPr>
        <p:txBody>
          <a:bodyPr/>
          <a:lstStyle/>
          <a:p>
            <a:r>
              <a:rPr lang="bg-BG" dirty="0"/>
              <a:t>Класовете са</a:t>
            </a:r>
            <a:r>
              <a:rPr lang="en-US" dirty="0"/>
              <a:t> 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PascalCase</a:t>
            </a:r>
          </a:p>
          <a:p>
            <a:r>
              <a:rPr lang="bg-BG" dirty="0"/>
              <a:t>Използвайте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описателни съществителни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Избягвайте абревиатури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dirty="0"/>
              <a:t>(</a:t>
            </a:r>
            <a:r>
              <a:rPr lang="bg-BG" dirty="0"/>
              <a:t>освен известни:</a:t>
            </a:r>
            <a:r>
              <a:rPr lang="en-GB" dirty="0"/>
              <a:t> URL, HTTP,</a:t>
            </a:r>
            <a:r>
              <a:rPr lang="bg-BG" dirty="0"/>
              <a:t> и др.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Именуване на класове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734634" y="3177866"/>
            <a:ext cx="10693778" cy="162273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class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Dice</a:t>
            </a:r>
            <a:r>
              <a:rPr lang="en-US" sz="3200" dirty="0">
                <a:solidFill>
                  <a:schemeClr val="tx2"/>
                </a:solidFill>
              </a:rPr>
              <a:t> { … }</a:t>
            </a:r>
          </a:p>
          <a:p>
            <a:r>
              <a:rPr lang="en-US" sz="3200" dirty="0">
                <a:solidFill>
                  <a:schemeClr val="tx2"/>
                </a:solidFill>
              </a:rPr>
              <a:t>class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BankAccount</a:t>
            </a:r>
            <a:r>
              <a:rPr lang="en-US" sz="3200" dirty="0">
                <a:solidFill>
                  <a:schemeClr val="tx2"/>
                </a:solidFill>
              </a:rPr>
              <a:t> { … }</a:t>
            </a:r>
          </a:p>
          <a:p>
            <a:r>
              <a:rPr lang="en-US" sz="3200" dirty="0">
                <a:solidFill>
                  <a:schemeClr val="tx2"/>
                </a:solidFill>
              </a:rPr>
              <a:t>class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IntegerCalculator</a:t>
            </a:r>
            <a:r>
              <a:rPr lang="en-US" sz="3200" dirty="0">
                <a:solidFill>
                  <a:schemeClr val="tx2"/>
                </a:solidFill>
              </a:rPr>
              <a:t> { … }</a:t>
            </a:r>
          </a:p>
        </p:txBody>
      </p:sp>
      <p:pic>
        <p:nvPicPr>
          <p:cNvPr id="13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2162" y="3506704"/>
            <a:ext cx="1293108" cy="1162526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5"/>
          <p:cNvSpPr txBox="1">
            <a:spLocks/>
          </p:cNvSpPr>
          <p:nvPr/>
        </p:nvSpPr>
        <p:spPr>
          <a:xfrm>
            <a:off x="734634" y="4902536"/>
            <a:ext cx="10693778" cy="162273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class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TPMF</a:t>
            </a:r>
            <a:r>
              <a:rPr lang="en-US" sz="3200" dirty="0">
                <a:solidFill>
                  <a:schemeClr val="tx2"/>
                </a:solidFill>
              </a:rPr>
              <a:t> { … }</a:t>
            </a:r>
          </a:p>
          <a:p>
            <a:r>
              <a:rPr lang="en-US" sz="3200" dirty="0">
                <a:solidFill>
                  <a:schemeClr val="tx2"/>
                </a:solidFill>
              </a:rPr>
              <a:t>class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bankaccount</a:t>
            </a:r>
            <a:r>
              <a:rPr lang="en-US" sz="3200" dirty="0">
                <a:solidFill>
                  <a:schemeClr val="tx2"/>
                </a:solidFill>
              </a:rPr>
              <a:t> { … }</a:t>
            </a:r>
          </a:p>
          <a:p>
            <a:r>
              <a:rPr lang="en-US" sz="3200" dirty="0">
                <a:solidFill>
                  <a:schemeClr val="tx2"/>
                </a:solidFill>
              </a:rPr>
              <a:t>class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intcalc</a:t>
            </a:r>
            <a:r>
              <a:rPr lang="en-US" sz="3200" dirty="0">
                <a:solidFill>
                  <a:schemeClr val="tx2"/>
                </a:solidFill>
              </a:rPr>
              <a:t> { … }</a:t>
            </a:r>
          </a:p>
        </p:txBody>
      </p:sp>
      <p:pic>
        <p:nvPicPr>
          <p:cNvPr id="14" name="Picture 13" descr="approve, block, cancel, delete, reject icon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66220" y="5181600"/>
            <a:ext cx="1104992" cy="1093528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35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Класа съдържа състояния и действия</a:t>
            </a:r>
            <a:endParaRPr lang="bg-B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bg-BG" dirty="0"/>
              <a:t>Полетата съдържат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състоянието</a:t>
            </a:r>
            <a:endParaRPr lang="en-GB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bg-BG" dirty="0"/>
              <a:t>Методите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описват действието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Членове на класа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849275" y="3300739"/>
            <a:ext cx="10693778" cy="310006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class Dice {</a:t>
            </a:r>
          </a:p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int sides;</a:t>
            </a: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 string type;</a:t>
            </a:r>
          </a:p>
          <a:p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 void Roll(){ … }</a:t>
            </a:r>
          </a:p>
          <a:p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494212" y="3741849"/>
            <a:ext cx="1676400" cy="533400"/>
          </a:xfrm>
          <a:prstGeom prst="wedgeRoundRectCallout">
            <a:avLst>
              <a:gd name="adj1" fmla="val -108621"/>
              <a:gd name="adj2" fmla="val 34043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Полета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5632532" y="5616758"/>
            <a:ext cx="1676400" cy="593469"/>
          </a:xfrm>
          <a:prstGeom prst="wedgeRoundRectCallout">
            <a:avLst>
              <a:gd name="adj1" fmla="val -76131"/>
              <a:gd name="adj2" fmla="val -4992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Методи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5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Класът може да има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много инстанции</a:t>
            </a:r>
            <a:r>
              <a:rPr lang="en-US" dirty="0"/>
              <a:t> (</a:t>
            </a:r>
            <a:r>
              <a:rPr lang="bg-BG" dirty="0"/>
              <a:t>обекти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обект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734634" y="2355066"/>
            <a:ext cx="10693778" cy="310006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class Program 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public static void Main() 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  Dice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diceD6</a:t>
            </a:r>
            <a:r>
              <a:rPr lang="en-US" sz="3200" dirty="0">
                <a:solidFill>
                  <a:schemeClr val="tx2"/>
                </a:solidFill>
              </a:rPr>
              <a:t> =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new</a:t>
            </a:r>
            <a:r>
              <a:rPr lang="en-US" sz="3200" dirty="0">
                <a:solidFill>
                  <a:schemeClr val="tx2"/>
                </a:solidFill>
              </a:rPr>
              <a:t> Dice();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  Dice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diceD8</a:t>
            </a:r>
            <a:r>
              <a:rPr lang="en-US" sz="3200" dirty="0">
                <a:solidFill>
                  <a:schemeClr val="tx2"/>
                </a:solidFill>
              </a:rPr>
              <a:t> =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new</a:t>
            </a:r>
            <a:r>
              <a:rPr lang="en-US" sz="3200" dirty="0">
                <a:solidFill>
                  <a:schemeClr val="tx2"/>
                </a:solidFill>
              </a:rPr>
              <a:t> Dice();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}</a:t>
            </a:r>
          </a:p>
          <a:p>
            <a:r>
              <a:rPr lang="en-US" sz="32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040051" y="4818456"/>
            <a:ext cx="2425961" cy="921534"/>
          </a:xfrm>
          <a:prstGeom prst="wedgeRoundRectCallout">
            <a:avLst>
              <a:gd name="adj1" fmla="val -32390"/>
              <a:gd name="adj2" fmla="val -93460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Използвайте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1795670" y="4815520"/>
            <a:ext cx="2677558" cy="1356679"/>
          </a:xfrm>
          <a:prstGeom prst="wedgeRoundRectCallout">
            <a:avLst>
              <a:gd name="adj1" fmla="val 32665"/>
              <a:gd name="adj2" fmla="val -97552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Променливите съдържат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bg-BG" sz="2800" b="1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референции (препоръки, сведения)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850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Декларирането на променлива създава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референция </a:t>
            </a:r>
            <a:endParaRPr lang="en-US" dirty="0"/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dirty="0"/>
              <a:t> </a:t>
            </a:r>
            <a:r>
              <a:rPr lang="bg-BG" dirty="0"/>
              <a:t>заделя място</a:t>
            </a:r>
            <a:endParaRPr lang="en-US" dirty="0"/>
          </a:p>
        </p:txBody>
      </p:sp>
      <p:sp>
        <p:nvSpPr>
          <p:cNvPr id="12" name="Rectangle: Rounded Corners 11"/>
          <p:cNvSpPr/>
          <p:nvPr/>
        </p:nvSpPr>
        <p:spPr>
          <a:xfrm>
            <a:off x="1783490" y="3581400"/>
            <a:ext cx="3091722" cy="2895600"/>
          </a:xfrm>
          <a:prstGeom prst="roundRect">
            <a:avLst>
              <a:gd name="adj" fmla="val 5385"/>
            </a:avLst>
          </a:prstGeom>
          <a:solidFill>
            <a:srgbClr val="F0A22E">
              <a:alpha val="25098"/>
            </a:srgbClr>
          </a:solidFill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Обектна </a:t>
            </a:r>
            <a:r>
              <a:rPr lang="bg-BG" dirty="0" smtClean="0"/>
              <a:t>референция (препоръка, сведение, отзив)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734634" y="2500996"/>
            <a:ext cx="10693778" cy="69940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600" dirty="0">
                <a:solidFill>
                  <a:schemeClr val="tx2"/>
                </a:solidFill>
              </a:rPr>
              <a:t>Dice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diceD6</a:t>
            </a:r>
            <a:r>
              <a:rPr lang="en-US" sz="3600" dirty="0">
                <a:solidFill>
                  <a:schemeClr val="tx2"/>
                </a:solidFill>
              </a:rPr>
              <a:t> =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new</a:t>
            </a:r>
            <a:r>
              <a:rPr lang="en-US" sz="3600" dirty="0">
                <a:solidFill>
                  <a:schemeClr val="tx2"/>
                </a:solidFill>
              </a:rPr>
              <a:t> Dice();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07627" y="3276600"/>
            <a:ext cx="2586385" cy="1442550"/>
          </a:xfrm>
          <a:prstGeom prst="wedgeRoundRectCallout">
            <a:avLst>
              <a:gd name="adj1" fmla="val 57571"/>
              <a:gd name="adj2" fmla="val 45771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Референцията има фиксиран размер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2158347" y="4731904"/>
            <a:ext cx="2385552" cy="954791"/>
          </a:xfrm>
          <a:prstGeom prst="roundRect">
            <a:avLst>
              <a:gd name="adj" fmla="val 5385"/>
            </a:avLst>
          </a:prstGeom>
          <a:solidFill>
            <a:srgbClr val="F0A22E">
              <a:alpha val="25098"/>
            </a:srgbClr>
          </a:solidFill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diceD6</a:t>
            </a:r>
          </a:p>
          <a:p>
            <a:pPr algn="ctr"/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(1540e19d)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6246812" y="3581400"/>
            <a:ext cx="4815935" cy="2895600"/>
          </a:xfrm>
          <a:prstGeom prst="roundRect">
            <a:avLst>
              <a:gd name="adj" fmla="val 5385"/>
            </a:avLst>
          </a:prstGeom>
          <a:solidFill>
            <a:srgbClr val="F0A22E">
              <a:alpha val="25098"/>
            </a:srgbClr>
          </a:solidFill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Heap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6468289" y="3750440"/>
            <a:ext cx="2499264" cy="1121480"/>
          </a:xfrm>
          <a:prstGeom prst="roundRect">
            <a:avLst>
              <a:gd name="adj" fmla="val 5385"/>
            </a:avLst>
          </a:prstGeom>
          <a:solidFill>
            <a:srgbClr val="F0A22E">
              <a:alpha val="25098"/>
            </a:srgbClr>
          </a:solidFill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= null</a:t>
            </a:r>
            <a:b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sides = 0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Straight Arrow Connector 6"/>
          <p:cNvCxnSpPr>
            <a:cxnSpLocks/>
            <a:stCxn id="10" idx="3"/>
            <a:endCxn id="11" idx="1"/>
          </p:cNvCxnSpPr>
          <p:nvPr/>
        </p:nvCxnSpPr>
        <p:spPr>
          <a:xfrm flipV="1">
            <a:off x="4543899" y="4311180"/>
            <a:ext cx="1924390" cy="89812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9346650" y="5048078"/>
            <a:ext cx="2434173" cy="921534"/>
          </a:xfrm>
          <a:prstGeom prst="wedgeRoundRectCallout">
            <a:avLst>
              <a:gd name="adj1" fmla="val -60867"/>
              <a:gd name="adj2" fmla="val -49911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</a:rPr>
              <a:t>Състоянието се пази в </a:t>
            </a:r>
            <a:r>
              <a:rPr lang="en-US" sz="2800" dirty="0">
                <a:solidFill>
                  <a:srgbClr val="FFFFFF"/>
                </a:solidFill>
              </a:rPr>
              <a:t>heap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3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Класовете ни позволяват да описваме и създаваме обекти</a:t>
            </a:r>
            <a:endParaRPr lang="en-US" dirty="0"/>
          </a:p>
          <a:p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Обектът</a:t>
            </a:r>
            <a:r>
              <a:rPr lang="en-US" dirty="0"/>
              <a:t> </a:t>
            </a:r>
            <a:r>
              <a:rPr lang="bg-BG" dirty="0"/>
              <a:t>е</a:t>
            </a:r>
            <a:r>
              <a:rPr lang="en-US" dirty="0"/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една </a:t>
            </a:r>
            <a:r>
              <a:rPr lang="bg-BG" dirty="0">
                <a:solidFill>
                  <a:srgbClr val="F9F0AB"/>
                </a:solidFill>
                <a:hlinkClick r:id="rId3" action="ppaction://hlinksldjump"/>
              </a:rPr>
              <a:t>инстанция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 на класа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Класове и Обекти</a:t>
            </a:r>
            <a:endParaRPr lang="en-US" dirty="0"/>
          </a:p>
        </p:txBody>
      </p:sp>
      <p:sp>
        <p:nvSpPr>
          <p:cNvPr id="21" name="Arrow: Right 20"/>
          <p:cNvSpPr/>
          <p:nvPr/>
        </p:nvSpPr>
        <p:spPr>
          <a:xfrm>
            <a:off x="7542212" y="5504590"/>
            <a:ext cx="685800" cy="659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23" name="Rectangle: Rounded Corners 22"/>
          <p:cNvSpPr/>
          <p:nvPr/>
        </p:nvSpPr>
        <p:spPr>
          <a:xfrm>
            <a:off x="4749236" y="5357044"/>
            <a:ext cx="2385552" cy="954791"/>
          </a:xfrm>
          <a:prstGeom prst="roundRect">
            <a:avLst>
              <a:gd name="adj" fmla="val 5385"/>
            </a:avLst>
          </a:prstGeom>
          <a:solidFill>
            <a:srgbClr val="F0A22E">
              <a:alpha val="25098"/>
            </a:srgbClr>
          </a:solidFill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Зар </a:t>
            </a: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(Class)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8609012" y="5357044"/>
            <a:ext cx="2438400" cy="954791"/>
          </a:xfrm>
          <a:prstGeom prst="roundRect">
            <a:avLst>
              <a:gd name="adj" fmla="val 5385"/>
            </a:avLst>
          </a:prstGeom>
          <a:solidFill>
            <a:srgbClr val="F0A22E">
              <a:alpha val="25098"/>
            </a:srgbClr>
          </a:solidFill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Зар с 6 страни </a:t>
            </a: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bg-B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Обект</a:t>
            </a: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75198" y="2819399"/>
            <a:ext cx="2080752" cy="2080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Зарът е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32" name="Rectangle: Rounded Corners 31"/>
          <p:cNvSpPr/>
          <p:nvPr/>
        </p:nvSpPr>
        <p:spPr>
          <a:xfrm>
            <a:off x="922798" y="5357044"/>
            <a:ext cx="2385552" cy="954791"/>
          </a:xfrm>
          <a:prstGeom prst="roundRect">
            <a:avLst>
              <a:gd name="adj" fmla="val 5385"/>
            </a:avLst>
          </a:prstGeom>
          <a:solidFill>
            <a:srgbClr val="F0A22E">
              <a:alpha val="25098"/>
            </a:srgbClr>
          </a:solidFill>
          <a:ln w="57150">
            <a:solidFill>
              <a:srgbClr val="F3CD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АТД Зар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Arrow: Right 32"/>
          <p:cNvSpPr/>
          <p:nvPr/>
        </p:nvSpPr>
        <p:spPr>
          <a:xfrm>
            <a:off x="3719737" y="5504590"/>
            <a:ext cx="685800" cy="659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grpSp>
        <p:nvGrpSpPr>
          <p:cNvPr id="35" name="Group 34"/>
          <p:cNvGrpSpPr/>
          <p:nvPr/>
        </p:nvGrpSpPr>
        <p:grpSpPr>
          <a:xfrm>
            <a:off x="5054036" y="2819400"/>
            <a:ext cx="2080752" cy="2080752"/>
            <a:chOff x="5054036" y="2819400"/>
            <a:chExt cx="2080752" cy="2080752"/>
          </a:xfrm>
        </p:grpSpPr>
        <p:sp>
          <p:nvSpPr>
            <p:cNvPr id="13" name="Oval 12"/>
            <p:cNvSpPr/>
            <p:nvPr/>
          </p:nvSpPr>
          <p:spPr>
            <a:xfrm>
              <a:off x="5054036" y="2819400"/>
              <a:ext cx="2080752" cy="208075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3162" y="2956820"/>
              <a:ext cx="1919324" cy="1805910"/>
            </a:xfrm>
            <a:prstGeom prst="roundRect">
              <a:avLst>
                <a:gd name="adj" fmla="val 41984"/>
              </a:avLst>
            </a:prstGeom>
          </p:spPr>
        </p:pic>
      </p:grpSp>
      <p:grpSp>
        <p:nvGrpSpPr>
          <p:cNvPr id="36" name="Group 35"/>
          <p:cNvGrpSpPr/>
          <p:nvPr/>
        </p:nvGrpSpPr>
        <p:grpSpPr>
          <a:xfrm>
            <a:off x="8814219" y="2845783"/>
            <a:ext cx="2027986" cy="2027986"/>
            <a:chOff x="8814219" y="2845783"/>
            <a:chExt cx="2027986" cy="2027986"/>
          </a:xfrm>
        </p:grpSpPr>
        <p:sp>
          <p:nvSpPr>
            <p:cNvPr id="16" name="Oval 15"/>
            <p:cNvSpPr/>
            <p:nvPr/>
          </p:nvSpPr>
          <p:spPr>
            <a:xfrm>
              <a:off x="8814219" y="2845783"/>
              <a:ext cx="2027986" cy="20279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1">
                  <a:lumMod val="75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8612" y="3249790"/>
              <a:ext cx="1219200" cy="12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180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Създаването на обект от вече дефиниран клас се нарича „инстанциране“ (instantiation). Инстанцията (instance) е реалния обект, който се създава от класа по време на изпълнение на програмата, което означава, че всеки обект е инстанция на конкретен клас. Тази инстанция се характеризира със състояние (state), което представлява множество от стойности, декларирани в елементите на класа.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59324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Класове и Обекти</a:t>
            </a:r>
            <a:r>
              <a:rPr lang="en-US" dirty="0"/>
              <a:t> (2)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170612" y="838200"/>
            <a:ext cx="0" cy="5686802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7008812" y="1963003"/>
            <a:ext cx="4191000" cy="1999397"/>
            <a:chOff x="9294812" y="1741724"/>
            <a:chExt cx="2133600" cy="1999397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9294812" y="1741724"/>
              <a:ext cx="2133600" cy="10014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spcBef>
                  <a:spcPts val="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noProof="1">
                  <a:latin typeface="Consolas" panose="020B0609020204030204" pitchFamily="49" charset="0"/>
                </a:rPr>
                <a:t>object</a:t>
              </a:r>
              <a:br>
                <a:rPr lang="en-US" sz="2800" noProof="1">
                  <a:latin typeface="Consolas" panose="020B0609020204030204" pitchFamily="49" charset="0"/>
                </a:rPr>
              </a:br>
              <a:r>
                <a:rPr lang="en-US" sz="2800" b="1" noProof="1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diceD6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9294812" y="2743200"/>
              <a:ext cx="2133600" cy="997921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type = </a:t>
              </a:r>
              <a:r>
                <a:rPr lang="en-US" sz="2800" b="1" noProof="1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"six sided"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sides = 6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346964" y="2819400"/>
            <a:ext cx="2909248" cy="2548839"/>
            <a:chOff x="455612" y="2077297"/>
            <a:chExt cx="2375848" cy="2574970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55612" y="2077297"/>
              <a:ext cx="2375848" cy="10014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spcBef>
                  <a:spcPts val="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noProof="1">
                  <a:latin typeface="Consolas" panose="020B0609020204030204" pitchFamily="49" charset="0"/>
                </a:rPr>
                <a:t>class</a:t>
              </a:r>
              <a:r>
                <a:rPr lang="en-US" sz="2800" b="1" noProof="1">
                  <a:latin typeface="Consolas" panose="020B0609020204030204" pitchFamily="49" charset="0"/>
                </a:rPr>
                <a:t> </a:t>
              </a:r>
              <a:br>
                <a:rPr lang="en-US" sz="2800" b="1" noProof="1">
                  <a:latin typeface="Consolas" panose="020B0609020204030204" pitchFamily="49" charset="0"/>
                </a:rPr>
              </a:br>
              <a:r>
                <a:rPr lang="en-US" sz="2800" b="1" noProof="1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Dice</a:t>
              </a: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55612" y="3078773"/>
              <a:ext cx="2375848" cy="94654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type: 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sides: int</a:t>
              </a: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455612" y="4025320"/>
              <a:ext cx="2375848" cy="62694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Roll(…)</a:t>
              </a:r>
            </a:p>
          </p:txBody>
        </p:sp>
      </p:grp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306372" y="5409276"/>
            <a:ext cx="2293059" cy="1033751"/>
          </a:xfrm>
          <a:prstGeom prst="wedgeRoundRectCallout">
            <a:avLst>
              <a:gd name="adj1" fmla="val 66131"/>
              <a:gd name="adj2" fmla="val -62386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действия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000" dirty="0">
                <a:solidFill>
                  <a:srgbClr val="FFFFFF"/>
                </a:solidFill>
              </a:rPr>
              <a:t>(</a:t>
            </a:r>
            <a:r>
              <a:rPr lang="bg-BG" sz="3000" dirty="0">
                <a:solidFill>
                  <a:srgbClr val="FFFFFF"/>
                </a:solidFill>
              </a:rPr>
              <a:t>методи</a:t>
            </a:r>
            <a:r>
              <a:rPr lang="en-US" sz="3000" dirty="0">
                <a:solidFill>
                  <a:srgbClr val="FFFFFF"/>
                </a:solidFill>
              </a:rPr>
              <a:t>)</a:t>
            </a:r>
            <a:endParaRPr lang="bg-BG" sz="3000" dirty="0">
              <a:solidFill>
                <a:srgbClr val="FFFFFF"/>
              </a:solidFill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9447212" y="1588789"/>
            <a:ext cx="2646662" cy="589903"/>
          </a:xfrm>
          <a:prstGeom prst="wedgeRoundRectCallout">
            <a:avLst>
              <a:gd name="adj1" fmla="val -47330"/>
              <a:gd name="adj2" fmla="val 109021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Име </a:t>
            </a:r>
            <a:r>
              <a:rPr lang="bg-BG" sz="3000" dirty="0">
                <a:solidFill>
                  <a:schemeClr val="tx1"/>
                </a:solidFill>
              </a:rPr>
              <a:t>на обекта</a:t>
            </a:r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auto">
          <a:xfrm>
            <a:off x="9572084" y="3429000"/>
            <a:ext cx="2521790" cy="1022989"/>
          </a:xfrm>
          <a:prstGeom prst="wedgeRoundRectCallout">
            <a:avLst>
              <a:gd name="adj1" fmla="val -72375"/>
              <a:gd name="adj2" fmla="val -4154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000" dirty="0">
                <a:solidFill>
                  <a:srgbClr val="FFFFFF"/>
                </a:solidFill>
              </a:rPr>
              <a:t>Информация на обекта</a:t>
            </a:r>
            <a:endParaRPr lang="bg-BG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24753" y="2005925"/>
            <a:ext cx="2375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Класовете</a:t>
            </a:r>
            <a:endParaRPr lang="en-US" sz="3200" dirty="0"/>
          </a:p>
        </p:txBody>
      </p:sp>
      <p:sp>
        <p:nvSpPr>
          <p:cNvPr id="30" name="TextBox 29"/>
          <p:cNvSpPr txBox="1"/>
          <p:nvPr/>
        </p:nvSpPr>
        <p:spPr>
          <a:xfrm>
            <a:off x="7618412" y="1167825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dirty="0"/>
              <a:t>Обектите</a:t>
            </a:r>
            <a:endParaRPr lang="en-US" sz="3200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306372" y="2349156"/>
            <a:ext cx="2462769" cy="578882"/>
          </a:xfrm>
          <a:prstGeom prst="wedgeRoundRectCallout">
            <a:avLst>
              <a:gd name="adj1" fmla="val 67783"/>
              <a:gd name="adj2" fmla="val 52087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Име </a:t>
            </a:r>
            <a:r>
              <a:rPr lang="bg-BG" sz="3000" dirty="0">
                <a:solidFill>
                  <a:schemeClr val="tx1"/>
                </a:solidFill>
              </a:rPr>
              <a:t>на класа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188815" y="3805837"/>
            <a:ext cx="2158149" cy="790480"/>
          </a:xfrm>
          <a:prstGeom prst="wedgeRoundRectCallout">
            <a:avLst>
              <a:gd name="adj1" fmla="val 68729"/>
              <a:gd name="adj2" fmla="val -6945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информация</a:t>
            </a:r>
            <a:endParaRPr lang="bg-BG" sz="3000" dirty="0">
              <a:solidFill>
                <a:srgbClr val="FFFFFF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008812" y="4325203"/>
            <a:ext cx="4191000" cy="1999397"/>
            <a:chOff x="9294812" y="1741724"/>
            <a:chExt cx="2133600" cy="1999397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9294812" y="1741724"/>
              <a:ext cx="2133600" cy="10014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spcBef>
                  <a:spcPts val="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noProof="1">
                  <a:latin typeface="Consolas" panose="020B0609020204030204" pitchFamily="49" charset="0"/>
                </a:rPr>
                <a:t>object</a:t>
              </a:r>
              <a:br>
                <a:rPr lang="en-US" sz="2800" noProof="1">
                  <a:latin typeface="Consolas" panose="020B0609020204030204" pitchFamily="49" charset="0"/>
                </a:rPr>
              </a:br>
              <a:r>
                <a:rPr lang="en-US" sz="2800" b="1" noProof="1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diceD8</a:t>
              </a:r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9294812" y="2743200"/>
              <a:ext cx="2133600" cy="997921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type = </a:t>
              </a:r>
              <a:r>
                <a:rPr lang="en-US" sz="2800" b="1" noProof="1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"eight sided"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sides =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755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7" grpId="0" animBg="1"/>
      <p:bldP spid="28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научихме?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190412" y="1138652"/>
            <a:ext cx="11804822" cy="5033547"/>
          </a:xfrm>
        </p:spPr>
        <p:txBody>
          <a:bodyPr>
            <a:noAutofit/>
          </a:bodyPr>
          <a:lstStyle/>
          <a:p>
            <a:pPr marL="358775" indent="-358775">
              <a:lnSpc>
                <a:spcPct val="110000"/>
              </a:lnSpc>
            </a:pP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Абстрактните типове данни:</a:t>
            </a:r>
          </a:p>
          <a:p>
            <a:pPr marL="663521" lvl="1" indent="-358775">
              <a:lnSpc>
                <a:spcPct val="110000"/>
              </a:lnSpc>
            </a:pPr>
            <a:r>
              <a:rPr lang="bg-BG" sz="3000" dirty="0"/>
              <a:t>Описват нещо чрез възможните действия свързани с него</a:t>
            </a:r>
          </a:p>
          <a:p>
            <a:pPr marL="663521" lvl="1" indent="-358775">
              <a:lnSpc>
                <a:spcPct val="110000"/>
              </a:lnSpc>
            </a:pPr>
            <a:r>
              <a:rPr lang="bg-BG" sz="3000" dirty="0"/>
              <a:t>Не описват конкретния начин как да се реализират тези действия</a:t>
            </a:r>
          </a:p>
          <a:p>
            <a:pPr marL="358775" indent="-358775">
              <a:lnSpc>
                <a:spcPct val="110000"/>
              </a:lnSpc>
            </a:pPr>
            <a:r>
              <a:rPr lang="bg-BG" sz="3200" dirty="0"/>
              <a:t>Класовете описват конкретна структура за обекти</a:t>
            </a:r>
            <a:endParaRPr lang="en-US" sz="3200" dirty="0"/>
          </a:p>
          <a:p>
            <a:pPr marL="706438" lvl="1" indent="-358775">
              <a:lnSpc>
                <a:spcPct val="110000"/>
              </a:lnSpc>
            </a:pPr>
            <a:r>
              <a:rPr lang="bg-BG" sz="3000" dirty="0"/>
              <a:t>Обектите са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инстанция на класа</a:t>
            </a:r>
          </a:p>
          <a:p>
            <a:pPr marL="706438" lvl="1" indent="-358775">
              <a:lnSpc>
                <a:spcPct val="110000"/>
              </a:lnSpc>
            </a:pPr>
            <a:r>
              <a:rPr lang="bg-BG" sz="2800" dirty="0"/>
              <a:t>Класовете дефинират</a:t>
            </a:r>
            <a:r>
              <a:rPr lang="en-US" sz="2800" dirty="0"/>
              <a:t>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</a:rPr>
              <a:t>полета</a:t>
            </a:r>
            <a:r>
              <a:rPr lang="en-US" sz="2800" dirty="0"/>
              <a:t>,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</a:rPr>
              <a:t>методи</a:t>
            </a:r>
            <a:r>
              <a:rPr lang="bg-BG" sz="2800" dirty="0"/>
              <a:t> и други</a:t>
            </a:r>
            <a:br>
              <a:rPr lang="bg-BG" sz="2800" dirty="0"/>
            </a:br>
            <a:r>
              <a:rPr lang="bg-BG" sz="2800" dirty="0"/>
              <a:t>членове</a:t>
            </a:r>
            <a:endParaRPr lang="en-US" sz="2800" dirty="0"/>
          </a:p>
          <a:p>
            <a:pPr marL="706438" lvl="1" indent="-358775">
              <a:lnSpc>
                <a:spcPct val="110000"/>
              </a:lnSpc>
            </a:pPr>
            <a:endParaRPr lang="en-US" sz="3000" dirty="0">
              <a:solidFill>
                <a:schemeClr val="tx2">
                  <a:lumMod val="75000"/>
                </a:schemeClr>
              </a:solidFill>
            </a:endParaRPr>
          </a:p>
          <a:p>
            <a:pPr marL="663521" lvl="1" indent="-358775">
              <a:lnSpc>
                <a:spcPct val="110000"/>
              </a:lnSpc>
            </a:pPr>
            <a:endParaRPr lang="bg-BG" sz="3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2" descr="C:\Users\Ivan\Desktop\elements_presentations\summary_pi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012" y="3819917"/>
            <a:ext cx="3478910" cy="25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69744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Абстрактни типове данни и класове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29384" y="6400802"/>
            <a:ext cx="10482604" cy="363552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https://it-kariera.mon.bg/e-learning/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818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r>
              <a:rPr lang="bg-BG" dirty="0"/>
              <a:t>Настоящият курс </a:t>
            </a:r>
            <a:r>
              <a:rPr lang="en-US" dirty="0"/>
              <a:t>(</a:t>
            </a:r>
            <a:r>
              <a:rPr lang="bg-BG" dirty="0"/>
              <a:t>слайдове</a:t>
            </a:r>
            <a:r>
              <a:rPr lang="en-US" dirty="0"/>
              <a:t>, </a:t>
            </a:r>
            <a:r>
              <a:rPr lang="bg-BG" dirty="0"/>
              <a:t>примери</a:t>
            </a:r>
            <a:r>
              <a:rPr lang="en-US" dirty="0"/>
              <a:t>, </a:t>
            </a:r>
            <a:r>
              <a:rPr lang="bg-BG" dirty="0"/>
              <a:t>видео</a:t>
            </a:r>
            <a:r>
              <a:rPr lang="en-US" dirty="0"/>
              <a:t>, </a:t>
            </a:r>
            <a:r>
              <a:rPr lang="bg-BG" dirty="0"/>
              <a:t>задачи и др.</a:t>
            </a:r>
            <a:r>
              <a:rPr lang="en-US" dirty="0"/>
              <a:t>)</a:t>
            </a:r>
            <a:r>
              <a:rPr lang="bg-BG" dirty="0"/>
              <a:t> се разпространяват под свободен лиценз </a:t>
            </a:r>
            <a:r>
              <a:rPr lang="en-US" dirty="0"/>
              <a:t>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>
                <a:hlinkClick r:id="rId3"/>
              </a:rPr>
              <a:t>Attribution-NonCommercial-ShareAlike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"</a:t>
            </a:r>
            <a:endParaRPr lang="bg-BG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pPr>
              <a:spcBef>
                <a:spcPts val="1800"/>
              </a:spcBef>
            </a:pPr>
            <a:r>
              <a:rPr lang="bg-BG" sz="2400" dirty="0"/>
              <a:t>Благодарности</a:t>
            </a:r>
            <a:r>
              <a:rPr lang="en-US" sz="2400" dirty="0"/>
              <a:t>: </a:t>
            </a:r>
            <a:r>
              <a:rPr lang="bg-BG" sz="2400" dirty="0"/>
              <a:t>настоящият материал може да съдържа части от следните източници</a:t>
            </a:r>
            <a:endParaRPr lang="en-US" sz="2400" dirty="0"/>
          </a:p>
          <a:p>
            <a:pPr lvl="1"/>
            <a:r>
              <a:rPr lang="bg-BG" sz="2000" dirty="0"/>
              <a:t>Книга </a:t>
            </a:r>
            <a:r>
              <a:rPr lang="en-US" sz="2000" dirty="0"/>
              <a:t>"</a:t>
            </a:r>
            <a:r>
              <a:rPr lang="bg-BG" sz="2000" dirty="0">
                <a:hlinkClick r:id="rId4"/>
              </a:rPr>
              <a:t>Основи на програмирането със </a:t>
            </a:r>
            <a:r>
              <a:rPr lang="en-US" sz="2000" dirty="0">
                <a:hlinkClick r:id="rId4"/>
              </a:rPr>
              <a:t>C#"</a:t>
            </a:r>
            <a:r>
              <a:rPr lang="bg-BG" sz="2000" dirty="0"/>
              <a:t> от Светлин Наков и колектив с лиценз</a:t>
            </a:r>
            <a:r>
              <a:rPr lang="en-US" sz="2000" dirty="0"/>
              <a:t> </a:t>
            </a:r>
            <a:r>
              <a:rPr lang="en-US" sz="2000" dirty="0">
                <a:hlinkClick r:id="rId5"/>
              </a:rPr>
              <a:t>CC-BY-SA</a:t>
            </a:r>
            <a:endParaRPr lang="bg-BG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Лиценз</a:t>
            </a:r>
            <a:endParaRPr lang="en-US" dirty="0"/>
          </a:p>
        </p:txBody>
      </p:sp>
      <p:pic>
        <p:nvPicPr>
          <p:cNvPr id="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7637" y="3462620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85248"/>
      </p:ext>
    </p:extLst>
  </p:cSld>
  <p:clrMapOvr>
    <a:masterClrMapping/>
  </p:clrMapOvr>
</p:sld>
</file>

<file path=ppt/theme/theme1.xml><?xml version="1.0" encoding="utf-8"?>
<a:theme xmlns:a="http://schemas.openxmlformats.org/drawingml/2006/main" name="SoftUni 16x9">
  <a:themeElements>
    <a:clrScheme name="Custom 1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F0000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72809E0BA352146887A598B2150FBCE" ma:contentTypeVersion="4" ma:contentTypeDescription="Създаване на нов документ" ma:contentTypeScope="" ma:versionID="30c80d78220d05fd27aa80afaa729309">
  <xsd:schema xmlns:xsd="http://www.w3.org/2001/XMLSchema" xmlns:xs="http://www.w3.org/2001/XMLSchema" xmlns:p="http://schemas.microsoft.com/office/2006/metadata/properties" xmlns:ns2="0401b427-85e3-40cd-b50d-13f667a12a32" targetNamespace="http://schemas.microsoft.com/office/2006/metadata/properties" ma:root="true" ma:fieldsID="b567aba00756e876f94a97c73625782e" ns2:_="">
    <xsd:import namespace="0401b427-85e3-40cd-b50d-13f667a12a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01b427-85e3-40cd-b50d-13f667a12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E65802-4131-4C53-A14B-55F3DA3027D1}"/>
</file>

<file path=customXml/itemProps2.xml><?xml version="1.0" encoding="utf-8"?>
<ds:datastoreItem xmlns:ds="http://schemas.openxmlformats.org/officeDocument/2006/customXml" ds:itemID="{17FF2167-7E09-47A4-AA68-0F6100D766B9}"/>
</file>

<file path=customXml/itemProps3.xml><?xml version="1.0" encoding="utf-8"?>
<ds:datastoreItem xmlns:ds="http://schemas.openxmlformats.org/officeDocument/2006/customXml" ds:itemID="{23EC83CD-151A-4336-8BF1-01B16901F32E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953</Words>
  <Application>Microsoft Office PowerPoint</Application>
  <PresentationFormat>Custom</PresentationFormat>
  <Paragraphs>187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Wingdings</vt:lpstr>
      <vt:lpstr>Wingdings 2</vt:lpstr>
      <vt:lpstr>SoftUni 16x9</vt:lpstr>
      <vt:lpstr>PowerPoint Presentation</vt:lpstr>
      <vt:lpstr>Съдържание</vt:lpstr>
      <vt:lpstr>Абстрактни типове данни</vt:lpstr>
      <vt:lpstr>Абстрактни типове данни</vt:lpstr>
      <vt:lpstr>Абстрактни типове данни</vt:lpstr>
      <vt:lpstr>Абстрактни типове данни (3)</vt:lpstr>
      <vt:lpstr>Дефиниране на класове</vt:lpstr>
      <vt:lpstr>Дефиниране на прост клас</vt:lpstr>
      <vt:lpstr>Именуване на класове</vt:lpstr>
      <vt:lpstr>Членове на класа</vt:lpstr>
      <vt:lpstr>Създаване на обект</vt:lpstr>
      <vt:lpstr>Обектна референция (препоръка, сведение, отзив)</vt:lpstr>
      <vt:lpstr>Класове и Обекти</vt:lpstr>
      <vt:lpstr>PowerPoint Presentation</vt:lpstr>
      <vt:lpstr>Класове и Обекти (2)</vt:lpstr>
      <vt:lpstr>Какво научихме?</vt:lpstr>
      <vt:lpstr>Абстрактни типове данни и класове</vt:lpstr>
      <vt:lpstr>Лиценз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Classes</dc:title>
  <dc:subject>C# Basics Course</dc:subject>
  <dc:creator/>
  <cp:keywords>C#, class, object, fields, methods, properties, constructors, static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2019-03-24T19:22:27Z</dcterms:modified>
  <cp:category>programming, software engineering, C#, OOP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ContentTypeId">
    <vt:lpwstr>0x010100C72809E0BA352146887A598B2150FBCE</vt:lpwstr>
  </property>
</Properties>
</file>