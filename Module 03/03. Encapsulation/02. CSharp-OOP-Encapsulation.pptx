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  <p:sldMasterId id="2147483692" r:id="rId2"/>
  </p:sldMasterIdLst>
  <p:notesMasterIdLst>
    <p:notesMasterId r:id="rId36"/>
  </p:notesMasterIdLst>
  <p:handoutMasterIdLst>
    <p:handoutMasterId r:id="rId37"/>
  </p:handoutMasterIdLst>
  <p:sldIdLst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494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401" r:id="rId33"/>
    <p:sldId id="405" r:id="rId34"/>
    <p:sldId id="49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BCAF3BA-0096-4154-BED2-C3CE537F0DCC}">
          <p14:sldIdLst>
            <p14:sldId id="291"/>
            <p14:sldId id="292"/>
            <p14:sldId id="293"/>
          </p14:sldIdLst>
        </p14:section>
        <p14:section name="Encapsulation" id="{7952EC72-790D-4217-A74E-0A9869159240}">
          <p14:sldIdLst>
            <p14:sldId id="294"/>
            <p14:sldId id="295"/>
            <p14:sldId id="296"/>
            <p14:sldId id="297"/>
          </p14:sldIdLst>
        </p14:section>
        <p14:section name="Access Modifiers" id="{7919869E-FBD6-4467-B4A7-F5872A6F8965}">
          <p14:sldIdLst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State Validation" id="{1E2ACA83-A326-41E1-83C9-09E9E6FB6F18}">
          <p14:sldIdLst>
            <p14:sldId id="308"/>
            <p14:sldId id="309"/>
            <p14:sldId id="310"/>
            <p14:sldId id="311"/>
            <p14:sldId id="312"/>
          </p14:sldIdLst>
        </p14:section>
        <p14:section name="Mutable vs Immutable" id="{07E801FC-75A2-4E1F-A27C-3763363017DE}">
          <p14:sldIdLst>
            <p14:sldId id="494"/>
            <p14:sldId id="313"/>
            <p14:sldId id="314"/>
            <p14:sldId id="315"/>
            <p14:sldId id="316"/>
            <p14:sldId id="317"/>
            <p14:sldId id="318"/>
          </p14:sldIdLst>
        </p14:section>
        <p14:section name="Conclusion" id="{00549926-ABC6-45B1-A43F-45EF4C0E8B48}">
          <p14:sldIdLst>
            <p14:sldId id="319"/>
            <p14:sldId id="401"/>
            <p14:sldId id="405"/>
            <p14:sldId id="4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5214" autoAdjust="0"/>
  </p:normalViewPr>
  <p:slideViewPr>
    <p:cSldViewPr showGuides="1">
      <p:cViewPr varScale="1">
        <p:scale>
          <a:sx n="69" d="100"/>
          <a:sy n="69" d="100"/>
        </p:scale>
        <p:origin x="822" y="6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9.3.2021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3/9/2021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A2B76E5E-101E-4657-ABB5-7476F651D2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576293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52766D-5988-4A85-9A9D-1504D9E40207}" type="slidenum">
              <a:rPr lang="en-US"/>
              <a:pPr/>
              <a:t>2</a:t>
            </a:fld>
            <a:r>
              <a:rPr lang="en-US" dirty="0"/>
              <a:t>##</a:t>
            </a:r>
          </a:p>
        </p:txBody>
      </p:sp>
      <p:sp>
        <p:nvSpPr>
          <p:cNvPr id="424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4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4584C4-6295-40AA-8EBC-AB9EAC1D87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912849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4EE15038-2676-46DC-A25F-BC7DBB30793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664474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4FBF355-9CD3-4E74-A865-66610F8284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12209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Encapsulation</a:t>
            </a:r>
            <a:r>
              <a:rPr lang="en-US" dirty="0"/>
              <a:t> hides the implementation details</a:t>
            </a:r>
          </a:p>
          <a:p>
            <a:r>
              <a:rPr lang="en-US" dirty="0"/>
              <a:t>Class announces only a few operations (methods) available for its clients - its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public interface</a:t>
            </a:r>
          </a:p>
          <a:p>
            <a:r>
              <a:rPr lang="en-US" dirty="0"/>
              <a:t>All data members (fields) of a class should be hidden</a:t>
            </a:r>
          </a:p>
          <a:p>
            <a:pPr lvl="1"/>
            <a:r>
              <a:rPr lang="en-US" dirty="0"/>
              <a:t>Accessed via properties (read-only and read-write)</a:t>
            </a:r>
          </a:p>
          <a:p>
            <a:r>
              <a:rPr lang="en-US" dirty="0"/>
              <a:t>No interface members should be hidden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Encapsulation</a:t>
            </a:r>
            <a:r>
              <a:rPr lang="en-US" dirty="0"/>
              <a:t> == hide (encapsulate) data behind constructors and properties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E4C8E3C5-0291-483A-B178-2B6A12A230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6277646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Fields are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</a:p>
          <a:p>
            <a:pPr>
              <a:lnSpc>
                <a:spcPct val="100000"/>
              </a:lnSpc>
            </a:pPr>
            <a:r>
              <a:rPr lang="en-US" dirty="0"/>
              <a:t>Constructors and accessors are defined (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getters</a:t>
            </a:r>
            <a:r>
              <a:rPr lang="en-US" dirty="0"/>
              <a:t> and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setters</a:t>
            </a:r>
            <a:r>
              <a:rPr lang="en-US" dirty="0"/>
              <a:t>)</a:t>
            </a:r>
            <a:endParaRPr lang="bg-BG" dirty="0"/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82CC3976-BD53-4C51-B05B-120428DFEBE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3003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Constructors are declared</a:t>
            </a:r>
            <a:r>
              <a:rPr lang="en-US" dirty="0">
                <a:solidFill>
                  <a:srgbClr val="EBFFD2"/>
                </a:solidFill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public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Constructors perform checks to keep the object state valid</a:t>
            </a:r>
          </a:p>
          <a:p>
            <a:pPr>
              <a:lnSpc>
                <a:spcPct val="100000"/>
              </a:lnSpc>
            </a:pPr>
            <a:r>
              <a:rPr lang="en-US" dirty="0"/>
              <a:t>Interface methods are always</a:t>
            </a:r>
            <a:r>
              <a:rPr lang="en-US" dirty="0">
                <a:solidFill>
                  <a:srgbClr val="EBFFD2"/>
                </a:solidFill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public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Not explicitly declared with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public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/>
              <a:t>Non-interface</a:t>
            </a:r>
            <a:r>
              <a:rPr lang="en-US" i="1" dirty="0"/>
              <a:t> </a:t>
            </a:r>
            <a:r>
              <a:rPr lang="en-US" dirty="0"/>
              <a:t>methods are declared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private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rgbClr val="EBFFD2"/>
                </a:solidFill>
              </a:rPr>
              <a:t>/</a:t>
            </a:r>
            <a:r>
              <a:rPr lang="en-US" dirty="0"/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protected</a:t>
            </a:r>
            <a:endParaRPr lang="bg-BG" sz="3200" b="1" dirty="0">
              <a:solidFill>
                <a:schemeClr val="tx2">
                  <a:lumMod val="75000"/>
                </a:schemeClr>
              </a:solidFill>
            </a:endParaRP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56337404-5B6A-4CAC-8809-CCFD9A1CBD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813753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8B30E117-6492-4355-81F2-A89C518B26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20670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Level "public"</a:t>
            </a:r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we use the modifier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front of some element, we are telling the compiler, that this element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be accessed from every class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 matter from the current project (assembly), from the current package. The access level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defines the miss of restrictions regarding the visibility. This access level is the least restricted access level in Java.</a:t>
            </a:r>
          </a:p>
          <a:p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Level "private"</a:t>
            </a:r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access level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one, which defines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most restrictive level of visibility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 class and its elements. The modifier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used to indicate, that the element, to which is issued,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cannot be accessed from any other class 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(except the class, in which it is defined), even if this class exists in the same package. </a:t>
            </a:r>
          </a:p>
          <a:p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Level “protected"</a:t>
            </a:r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access level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one, which defines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most restrictive level of visibility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 class and its elements. The modifier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used to indicate, that the element, to which is issued,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cannot be accessed from any other class 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(except the class, in which it is defined), even if this class exists in the same namespace.</a:t>
            </a:r>
          </a:p>
          <a:p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Level “default"</a:t>
            </a:r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default access level, i.e. it is used when there is no access level modifier in front of the respective element of a class. Members</a:t>
            </a:r>
            <a:r>
              <a:rPr lang="en-GB" sz="16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dirty="0"/>
              <a:t>can be accessed only from the same package.</a:t>
            </a:r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B3FE3A48-9DF9-427C-8CC4-2D8886275E9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41012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Level "public"</a:t>
            </a:r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we use the modifier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front of some element, we are telling the compiler, that this element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be accessed from every class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 matter from the current project (assembly), from the current package. The access level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defines the miss of restrictions regarding the visibility. This access level is the least restricted access level in Java.</a:t>
            </a:r>
          </a:p>
          <a:p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Level "private"</a:t>
            </a:r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access level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one, which defines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most restrictive level of visibility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 class and its elements. The modifier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used to indicate, that the element, to which is issued,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cannot be accessed from any other class 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(except the class, in which it is defined), even if this class exists in the same package. </a:t>
            </a:r>
          </a:p>
          <a:p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Level “protected"</a:t>
            </a:r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access level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one, which defines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most restrictive level of visibility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 class and its elements. The modifier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used to indicate, that the element, to which is issued,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cannot be accessed from any other class 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(except the class, in which it is defined), even if this class exists in the same namespace.</a:t>
            </a:r>
          </a:p>
          <a:p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Level “default"</a:t>
            </a:r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default access level, i.e. it is used when there is no access level modifier in front of the respective element of a class. Members</a:t>
            </a:r>
            <a:r>
              <a:rPr lang="en-GB" sz="16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dirty="0"/>
              <a:t>can be accessed only from the same package.</a:t>
            </a:r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CC405C7D-8245-42EF-821C-2F9511FC28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5763857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Level "public"</a:t>
            </a:r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we use the modifier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 front of some element, we are telling the compiler, that this element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be accessed from every class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 matter from the current project (assembly), from the current package. The access level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defines the miss of restrictions regarding the visibility. This access level is the least restricted access level in Java.</a:t>
            </a:r>
          </a:p>
          <a:p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Level "private"</a:t>
            </a:r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access level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one, which defines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most restrictive level of visibility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 class and its elements. The modifier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used to indicate, that the element, to which is issued,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cannot be accessed from any other class 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(except the class, in which it is defined), even if this class exists in the same package. </a:t>
            </a:r>
          </a:p>
          <a:p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Level “protected"</a:t>
            </a:r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access level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the one, which defines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most restrictive level of visibility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the class and its elements. The modifier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used to indicate, that the element, to which is issued, </a:t>
            </a:r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cannot be accessed from any other class </a:t>
            </a:r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(except the class, in which it is defined), even if this class exists in the same namespace.</a:t>
            </a:r>
          </a:p>
          <a:p>
            <a:r>
              <a:rPr lang="en-GB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 Level “default"</a:t>
            </a:r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default access level, i.e. it is used when there is no access level modifier in front of the respective element of a class. Members</a:t>
            </a:r>
            <a:r>
              <a:rPr lang="en-GB" sz="16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dirty="0"/>
              <a:t>can be accessed only from the same package.</a:t>
            </a:r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3A576B90-6F1D-4E92-9ADD-389F62426E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584116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2F1B246D-970D-4B52-BE57-2B672F93AD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024203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Constructors are declared</a:t>
            </a:r>
            <a:r>
              <a:rPr lang="en-US" dirty="0">
                <a:solidFill>
                  <a:srgbClr val="EBFFD2"/>
                </a:solidFill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public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Constructors perform checks to keep the object state valid</a:t>
            </a:r>
          </a:p>
          <a:p>
            <a:pPr>
              <a:lnSpc>
                <a:spcPct val="100000"/>
              </a:lnSpc>
            </a:pPr>
            <a:r>
              <a:rPr lang="en-US" dirty="0"/>
              <a:t>Interface methods are always</a:t>
            </a:r>
            <a:r>
              <a:rPr lang="en-US" dirty="0">
                <a:solidFill>
                  <a:srgbClr val="EBFFD2"/>
                </a:solidFill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public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Not explicitly declared with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public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/>
              <a:t>Non-interface</a:t>
            </a:r>
            <a:r>
              <a:rPr lang="en-US" i="1" dirty="0"/>
              <a:t> </a:t>
            </a:r>
            <a:r>
              <a:rPr lang="en-US" dirty="0"/>
              <a:t>methods are declared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private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rgbClr val="EBFFD2"/>
                </a:solidFill>
              </a:rPr>
              <a:t>/</a:t>
            </a:r>
            <a:r>
              <a:rPr lang="en-US" dirty="0"/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protected</a:t>
            </a:r>
            <a:endParaRPr lang="bg-BG" sz="3200" b="1" dirty="0">
              <a:solidFill>
                <a:schemeClr val="tx2">
                  <a:lumMod val="75000"/>
                </a:schemeClr>
              </a:solidFill>
            </a:endParaRP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58A79255-BE66-4FA5-9B28-F38B5DCF4F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9555052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Constructors are declared</a:t>
            </a:r>
            <a:r>
              <a:rPr lang="en-US" dirty="0">
                <a:solidFill>
                  <a:srgbClr val="EBFFD2"/>
                </a:solidFill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public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Constructors perform checks to keep the object state valid</a:t>
            </a:r>
          </a:p>
          <a:p>
            <a:pPr>
              <a:lnSpc>
                <a:spcPct val="100000"/>
              </a:lnSpc>
            </a:pPr>
            <a:r>
              <a:rPr lang="en-US" dirty="0"/>
              <a:t>Interface methods are always</a:t>
            </a:r>
            <a:r>
              <a:rPr lang="en-US" dirty="0">
                <a:solidFill>
                  <a:srgbClr val="EBFFD2"/>
                </a:solidFill>
              </a:rPr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public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Not explicitly declared with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public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/>
              <a:t>Non-interface</a:t>
            </a:r>
            <a:r>
              <a:rPr lang="en-US" i="1" dirty="0"/>
              <a:t> </a:t>
            </a:r>
            <a:r>
              <a:rPr lang="en-US" dirty="0"/>
              <a:t>methods are declared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private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rgbClr val="EBFFD2"/>
                </a:solidFill>
              </a:rPr>
              <a:t>/</a:t>
            </a:r>
            <a:r>
              <a:rPr lang="en-US" dirty="0"/>
              <a:t>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protected</a:t>
            </a:r>
            <a:endParaRPr lang="bg-BG" sz="3200" b="1" dirty="0">
              <a:solidFill>
                <a:schemeClr val="tx2">
                  <a:lumMod val="75000"/>
                </a:schemeClr>
              </a:solidFill>
            </a:endParaRP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E3BE5925-DC92-4A8D-832D-089D9C546FA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156716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2F1B246D-970D-4B52-BE57-2B672F93AD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416466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Fields are always declared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private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Accessed </a:t>
            </a:r>
            <a:r>
              <a:rPr lang="en-GB" dirty="0"/>
              <a:t>through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getters </a:t>
            </a:r>
            <a:r>
              <a:rPr lang="en-GB" dirty="0"/>
              <a:t>and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setters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dirty="0"/>
              <a:t>in read-only or read-write mode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Setters perform checks to fight invalid data</a:t>
            </a:r>
            <a:endParaRPr lang="bg-BG" sz="3200" b="1" dirty="0">
              <a:solidFill>
                <a:schemeClr val="tx2">
                  <a:lumMod val="75000"/>
                </a:schemeClr>
              </a:solidFill>
            </a:endParaRP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2AD4CC6A-8702-4668-A18A-6CB080236B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2367415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Fields are always declared 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private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Accessed </a:t>
            </a:r>
            <a:r>
              <a:rPr lang="en-GB" dirty="0"/>
              <a:t>through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getters </a:t>
            </a:r>
            <a:r>
              <a:rPr lang="en-GB" dirty="0"/>
              <a:t>and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setters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GB" dirty="0"/>
              <a:t>in read-only or read-write mode</a:t>
            </a:r>
          </a:p>
          <a:p>
            <a:pPr lvl="1">
              <a:lnSpc>
                <a:spcPct val="100000"/>
              </a:lnSpc>
            </a:pPr>
            <a:r>
              <a:rPr lang="en-GB" dirty="0"/>
              <a:t>Setters perform checks to fight invalid data</a:t>
            </a:r>
            <a:endParaRPr lang="bg-BG" sz="3200" b="1" dirty="0">
              <a:solidFill>
                <a:schemeClr val="tx2">
                  <a:lumMod val="75000"/>
                </a:schemeClr>
              </a:solidFill>
            </a:endParaRP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B8AEBEB8-D339-4A0E-BD5C-BBB81D43C4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014020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27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76DB1385-CF12-46E9-A3B5-F4B88640D1D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1164535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BD16CA6A-2BBC-4B6E-B51E-8355788F89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699248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93DADB9E-E57F-48C6-8ED4-7AFA68F885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4865309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6B74577C-92A3-460D-8296-2FED322BDD1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522167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5CE7EDF7-E484-45D5-AC9C-2E118449A4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763300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16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1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11" Type="http://schemas.openxmlformats.org/officeDocument/2006/relationships/image" Target="../media/image4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bg/" TargetMode="External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hyperlink" Target="https://forum.softuni.bg/" TargetMode="External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softuni.org/" TargetMode="External"/><Relationship Id="rId11" Type="http://schemas.openxmlformats.org/officeDocument/2006/relationships/image" Target="../media/image5.png"/><Relationship Id="rId5" Type="http://schemas.openxmlformats.org/officeDocument/2006/relationships/image" Target="../media/image16.png"/><Relationship Id="rId10" Type="http://schemas.openxmlformats.org/officeDocument/2006/relationships/hyperlink" Target="https://softuni.foundation/" TargetMode="External"/><Relationship Id="rId4" Type="http://schemas.openxmlformats.org/officeDocument/2006/relationships/hyperlink" Target="https://www.facebook.com/SoftwareUniversity" TargetMode="External"/><Relationship Id="rId9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13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pic>
        <p:nvPicPr>
          <p:cNvPr id="15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80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27326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9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12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407092" y="1951568"/>
            <a:ext cx="1622252" cy="2986958"/>
            <a:chOff x="4137770" y="1871132"/>
            <a:chExt cx="1532491" cy="282168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4137770" y="1871132"/>
              <a:ext cx="1532491" cy="2127757"/>
              <a:chOff x="3426570" y="2482849"/>
              <a:chExt cx="1532491" cy="2127757"/>
            </a:xfrm>
          </p:grpSpPr>
          <p:sp>
            <p:nvSpPr>
              <p:cNvPr id="47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Arc 48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5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055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2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230725"/>
            <a:chOff x="3928039" y="1792355"/>
            <a:chExt cx="1830304" cy="268250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61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62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63" name="Arc 62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64" name="Arc 63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29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0247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5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60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61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62" name="Arc 61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63" name="Arc 62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47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48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 userDrawn="1"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73268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12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3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6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85054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16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7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21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sp>
        <p:nvSpPr>
          <p:cNvPr id="16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7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8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u="sng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Click to edit Master title style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37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8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39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40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41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4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43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44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4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46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pic>
        <p:nvPicPr>
          <p:cNvPr id="5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549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9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7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8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8"/>
              </a:rPr>
              <a:t>softuni.bg</a:t>
            </a:r>
            <a:endParaRPr lang="en-US" noProof="1"/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10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4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2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  <p:pic>
        <p:nvPicPr>
          <p:cNvPr id="14" name="Picture Forum" descr="Forum icon">
            <a:hlinkClick r:id="rId2" tooltip="Software University Discussion Forum"/>
            <a:extLst>
              <a:ext uri="{FF2B5EF4-FFF2-40B4-BE49-F238E27FC236}">
                <a16:creationId xmlns:a16="http://schemas.microsoft.com/office/drawing/2014/main" id="{98C579AD-FAF5-4B28-9B52-5457F1E9006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4350" y="5249556"/>
            <a:ext cx="970156" cy="965726"/>
          </a:xfrm>
          <a:prstGeom prst="rect">
            <a:avLst/>
          </a:prstGeom>
        </p:spPr>
      </p:pic>
      <p:pic>
        <p:nvPicPr>
          <p:cNvPr id="15" name="Picture Logo FB" descr="Facebook logo">
            <a:hlinkClick r:id="rId4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3689937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Logo SoftUni Right" descr="Software University logo">
            <a:hlinkClick r:id="rId6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sp>
        <p:nvSpPr>
          <p:cNvPr id="22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23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470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83" r:id="rId8"/>
    <p:sldLayoutId id="2147483685" r:id="rId9"/>
    <p:sldLayoutId id="2147483686" r:id="rId10"/>
    <p:sldLayoutId id="2147483687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pic>
        <p:nvPicPr>
          <p:cNvPr id="5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0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judge.softuni.bg/Contests/1497/Encapsulation-Lab" TargetMode="Externa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1497/Encapsulation-Lab" TargetMode="Externa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1497/Encapsulation-Lab" TargetMode="Externa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1497/Encapsulation-Lab" TargetMode="Externa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1497/Encapsulation-Lab" TargetMode="Externa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1497/Encapsulation-Lab" TargetMode="Externa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3.wd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1497/Encapsulation-Lab" TargetMode="Externa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1497/Encapsulation-Lab" TargetMode="Externa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4.wdp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bg/Contests/1497/Encapsulation-Lab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1497/Encapsulation-Lab" TargetMode="Externa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1497/Encapsulation-Lab" TargetMode="Externa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7" Type="http://schemas.openxmlformats.org/officeDocument/2006/relationships/hyperlink" Target="https://forum.softuni.bg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7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https://softuni.bg</a:t>
            </a:r>
            <a:endParaRPr lang="en-US" dirty="0"/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0" y="5270641"/>
            <a:ext cx="3187700" cy="4445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bg-BG" dirty="0"/>
              <a:t>       </a:t>
            </a:r>
            <a:r>
              <a:rPr lang="en-US" sz="3100" b="1" dirty="0"/>
              <a:t>Technical Trainers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0" y="4745178"/>
            <a:ext cx="3465526" cy="525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dirty="0"/>
              <a:t>      </a:t>
            </a:r>
            <a:r>
              <a:rPr lang="en-US" b="1" dirty="0"/>
              <a:t>SoftUni Team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065254" y="1158163"/>
            <a:ext cx="7294547" cy="882654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dirty="0"/>
              <a:t>Benefits of Encapsulation</a:t>
            </a:r>
            <a:endParaRPr lang="en-US" sz="300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162240" y="179602"/>
            <a:ext cx="5100573" cy="882654"/>
          </a:xfrm>
        </p:spPr>
        <p:txBody>
          <a:bodyPr>
            <a:normAutofit/>
          </a:bodyPr>
          <a:lstStyle/>
          <a:p>
            <a:r>
              <a:rPr lang="en-US" dirty="0"/>
              <a:t>Encapsulation</a:t>
            </a:r>
          </a:p>
        </p:txBody>
      </p:sp>
      <p:sp>
        <p:nvSpPr>
          <p:cNvPr id="11" name="TextBox 10"/>
          <p:cNvSpPr txBox="1"/>
          <p:nvPr/>
        </p:nvSpPr>
        <p:spPr>
          <a:xfrm rot="18702437">
            <a:off x="4456998" y="4084014"/>
            <a:ext cx="1688043" cy="66836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dirty="0">
                <a:solidFill>
                  <a:schemeClr val="bg2"/>
                </a:solidFill>
              </a:rPr>
              <a:t>variables</a:t>
            </a:r>
            <a:endParaRPr lang="bg-BG" sz="2800" b="1" dirty="0">
              <a:solidFill>
                <a:schemeClr val="bg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67" y="2425986"/>
            <a:ext cx="1900365" cy="1900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9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328B3D4B-A8A5-4EFC-91B7-56494FB00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23939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Encapsulation?</a:t>
            </a:r>
          </a:p>
          <a:p>
            <a:r>
              <a:rPr lang="en-US" dirty="0"/>
              <a:t>Keyword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this</a:t>
            </a:r>
          </a:p>
          <a:p>
            <a:r>
              <a:rPr lang="en-US" dirty="0"/>
              <a:t>Access Modifiers</a:t>
            </a:r>
          </a:p>
          <a:p>
            <a:r>
              <a:rPr lang="en-US" dirty="0"/>
              <a:t>State Validation</a:t>
            </a:r>
          </a:p>
          <a:p>
            <a:r>
              <a:rPr lang="en-US" dirty="0"/>
              <a:t>Mutable and Immutable Objects</a:t>
            </a:r>
          </a:p>
          <a:p>
            <a:endParaRPr lang="en-US" noProof="1"/>
          </a:p>
        </p:txBody>
      </p:sp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6503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38DAA36C-37BF-4A44-A648-C507CCCAA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73037" y="1347788"/>
            <a:ext cx="11804650" cy="53736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bg-BG" b="1" dirty="0"/>
          </a:p>
          <a:p>
            <a:pPr marL="0" indent="0" algn="ctr">
              <a:buNone/>
            </a:pPr>
            <a:r>
              <a:rPr lang="en-US" sz="7200" b="1" u="sng" dirty="0">
                <a:solidFill>
                  <a:schemeClr val="bg1"/>
                </a:solidFill>
              </a:rPr>
              <a:t>sli.do</a:t>
            </a:r>
            <a:r>
              <a:rPr lang="en-US" sz="6000" b="1" dirty="0"/>
              <a:t/>
            </a:r>
            <a:br>
              <a:rPr lang="en-US" sz="6000" b="1" dirty="0"/>
            </a:br>
            <a:r>
              <a:rPr lang="en-US" sz="11500" b="1" dirty="0"/>
              <a:t>#</a:t>
            </a:r>
            <a:r>
              <a:rPr lang="en-US" sz="11500" b="1" noProof="1"/>
              <a:t>csharp-advanced</a:t>
            </a:r>
            <a:endParaRPr lang="en-US" noProof="1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40516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111" y="1194791"/>
            <a:ext cx="2975889" cy="2975889"/>
          </a:xfrm>
          <a:prstGeom prst="rect">
            <a:avLst/>
          </a:prstGeom>
        </p:spPr>
      </p:pic>
      <p:sp>
        <p:nvSpPr>
          <p:cNvPr id="8" name="Subtitle 7">
            <a:extLst>
              <a:ext uri="{FF2B5EF4-FFF2-40B4-BE49-F238E27FC236}">
                <a16:creationId xmlns:a16="http://schemas.microsoft.com/office/drawing/2014/main" id="{798A6F21-224B-4098-B560-161DC35A8F3E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 Hiding Implementation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0486905-80AF-4B7E-BC5B-2EBA1C26D4B9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/>
              <a:t>Encapsulation</a:t>
            </a:r>
          </a:p>
        </p:txBody>
      </p:sp>
    </p:spTree>
    <p:extLst>
      <p:ext uri="{BB962C8B-B14F-4D97-AF65-F5344CB8AC3E}">
        <p14:creationId xmlns:p14="http://schemas.microsoft.com/office/powerpoint/2010/main" val="338621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7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2062766" y="1108911"/>
            <a:ext cx="10129234" cy="5546589"/>
          </a:xfrm>
        </p:spPr>
        <p:txBody>
          <a:bodyPr/>
          <a:lstStyle/>
          <a:p>
            <a:r>
              <a:rPr lang="en-US" sz="3400" dirty="0"/>
              <a:t>Process of wrapping code and data together </a:t>
            </a:r>
            <a:br>
              <a:rPr lang="en-US" sz="3400" dirty="0"/>
            </a:br>
            <a:r>
              <a:rPr lang="en-US" sz="3400" dirty="0"/>
              <a:t>into a </a:t>
            </a:r>
            <a:r>
              <a:rPr lang="en-US" sz="3400" b="1" dirty="0">
                <a:solidFill>
                  <a:schemeClr val="bg1"/>
                </a:solidFill>
              </a:rPr>
              <a:t>single</a:t>
            </a:r>
            <a:r>
              <a:rPr lang="en-US" sz="3400" dirty="0"/>
              <a:t> </a:t>
            </a:r>
            <a:r>
              <a:rPr lang="en-US" sz="3400" b="1" dirty="0">
                <a:solidFill>
                  <a:schemeClr val="bg1"/>
                </a:solidFill>
              </a:rPr>
              <a:t>unit</a:t>
            </a:r>
          </a:p>
          <a:p>
            <a:r>
              <a:rPr lang="en-GB" sz="3400" dirty="0"/>
              <a:t>Flexibility and extensibility of the code</a:t>
            </a:r>
            <a:endParaRPr lang="en-US" sz="3400" dirty="0"/>
          </a:p>
          <a:p>
            <a:r>
              <a:rPr lang="en-US" sz="3400" dirty="0"/>
              <a:t>Reduces </a:t>
            </a:r>
            <a:r>
              <a:rPr lang="en-US" sz="3400" b="1" dirty="0">
                <a:solidFill>
                  <a:schemeClr val="bg1"/>
                </a:solidFill>
              </a:rPr>
              <a:t>complexity</a:t>
            </a:r>
          </a:p>
          <a:p>
            <a:r>
              <a:rPr lang="en-US" sz="3400" dirty="0"/>
              <a:t>Structural changes remain </a:t>
            </a:r>
            <a:r>
              <a:rPr lang="en-US" sz="3400" b="1" dirty="0">
                <a:solidFill>
                  <a:schemeClr val="bg1"/>
                </a:solidFill>
              </a:rPr>
              <a:t>local</a:t>
            </a:r>
          </a:p>
          <a:p>
            <a:r>
              <a:rPr lang="en-US" sz="3400" dirty="0"/>
              <a:t>Allows</a:t>
            </a:r>
            <a:r>
              <a:rPr lang="en-US" sz="34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400" b="1" dirty="0">
                <a:solidFill>
                  <a:schemeClr val="bg1"/>
                </a:solidFill>
              </a:rPr>
              <a:t>validation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400" dirty="0"/>
              <a:t>and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400" b="1" dirty="0">
                <a:solidFill>
                  <a:schemeClr val="bg1"/>
                </a:solidFill>
              </a:rPr>
              <a:t>data binding</a:t>
            </a:r>
            <a:endParaRPr lang="bg-BG" sz="3400" b="1" dirty="0">
              <a:solidFill>
                <a:schemeClr val="bg1"/>
              </a:solidFill>
            </a:endParaRPr>
          </a:p>
          <a:p>
            <a:endParaRPr lang="bg-BG" sz="3200" dirty="0"/>
          </a:p>
          <a:p>
            <a:endParaRPr lang="bg-BG" dirty="0"/>
          </a:p>
          <a:p>
            <a:endParaRPr lang="en-US" dirty="0"/>
          </a:p>
        </p:txBody>
      </p:sp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  <a:endParaRPr lang="bg-BG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5E5A0B4-3E00-4A09-9ECD-90B09D8451ED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248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5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Fields should be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private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Aft>
                <a:spcPts val="2400"/>
              </a:spcAft>
            </a:pPr>
            <a:endParaRPr lang="en-US" dirty="0"/>
          </a:p>
          <a:p>
            <a:endParaRPr lang="en-GB" dirty="0"/>
          </a:p>
          <a:p>
            <a:r>
              <a:rPr lang="en-GB" dirty="0"/>
              <a:t>Properties should be </a:t>
            </a:r>
            <a:r>
              <a:rPr lang="en-GB" b="1" dirty="0">
                <a:solidFill>
                  <a:schemeClr val="bg1"/>
                </a:solidFill>
                <a:latin typeface="Consolas" panose="020B0609020204030204" pitchFamily="49" charset="0"/>
              </a:rPr>
              <a:t>public</a:t>
            </a:r>
          </a:p>
          <a:p>
            <a:endParaRPr lang="bg-BG" dirty="0"/>
          </a:p>
        </p:txBody>
      </p:sp>
      <p:sp>
        <p:nvSpPr>
          <p:cNvPr id="80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Encapsulation – Example</a:t>
            </a:r>
            <a:endParaRPr lang="bg-BG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2809DB7-0C99-48BB-81BC-AA20BF94CAE4}"/>
              </a:ext>
            </a:extLst>
          </p:cNvPr>
          <p:cNvGrpSpPr/>
          <p:nvPr/>
        </p:nvGrpSpPr>
        <p:grpSpPr>
          <a:xfrm>
            <a:off x="2585193" y="1815456"/>
            <a:ext cx="6036284" cy="3407982"/>
            <a:chOff x="2478562" y="1839196"/>
            <a:chExt cx="6036284" cy="3407982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2478562" y="1839196"/>
              <a:ext cx="6036284" cy="586993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3963" tIns="107972" rIns="143963" bIns="107972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Person</a:t>
              </a: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478562" y="2435255"/>
              <a:ext cx="6036284" cy="1109707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3963" tIns="107972" rIns="143963" bIns="107972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-name: string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-age: int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2478562" y="3552695"/>
              <a:ext cx="6036284" cy="1694483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3963" tIns="107972" rIns="143963" bIns="107972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+Person(string name, int age)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+Name: string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+Age: int</a:t>
              </a:r>
            </a:p>
          </p:txBody>
        </p:sp>
      </p:grp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7682076" y="2613820"/>
            <a:ext cx="1878799" cy="600541"/>
          </a:xfrm>
          <a:prstGeom prst="wedgeRoundRectCallout">
            <a:avLst>
              <a:gd name="adj1" fmla="val 9082"/>
              <a:gd name="adj2" fmla="val -1396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</a:rPr>
              <a:t>- == private</a:t>
            </a: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7682076" y="4032177"/>
            <a:ext cx="1878799" cy="609600"/>
          </a:xfrm>
          <a:prstGeom prst="wedgeRoundRectCallout">
            <a:avLst>
              <a:gd name="adj1" fmla="val 25961"/>
              <a:gd name="adj2" fmla="val -131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noProof="1">
                <a:solidFill>
                  <a:srgbClr val="FFFFFF"/>
                </a:solidFill>
              </a:rPr>
              <a:t>+ == public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182760" y="5349105"/>
            <a:ext cx="6036284" cy="596059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endParaRPr lang="bg-BG" dirty="0">
              <a:solidFill>
                <a:schemeClr val="bg1"/>
              </a:solidFill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A5510F21-38CD-45D7-8104-9F547B3568C8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71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2062766" y="1108911"/>
            <a:ext cx="10129234" cy="5546589"/>
          </a:xfrm>
        </p:spPr>
        <p:txBody>
          <a:bodyPr>
            <a:normAutofit/>
          </a:bodyPr>
          <a:lstStyle/>
          <a:p>
            <a:r>
              <a:rPr lang="en-US" dirty="0"/>
              <a:t>Reference to the </a:t>
            </a:r>
            <a:r>
              <a:rPr lang="en-US" b="1" dirty="0">
                <a:solidFill>
                  <a:schemeClr val="bg1"/>
                </a:solidFill>
              </a:rPr>
              <a:t>current object</a:t>
            </a:r>
          </a:p>
          <a:p>
            <a:r>
              <a:rPr lang="en-US" dirty="0"/>
              <a:t>Refers to the </a:t>
            </a:r>
            <a:r>
              <a:rPr lang="en-US" b="1" dirty="0">
                <a:solidFill>
                  <a:schemeClr val="bg1"/>
                </a:solidFill>
              </a:rPr>
              <a:t>current instance</a:t>
            </a:r>
            <a:r>
              <a:rPr lang="en-US" dirty="0"/>
              <a:t> of the class</a:t>
            </a:r>
          </a:p>
          <a:p>
            <a:r>
              <a:rPr lang="en-US" dirty="0"/>
              <a:t>Can be passed as a </a:t>
            </a:r>
            <a:r>
              <a:rPr lang="en-US" b="1" dirty="0">
                <a:solidFill>
                  <a:schemeClr val="bg1"/>
                </a:solidFill>
              </a:rPr>
              <a:t>parameter to other methods</a:t>
            </a:r>
          </a:p>
          <a:p>
            <a:r>
              <a:rPr lang="en-US" dirty="0"/>
              <a:t>Can be </a:t>
            </a:r>
            <a:r>
              <a:rPr lang="en-US" b="1" dirty="0">
                <a:solidFill>
                  <a:schemeClr val="bg1"/>
                </a:solidFill>
              </a:rPr>
              <a:t>returned</a:t>
            </a:r>
            <a:r>
              <a:rPr lang="en-US" dirty="0"/>
              <a:t> from method</a:t>
            </a:r>
          </a:p>
          <a:p>
            <a:r>
              <a:rPr lang="en-US" dirty="0"/>
              <a:t>Can invoke </a:t>
            </a:r>
            <a:r>
              <a:rPr lang="en-US" b="1" dirty="0">
                <a:solidFill>
                  <a:schemeClr val="bg1"/>
                </a:solidFill>
              </a:rPr>
              <a:t>current class methods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Keyword This</a:t>
            </a:r>
            <a:endParaRPr lang="bg-BG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1447DBA-FF8F-4E05-8FD0-3325A170362A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69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6F4388F-43A3-4542-AA3F-B0DFB5691C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534" y="1385091"/>
            <a:ext cx="2478932" cy="2478932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A6487C7E-8DD7-423A-89A5-326D0B0DF3E3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Visibility of Class Members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C37359-A412-4D0E-9DAA-B5E1934E74D6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 smtClean="0"/>
              <a:t>Access Modifiers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11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7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2065510" y="1121144"/>
            <a:ext cx="9929724" cy="5362783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tx1"/>
              </a:buClr>
            </a:pPr>
            <a:r>
              <a:rPr lang="en-US" sz="3500" dirty="0"/>
              <a:t>It's the main way to perform encapsulation and hide </a:t>
            </a:r>
            <a:br>
              <a:rPr lang="en-US" sz="3500" dirty="0"/>
            </a:br>
            <a:r>
              <a:rPr lang="en-US" sz="3500" dirty="0"/>
              <a:t>data from the outside world</a:t>
            </a:r>
          </a:p>
          <a:p>
            <a:pPr>
              <a:buClr>
                <a:schemeClr val="tx1"/>
              </a:buClr>
            </a:pPr>
            <a:endParaRPr lang="en-US" sz="3500" dirty="0"/>
          </a:p>
          <a:p>
            <a:pPr>
              <a:buClr>
                <a:schemeClr val="tx1"/>
              </a:buClr>
            </a:pPr>
            <a:endParaRPr lang="en-US" sz="3500" dirty="0"/>
          </a:p>
          <a:p>
            <a:pPr>
              <a:buClr>
                <a:schemeClr val="tx1"/>
              </a:buClr>
            </a:pPr>
            <a:endParaRPr lang="en-US" sz="3500" dirty="0"/>
          </a:p>
          <a:p>
            <a:pPr>
              <a:buClr>
                <a:schemeClr val="tx1"/>
              </a:buClr>
            </a:pPr>
            <a:endParaRPr lang="en-US" sz="3500" dirty="0"/>
          </a:p>
          <a:p>
            <a:pPr>
              <a:buClr>
                <a:schemeClr val="tx1"/>
              </a:buClr>
            </a:pPr>
            <a:r>
              <a:rPr lang="en-US" sz="3500" dirty="0"/>
              <a:t>The default field and method modifier is</a:t>
            </a:r>
            <a:r>
              <a:rPr lang="en-US" sz="3500" b="1" dirty="0">
                <a:solidFill>
                  <a:schemeClr val="bg1"/>
                </a:solidFill>
              </a:rPr>
              <a:t> </a:t>
            </a:r>
            <a:r>
              <a:rPr lang="en-US" sz="3500" b="1" dirty="0">
                <a:solidFill>
                  <a:schemeClr val="bg1"/>
                </a:solidFill>
                <a:latin typeface="Consolas" panose="020B0609020204030204" pitchFamily="49" charset="0"/>
              </a:rPr>
              <a:t>private</a:t>
            </a:r>
            <a:endParaRPr lang="en-US" sz="3500" dirty="0"/>
          </a:p>
          <a:p>
            <a:pPr>
              <a:buClr>
                <a:schemeClr val="tx1"/>
              </a:buClr>
            </a:pPr>
            <a:r>
              <a:rPr lang="en-US" sz="3500" dirty="0"/>
              <a:t>Avoid declaring private classes and interfaces</a:t>
            </a:r>
          </a:p>
          <a:p>
            <a:pPr lvl="1">
              <a:buClr>
                <a:schemeClr val="tx1"/>
              </a:buClr>
            </a:pPr>
            <a:r>
              <a:rPr lang="en-US" sz="3200" dirty="0"/>
              <a:t>accessible only within the declared class itself</a:t>
            </a:r>
          </a:p>
        </p:txBody>
      </p:sp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Private Access Modifier</a:t>
            </a:r>
            <a:endParaRPr lang="bg-B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A5EF0E-CF88-4AB7-B05F-34E73BF07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1000" y="2304000"/>
            <a:ext cx="4674790" cy="215525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3963" tIns="107972" rIns="143963" bIns="107972" rtlCol="0">
            <a:spAutoFit/>
          </a:bodyPr>
          <a:lstStyle/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private string name;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Person (string name) {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  this.name = name;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D83AB66-75B2-445E-956C-3DFFF69ED1C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44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7" name="Rectangle 3"/>
          <p:cNvSpPr>
            <a:spLocks noGrp="1" noChangeArrowheads="1"/>
          </p:cNvSpPr>
          <p:nvPr>
            <p:ph type="body" sz="quarter" idx="10"/>
          </p:nvPr>
        </p:nvSpPr>
        <p:spPr>
          <a:xfrm>
            <a:off x="1807503" y="960411"/>
            <a:ext cx="10129234" cy="5546589"/>
          </a:xfrm>
        </p:spPr>
        <p:txBody>
          <a:bodyPr>
            <a:normAutofit/>
          </a:bodyPr>
          <a:lstStyle/>
          <a:p>
            <a:r>
              <a:rPr lang="en-GB" sz="3200" dirty="0"/>
              <a:t>The most </a:t>
            </a:r>
            <a:r>
              <a:rPr lang="en-GB" sz="3200" b="1" dirty="0">
                <a:solidFill>
                  <a:schemeClr val="bg1"/>
                </a:solidFill>
              </a:rPr>
              <a:t>permissive</a:t>
            </a:r>
            <a:r>
              <a:rPr lang="en-GB" sz="3200" dirty="0"/>
              <a:t> access level</a:t>
            </a:r>
          </a:p>
          <a:p>
            <a:r>
              <a:rPr lang="en-GB" sz="3200" dirty="0"/>
              <a:t>There are </a:t>
            </a:r>
            <a:r>
              <a:rPr lang="en-GB" sz="3200" b="1" dirty="0">
                <a:solidFill>
                  <a:schemeClr val="bg1"/>
                </a:solidFill>
              </a:rPr>
              <a:t>no restrictions </a:t>
            </a:r>
            <a:r>
              <a:rPr lang="en-GB" sz="3200" dirty="0"/>
              <a:t>on accessing public</a:t>
            </a:r>
            <a:r>
              <a:rPr lang="bg-BG" sz="3200" dirty="0"/>
              <a:t> </a:t>
            </a:r>
            <a:r>
              <a:rPr lang="en-GB" sz="3200" dirty="0"/>
              <a:t>members</a:t>
            </a:r>
          </a:p>
          <a:p>
            <a:endParaRPr lang="en-GB" sz="3200" dirty="0"/>
          </a:p>
          <a:p>
            <a:endParaRPr lang="en-GB" sz="3200" dirty="0"/>
          </a:p>
          <a:p>
            <a:endParaRPr lang="en-GB" sz="3200" dirty="0"/>
          </a:p>
          <a:p>
            <a:endParaRPr lang="en-GB" sz="3200" dirty="0"/>
          </a:p>
          <a:p>
            <a:r>
              <a:rPr lang="en-GB" sz="3200" dirty="0"/>
              <a:t>To access class directly from a namespace</a:t>
            </a:r>
            <a:br>
              <a:rPr lang="en-GB" sz="3200" dirty="0"/>
            </a:br>
            <a:r>
              <a:rPr lang="en-GB" sz="3200" dirty="0"/>
              <a:t>use the </a:t>
            </a:r>
            <a:r>
              <a:rPr lang="en-GB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using</a:t>
            </a:r>
            <a:r>
              <a:rPr lang="en-GB" sz="3200" dirty="0"/>
              <a:t> keyword to include the namespace</a:t>
            </a:r>
          </a:p>
        </p:txBody>
      </p:sp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Public Access Modifier</a:t>
            </a:r>
            <a:endParaRPr lang="bg-BG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361000" y="2529000"/>
            <a:ext cx="6788148" cy="215525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3963" tIns="107972" rIns="143963" bIns="107972" rtlCol="0">
            <a:spAutoFit/>
          </a:bodyPr>
          <a:lstStyle/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public class Person {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  public string Name { get; set; }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  public int Age { get; set; }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E043DCB0-C339-4A78-980F-656C49A12FF1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25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867" name="Rectangle 3"/>
          <p:cNvSpPr>
            <a:spLocks noGrp="1" noChangeArrowheads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internal</a:t>
            </a:r>
            <a:r>
              <a:rPr lang="en-US" sz="3400" dirty="0"/>
              <a:t> is the </a:t>
            </a:r>
            <a:r>
              <a:rPr lang="en-US" sz="3400" b="1" dirty="0">
                <a:solidFill>
                  <a:schemeClr val="bg1"/>
                </a:solidFill>
              </a:rPr>
              <a:t>default</a:t>
            </a:r>
            <a:r>
              <a:rPr lang="en-US" sz="3400" dirty="0"/>
              <a:t> class access modifier</a:t>
            </a:r>
          </a:p>
          <a:p>
            <a:endParaRPr lang="en-US" sz="3400" dirty="0"/>
          </a:p>
          <a:p>
            <a:endParaRPr lang="en-US" sz="3400" dirty="0"/>
          </a:p>
          <a:p>
            <a:pPr marL="0" indent="0">
              <a:buNone/>
            </a:pPr>
            <a:endParaRPr lang="en-US" sz="3400" dirty="0"/>
          </a:p>
          <a:p>
            <a:r>
              <a:rPr lang="en-US" sz="3400" dirty="0"/>
              <a:t>Accessible to any other class in the same project</a:t>
            </a:r>
          </a:p>
        </p:txBody>
      </p:sp>
      <p:sp>
        <p:nvSpPr>
          <p:cNvPr id="80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Internal Access Modifier</a:t>
            </a:r>
            <a:endParaRPr lang="bg-BG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666596" y="1750717"/>
            <a:ext cx="6613592" cy="2155250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3963" tIns="107972" rIns="143963" bIns="107972" rtlCol="0">
            <a:spAutoFit/>
          </a:bodyPr>
          <a:lstStyle/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class Person {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   internal string Name { get; set; }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   internal int Age { get; set; }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666596" y="4573488"/>
            <a:ext cx="6613592" cy="110970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3963" tIns="107972" rIns="143963" bIns="107972" rtlCol="0">
            <a:spAutoFit/>
          </a:bodyPr>
          <a:lstStyle/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Team rm = new Team("Real");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rm.Name</a:t>
            </a:r>
            <a:r>
              <a:rPr lang="bg-BG" sz="2397" b="1" noProof="1">
                <a:latin typeface="Consolas" pitchFamily="49" charset="0"/>
                <a:cs typeface="Consolas" pitchFamily="49" charset="0"/>
              </a:rPr>
              <a:t> = </a:t>
            </a:r>
            <a:r>
              <a:rPr lang="en-US" sz="2397" b="1" noProof="1">
                <a:latin typeface="Consolas" pitchFamily="49" charset="0"/>
                <a:cs typeface="Consolas" pitchFamily="49" charset="0"/>
              </a:rPr>
              <a:t>"Real Madrid";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614A2B5-B2C3-4281-BB5B-646A223DAA47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3FE7292C-30A4-483D-8E09-07C4BCCAE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Create a class </a:t>
            </a:r>
            <a:r>
              <a:rPr lang="en-US" sz="3600" b="1" dirty="0">
                <a:solidFill>
                  <a:schemeClr val="bg1"/>
                </a:solidFill>
                <a:latin typeface="Consolas" panose="020B0609020204030204" pitchFamily="49" charset="0"/>
              </a:rPr>
              <a:t>Person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Sort Persons by Name and Age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2385531" y="2811688"/>
            <a:ext cx="5115794" cy="2292150"/>
            <a:chOff x="-306388" y="2138257"/>
            <a:chExt cx="3137848" cy="2292150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-306388" y="2138257"/>
              <a:ext cx="3137848" cy="586993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3963" tIns="107972" rIns="143963" bIns="107972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Person</a:t>
              </a:r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-306388" y="2735924"/>
              <a:ext cx="3137848" cy="1694483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3963" tIns="107972" rIns="143963" bIns="107972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+FirstName():string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+Age():int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+toString():string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106464" y="345311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bg-BG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538661-1010-4625-98CF-B9589C5B035A}"/>
              </a:ext>
            </a:extLst>
          </p:cNvPr>
          <p:cNvSpPr txBox="1"/>
          <p:nvPr/>
        </p:nvSpPr>
        <p:spPr>
          <a:xfrm>
            <a:off x="760412" y="6315652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</a:t>
            </a:r>
            <a:r>
              <a:rPr lang="bg-BG" dirty="0"/>
              <a:t> </a:t>
            </a:r>
            <a:r>
              <a:rPr lang="en-US" dirty="0">
                <a:hlinkClick r:id="rId2"/>
              </a:rPr>
              <a:t>https://judge.softuni.bg/Contests/1497/Encapsulation-Lab</a:t>
            </a:r>
            <a:endParaRPr lang="en-US" dirty="0"/>
          </a:p>
        </p:txBody>
      </p:sp>
      <p:pic>
        <p:nvPicPr>
          <p:cNvPr id="19" name="Picture 2" descr="https://www.iconspng.com/uploads/man-hello/man-hello.png">
            <a:extLst>
              <a:ext uri="{FF2B5EF4-FFF2-40B4-BE49-F238E27FC236}">
                <a16:creationId xmlns:a16="http://schemas.microsoft.com/office/drawing/2014/main" id="{25465F78-A018-483D-8312-A67022D5F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618" y="1800934"/>
            <a:ext cx="2091814" cy="3991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05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345E60CC-E554-42B9-ADFC-4580AFC51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Sort Persons by Name and Age</a:t>
            </a:r>
            <a:r>
              <a:rPr lang="bg-BG" dirty="0"/>
              <a:t> (1)</a:t>
            </a:r>
          </a:p>
        </p:txBody>
      </p:sp>
      <p:sp>
        <p:nvSpPr>
          <p:cNvPr id="9" name="Text Placeholder 5"/>
          <p:cNvSpPr txBox="1">
            <a:spLocks/>
          </p:cNvSpPr>
          <p:nvPr/>
        </p:nvSpPr>
        <p:spPr>
          <a:xfrm>
            <a:off x="875745" y="1432809"/>
            <a:ext cx="10461006" cy="476910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3963" tIns="107972" rIns="143963" bIns="107972" rtlCol="0">
            <a:spAutoFit/>
          </a:bodyPr>
          <a:lstStyle>
            <a:defPPr>
              <a:defRPr lang="en-US"/>
            </a:defPPr>
            <a:lvl1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397" b="1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GB" dirty="0"/>
              <a:t>public class </a:t>
            </a:r>
            <a:r>
              <a:rPr lang="en-GB" dirty="0">
                <a:solidFill>
                  <a:schemeClr val="bg1"/>
                </a:solidFill>
              </a:rPr>
              <a:t>Person</a:t>
            </a:r>
            <a:r>
              <a:rPr lang="en-GB" dirty="0"/>
              <a:t> {</a:t>
            </a:r>
          </a:p>
          <a:p>
            <a:r>
              <a:rPr lang="en-GB" dirty="0"/>
              <a:t>  </a:t>
            </a:r>
            <a:r>
              <a:rPr lang="en-GB" i="1" dirty="0">
                <a:solidFill>
                  <a:schemeClr val="accent2"/>
                </a:solidFill>
              </a:rPr>
              <a:t>//</a:t>
            </a:r>
            <a:r>
              <a:rPr lang="bg-BG" i="1" dirty="0">
                <a:solidFill>
                  <a:schemeClr val="accent2"/>
                </a:solidFill>
              </a:rPr>
              <a:t> </a:t>
            </a:r>
            <a:r>
              <a:rPr lang="en-GB" dirty="0">
                <a:solidFill>
                  <a:schemeClr val="accent2"/>
                </a:solidFill>
              </a:rPr>
              <a:t>TODO:</a:t>
            </a:r>
            <a:r>
              <a:rPr lang="en-GB" i="1" dirty="0">
                <a:solidFill>
                  <a:schemeClr val="accent2"/>
                </a:solidFill>
              </a:rPr>
              <a:t> Add a constructor</a:t>
            </a:r>
          </a:p>
          <a:p>
            <a:r>
              <a:rPr lang="en-US" dirty="0"/>
              <a:t>  public string FirstName { get; private set; }</a:t>
            </a:r>
          </a:p>
          <a:p>
            <a:r>
              <a:rPr lang="en-US" dirty="0"/>
              <a:t>  public string LastName { get; private set; }</a:t>
            </a:r>
          </a:p>
          <a:p>
            <a:r>
              <a:rPr lang="en-US" dirty="0"/>
              <a:t>  public int Age { get; private set; }</a:t>
            </a:r>
          </a:p>
          <a:p>
            <a:r>
              <a:rPr lang="en-GB" dirty="0"/>
              <a:t>  public override string ToString() {</a:t>
            </a:r>
          </a:p>
          <a:p>
            <a:r>
              <a:rPr lang="en-GB" dirty="0"/>
              <a:t>    return $"</a:t>
            </a:r>
            <a:r>
              <a:rPr lang="en-US" dirty="0"/>
              <a:t>{FirstName} {LastName} is {Age} years old.";</a:t>
            </a:r>
            <a:endParaRPr lang="en-GB" dirty="0"/>
          </a:p>
          <a:p>
            <a:r>
              <a:rPr lang="en-GB" dirty="0"/>
              <a:t>  }</a:t>
            </a:r>
          </a:p>
          <a:p>
            <a:r>
              <a:rPr lang="en-GB" dirty="0"/>
              <a:t>}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8D088-EB69-44AD-BEAA-9DAF451D2F54}"/>
              </a:ext>
            </a:extLst>
          </p:cNvPr>
          <p:cNvSpPr txBox="1"/>
          <p:nvPr/>
        </p:nvSpPr>
        <p:spPr>
          <a:xfrm>
            <a:off x="760412" y="6315652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</a:t>
            </a:r>
            <a:r>
              <a:rPr lang="bg-BG" dirty="0"/>
              <a:t> </a:t>
            </a:r>
            <a:r>
              <a:rPr lang="en-US" dirty="0">
                <a:hlinkClick r:id="rId2"/>
              </a:rPr>
              <a:t>https://judge.softuni.bg/Contests/1497/Encapsulation-Lab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37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B93540C9-5D34-4A79-8FE1-1A5662344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Sort Persons by Name and Age (2)</a:t>
            </a:r>
            <a:endParaRPr lang="bg-BG" dirty="0"/>
          </a:p>
        </p:txBody>
      </p:sp>
      <p:sp>
        <p:nvSpPr>
          <p:cNvPr id="9" name="Text Placeholder 5"/>
          <p:cNvSpPr txBox="1">
            <a:spLocks/>
          </p:cNvSpPr>
          <p:nvPr/>
        </p:nvSpPr>
        <p:spPr>
          <a:xfrm>
            <a:off x="1524327" y="1674000"/>
            <a:ext cx="9063969" cy="424633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3963" tIns="107972" rIns="143963" bIns="107972" rtlCol="0">
            <a:spAutoFit/>
          </a:bodyPr>
          <a:lstStyle>
            <a:defPPr>
              <a:defRPr lang="en-US"/>
            </a:defPPr>
            <a:lvl1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397" b="1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dirty="0"/>
              <a:t>var lines = int.Parse(Console.ReadLine());</a:t>
            </a:r>
          </a:p>
          <a:p>
            <a:r>
              <a:rPr lang="en-US" dirty="0"/>
              <a:t>var people = new List&lt;</a:t>
            </a:r>
            <a:r>
              <a:rPr lang="en-US" dirty="0">
                <a:solidFill>
                  <a:schemeClr val="bg1"/>
                </a:solidFill>
              </a:rPr>
              <a:t>Person</a:t>
            </a:r>
            <a:r>
              <a:rPr lang="en-US" dirty="0"/>
              <a:t>&gt;();</a:t>
            </a:r>
          </a:p>
          <a:p>
            <a:r>
              <a:rPr lang="en-US" dirty="0"/>
              <a:t>for (int i = 0; i &lt; lines; i++) {</a:t>
            </a:r>
          </a:p>
          <a:p>
            <a:r>
              <a:rPr lang="en-US" dirty="0"/>
              <a:t>  var cmdArgs = Console.ReadLine().Split();</a:t>
            </a:r>
          </a:p>
          <a:p>
            <a:r>
              <a:rPr lang="en-US" i="1" dirty="0">
                <a:solidFill>
                  <a:schemeClr val="accent2"/>
                </a:solidFill>
              </a:rPr>
              <a:t>  // Create variables for constructor parameters</a:t>
            </a:r>
            <a:endParaRPr lang="bg-BG" i="1" dirty="0">
              <a:solidFill>
                <a:schemeClr val="accent2"/>
              </a:solidFill>
            </a:endParaRPr>
          </a:p>
          <a:p>
            <a:r>
              <a:rPr lang="bg-BG" i="1" dirty="0">
                <a:solidFill>
                  <a:schemeClr val="accent2"/>
                </a:solidFill>
              </a:rPr>
              <a:t>  // </a:t>
            </a:r>
            <a:r>
              <a:rPr lang="en-US" i="1" dirty="0">
                <a:solidFill>
                  <a:schemeClr val="accent2"/>
                </a:solidFill>
              </a:rPr>
              <a:t>Initialize a Person</a:t>
            </a:r>
          </a:p>
          <a:p>
            <a:r>
              <a:rPr lang="en-US" i="1" dirty="0">
                <a:solidFill>
                  <a:schemeClr val="accent2"/>
                </a:solidFill>
              </a:rPr>
              <a:t>  // Add it to the list</a:t>
            </a:r>
          </a:p>
          <a:p>
            <a:r>
              <a:rPr lang="en-US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8D088-EB69-44AD-BEAA-9DAF451D2F54}"/>
              </a:ext>
            </a:extLst>
          </p:cNvPr>
          <p:cNvSpPr txBox="1"/>
          <p:nvPr/>
        </p:nvSpPr>
        <p:spPr>
          <a:xfrm>
            <a:off x="760412" y="6315652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</a:t>
            </a:r>
            <a:r>
              <a:rPr lang="bg-BG" dirty="0"/>
              <a:t> </a:t>
            </a:r>
            <a:r>
              <a:rPr lang="en-US" dirty="0">
                <a:hlinkClick r:id="rId2"/>
              </a:rPr>
              <a:t>https://judge.softuni.bg/Contests/1497/Encapsulation-Lab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17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C674939-F757-4B19-A36C-05BA37114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Sort Persons by Name and Age (3)</a:t>
            </a:r>
            <a:endParaRPr lang="bg-BG" dirty="0"/>
          </a:p>
        </p:txBody>
      </p:sp>
      <p:sp>
        <p:nvSpPr>
          <p:cNvPr id="9" name="Text Placeholder 5"/>
          <p:cNvSpPr txBox="1">
            <a:spLocks/>
          </p:cNvSpPr>
          <p:nvPr/>
        </p:nvSpPr>
        <p:spPr>
          <a:xfrm>
            <a:off x="1524327" y="2387461"/>
            <a:ext cx="9063969" cy="304690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3963" tIns="107972" rIns="143963" bIns="107972" rtlCol="0">
            <a:spAutoFit/>
          </a:bodyPr>
          <a:lstStyle>
            <a:defPPr>
              <a:defRPr lang="en-US"/>
            </a:defPPr>
            <a:lvl1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397" b="1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i="1" noProof="1">
                <a:solidFill>
                  <a:schemeClr val="accent2"/>
                </a:solidFill>
              </a:rPr>
              <a:t>//continued from previous slide</a:t>
            </a:r>
          </a:p>
          <a:p>
            <a:r>
              <a:rPr lang="en-US" noProof="1"/>
              <a:t>var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sorted</a:t>
            </a:r>
            <a:r>
              <a:rPr lang="en-US" dirty="0"/>
              <a:t> = people.OrderBy(p =&gt; p.FirstName)</a:t>
            </a:r>
          </a:p>
          <a:p>
            <a:r>
              <a:rPr lang="en-US" dirty="0"/>
              <a:t>  .ThenBy(p =&gt; p.Age).ToList();</a:t>
            </a:r>
          </a:p>
          <a:p>
            <a:endParaRPr lang="en-US" i="1" dirty="0">
              <a:solidFill>
                <a:schemeClr val="accent2"/>
              </a:solidFill>
            </a:endParaRPr>
          </a:p>
          <a:p>
            <a:r>
              <a:rPr lang="en-US" noProof="1"/>
              <a:t>Console.WriteLine(string.Join(</a:t>
            </a:r>
            <a:br>
              <a:rPr lang="en-US" noProof="1"/>
            </a:br>
            <a:r>
              <a:rPr lang="en-US" noProof="1"/>
              <a:t>  Environment.NewLine, sorted));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8D088-EB69-44AD-BEAA-9DAF451D2F54}"/>
              </a:ext>
            </a:extLst>
          </p:cNvPr>
          <p:cNvSpPr txBox="1"/>
          <p:nvPr/>
        </p:nvSpPr>
        <p:spPr>
          <a:xfrm>
            <a:off x="760412" y="6315652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</a:t>
            </a:r>
            <a:r>
              <a:rPr lang="bg-BG" dirty="0"/>
              <a:t> </a:t>
            </a:r>
            <a:r>
              <a:rPr lang="en-US" dirty="0">
                <a:hlinkClick r:id="rId2"/>
              </a:rPr>
              <a:t>https://judge.softuni.bg/Contests/1497/Encapsulation-Lab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4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>
            <a:extLst>
              <a:ext uri="{FF2B5EF4-FFF2-40B4-BE49-F238E27FC236}">
                <a16:creationId xmlns:a16="http://schemas.microsoft.com/office/drawing/2014/main" id="{DA2455D6-80B2-49F9-983D-466E081E0F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18096" cy="3988217"/>
          </a:xfrm>
        </p:spPr>
        <p:txBody>
          <a:bodyPr>
            <a:normAutofit/>
          </a:bodyPr>
          <a:lstStyle/>
          <a:p>
            <a:r>
              <a:rPr lang="en-US" sz="3400" dirty="0"/>
              <a:t>Expand 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Person</a:t>
            </a:r>
            <a:r>
              <a:rPr lang="en-US" sz="3400" dirty="0"/>
              <a:t> with 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salary</a:t>
            </a:r>
          </a:p>
          <a:p>
            <a:r>
              <a:rPr lang="en-US" sz="3400" dirty="0"/>
              <a:t>Add getter for 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salary</a:t>
            </a:r>
          </a:p>
          <a:p>
            <a:r>
              <a:rPr lang="en-US" sz="3400" dirty="0"/>
              <a:t>Add a method, which updates</a:t>
            </a:r>
            <a:br>
              <a:rPr lang="en-US" sz="3400" dirty="0"/>
            </a:b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salary</a:t>
            </a:r>
            <a:r>
              <a:rPr lang="en-US" sz="3400" dirty="0"/>
              <a:t> with a given percent</a:t>
            </a:r>
          </a:p>
          <a:p>
            <a:r>
              <a:rPr lang="en-US" sz="3400" dirty="0"/>
              <a:t>Persons younger than 30 get</a:t>
            </a:r>
            <a:br>
              <a:rPr lang="en-US" sz="3400" dirty="0"/>
            </a:br>
            <a:r>
              <a:rPr lang="en-US" sz="3400" dirty="0"/>
              <a:t>half of the normal increase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Salary Increase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6271149" y="1545092"/>
            <a:ext cx="5665588" cy="3290282"/>
            <a:chOff x="-306388" y="2128097"/>
            <a:chExt cx="3137848" cy="3290282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-306388" y="2128097"/>
              <a:ext cx="3137848" cy="602830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3963" tIns="107972" rIns="143963" bIns="107972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Person</a:t>
              </a:r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-306388" y="2739909"/>
              <a:ext cx="3137848" cy="2678470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3963" tIns="107972" rIns="143963" bIns="107972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+FirstName: string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+Age: int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+Salary: decimal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+IncreaseSalary(decimal): void</a:t>
              </a:r>
            </a:p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+ToString(): string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106464" y="345311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bg-BG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41374E-032D-47C2-A73C-E05FAC9A3EDF}"/>
              </a:ext>
            </a:extLst>
          </p:cNvPr>
          <p:cNvSpPr txBox="1"/>
          <p:nvPr/>
        </p:nvSpPr>
        <p:spPr>
          <a:xfrm>
            <a:off x="760412" y="6315652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</a:t>
            </a:r>
            <a:r>
              <a:rPr lang="bg-BG" dirty="0"/>
              <a:t> </a:t>
            </a:r>
            <a:r>
              <a:rPr lang="en-US" dirty="0">
                <a:hlinkClick r:id="rId2"/>
              </a:rPr>
              <a:t>https://judge.softuni.bg/Contests/1497/Encapsulation-Lab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16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081FB8A0-489B-4BDB-B9C1-CA2672EF8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Salary Increase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986928" y="1629000"/>
            <a:ext cx="10138768" cy="4399068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3963" tIns="107972" rIns="143963" bIns="107972" rtlCol="0">
            <a:spAutoFit/>
          </a:bodyPr>
          <a:lstStyle>
            <a:defPPr>
              <a:defRPr lang="en-US"/>
            </a:defPPr>
            <a:lvl1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397" b="1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GB" dirty="0"/>
              <a:t>public </a:t>
            </a:r>
            <a:r>
              <a:rPr lang="en-US" dirty="0"/>
              <a:t>decimal</a:t>
            </a:r>
            <a:r>
              <a:rPr lang="en-GB" dirty="0"/>
              <a:t> Salary { get; private set; }</a:t>
            </a:r>
            <a:endParaRPr lang="en-US" dirty="0"/>
          </a:p>
          <a:p>
            <a:r>
              <a:rPr lang="en-US" dirty="0"/>
              <a:t>public void </a:t>
            </a:r>
            <a:r>
              <a:rPr lang="en-US" noProof="1">
                <a:solidFill>
                  <a:schemeClr val="bg1"/>
                </a:solidFill>
              </a:rPr>
              <a:t>IncreaseSalary(decimal</a:t>
            </a:r>
            <a:r>
              <a:rPr lang="en-US" dirty="0"/>
              <a:t> percentage)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if (this.Age &gt; 30)</a:t>
            </a:r>
          </a:p>
          <a:p>
            <a:r>
              <a:rPr lang="en-US" dirty="0"/>
              <a:t>     this.Salary += this.Salary * percentage / 100;</a:t>
            </a:r>
          </a:p>
          <a:p>
            <a:r>
              <a:rPr lang="en-US" dirty="0"/>
              <a:t>   else</a:t>
            </a:r>
          </a:p>
          <a:p>
            <a:r>
              <a:rPr lang="en-US" dirty="0"/>
              <a:t>     this.Salary += this.Salary * percentage / 200;</a:t>
            </a:r>
          </a:p>
          <a:p>
            <a:r>
              <a:rPr lang="en-GB" dirty="0"/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B8A266-C711-4ACA-9506-1AE3009F7CDD}"/>
              </a:ext>
            </a:extLst>
          </p:cNvPr>
          <p:cNvSpPr txBox="1"/>
          <p:nvPr/>
        </p:nvSpPr>
        <p:spPr>
          <a:xfrm>
            <a:off x="760412" y="6315652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</a:t>
            </a:r>
            <a:r>
              <a:rPr lang="bg-BG" dirty="0"/>
              <a:t> </a:t>
            </a:r>
            <a:r>
              <a:rPr lang="en-US" dirty="0">
                <a:hlinkClick r:id="rId2"/>
              </a:rPr>
              <a:t>https://judge.softuni.bg/Contests/1497/Encapsulation-Lab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4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755" y="1395700"/>
            <a:ext cx="3373598" cy="230754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C0FAF6E-C42A-478B-AB1F-E5FD2BBCC70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 smtClean="0"/>
              <a:t>State </a:t>
            </a:r>
            <a:r>
              <a:rPr lang="en-US" dirty="0" smtClean="0"/>
              <a:t>Validation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10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78788438-F45B-46AD-836C-503A1426D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19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Setters are a good place for simple </a:t>
            </a:r>
            <a:r>
              <a:rPr lang="en-US" b="1" dirty="0">
                <a:solidFill>
                  <a:schemeClr val="bg1"/>
                </a:solidFill>
              </a:rPr>
              <a:t>data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b="1" dirty="0">
                <a:solidFill>
                  <a:schemeClr val="bg1"/>
                </a:solidFill>
              </a:rPr>
              <a:t>validation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Aft>
                <a:spcPts val="1200"/>
              </a:spcAft>
            </a:pPr>
            <a:endParaRPr lang="en-US" dirty="0"/>
          </a:p>
          <a:p>
            <a:r>
              <a:rPr lang="en-US" dirty="0"/>
              <a:t>Callers of your methods should take care of </a:t>
            </a:r>
            <a:r>
              <a:rPr lang="en-US" b="1" dirty="0">
                <a:solidFill>
                  <a:schemeClr val="bg1"/>
                </a:solidFill>
              </a:rPr>
              <a:t>handling</a:t>
            </a:r>
            <a:r>
              <a:rPr lang="en-US" dirty="0"/>
              <a:t> exceptions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</a:t>
            </a:r>
            <a:endParaRPr lang="bg-BG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782320" y="1824307"/>
            <a:ext cx="8310879" cy="372356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3963" tIns="107972" rIns="143963" bIns="107972" rtlCol="0">
            <a:spAutoFit/>
          </a:bodyPr>
          <a:lstStyle>
            <a:defPPr>
              <a:defRPr lang="en-US"/>
            </a:defPPr>
            <a:lvl1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397" b="1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dirty="0"/>
              <a:t>public decimal Salary {</a:t>
            </a:r>
          </a:p>
          <a:p>
            <a:r>
              <a:rPr lang="en-US" dirty="0"/>
              <a:t>  get { return this.salary }</a:t>
            </a:r>
          </a:p>
          <a:p>
            <a:r>
              <a:rPr lang="en-US" dirty="0"/>
              <a:t>  set {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chemeClr val="bg1"/>
                </a:solidFill>
              </a:rPr>
              <a:t>if</a:t>
            </a:r>
            <a:r>
              <a:rPr lang="en-US" dirty="0"/>
              <a:t> (</a:t>
            </a:r>
            <a:r>
              <a:rPr lang="en-US" dirty="0">
                <a:solidFill>
                  <a:schemeClr val="bg1"/>
                </a:solidFill>
              </a:rPr>
              <a:t>value &lt; 460</a:t>
            </a:r>
            <a:r>
              <a:rPr lang="en-US" dirty="0"/>
              <a:t>)</a:t>
            </a:r>
          </a:p>
          <a:p>
            <a:r>
              <a:rPr lang="en-US" dirty="0"/>
              <a:t>      throw new </a:t>
            </a:r>
            <a:r>
              <a:rPr lang="en-US" dirty="0">
                <a:solidFill>
                  <a:schemeClr val="bg1"/>
                </a:solidFill>
              </a:rPr>
              <a:t>ArgumentException</a:t>
            </a:r>
            <a:r>
              <a:rPr lang="en-US" dirty="0"/>
              <a:t>("...");</a:t>
            </a:r>
          </a:p>
          <a:p>
            <a:r>
              <a:rPr lang="en-US" dirty="0"/>
              <a:t>    this.salary = value; }</a:t>
            </a:r>
          </a:p>
          <a:p>
            <a:r>
              <a:rPr lang="en-US" dirty="0"/>
              <a:t>}</a:t>
            </a: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5907911" y="3273418"/>
            <a:ext cx="2758569" cy="668662"/>
          </a:xfrm>
          <a:prstGeom prst="wedgeRoundRectCallout">
            <a:avLst>
              <a:gd name="adj1" fmla="val -56452"/>
              <a:gd name="adj2" fmla="val 53311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Throw </a:t>
            </a:r>
            <a:r>
              <a:rPr lang="en-US" sz="24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exceptions</a:t>
            </a:r>
            <a:endParaRPr lang="en-US" sz="2400" b="1" noProof="1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055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A5E1BDB7-DFC7-4AAA-88EA-76212635F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Constructors use </a:t>
            </a:r>
            <a:r>
              <a:rPr lang="en-US" b="1" dirty="0">
                <a:solidFill>
                  <a:schemeClr val="bg1"/>
                </a:solidFill>
              </a:rPr>
              <a:t>private setters</a:t>
            </a:r>
            <a:r>
              <a:rPr lang="en-US" dirty="0"/>
              <a:t> with validation logic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Guarantee </a:t>
            </a:r>
            <a:r>
              <a:rPr lang="en-US" b="1" dirty="0">
                <a:solidFill>
                  <a:schemeClr val="bg1"/>
                </a:solidFill>
              </a:rPr>
              <a:t>valid state </a:t>
            </a:r>
            <a:r>
              <a:rPr lang="en-US" dirty="0"/>
              <a:t>of the object after its creation</a:t>
            </a:r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Validation (2)</a:t>
            </a:r>
            <a:endParaRPr lang="bg-BG" dirty="0"/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741000" y="2098726"/>
            <a:ext cx="9003436" cy="3723564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3963" tIns="107972" rIns="143963" bIns="107972" rtlCol="0">
            <a:spAutoFit/>
          </a:bodyPr>
          <a:lstStyle>
            <a:defPPr>
              <a:defRPr lang="en-US"/>
            </a:defPPr>
            <a:lvl1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397" b="1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dirty="0"/>
              <a:t>public Person(string firstName, string lastName, </a:t>
            </a:r>
          </a:p>
          <a:p>
            <a:r>
              <a:rPr lang="en-US" dirty="0"/>
              <a:t>              int age, decimal salary) {</a:t>
            </a:r>
          </a:p>
          <a:p>
            <a:r>
              <a:rPr lang="en-US" dirty="0"/>
              <a:t>  this.FirstName = firstName;</a:t>
            </a:r>
          </a:p>
          <a:p>
            <a:r>
              <a:rPr lang="en-US" dirty="0"/>
              <a:t>  this.LastName = lastName;</a:t>
            </a:r>
          </a:p>
          <a:p>
            <a:r>
              <a:rPr lang="en-US" dirty="0"/>
              <a:t>  this.Age = age;</a:t>
            </a:r>
          </a:p>
          <a:p>
            <a:r>
              <a:rPr lang="en-US" dirty="0"/>
              <a:t>  this.Salary = salary;</a:t>
            </a:r>
          </a:p>
          <a:p>
            <a:r>
              <a:rPr lang="en-US" dirty="0"/>
              <a:t>}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6498630" y="3210190"/>
            <a:ext cx="2879050" cy="863969"/>
          </a:xfrm>
          <a:prstGeom prst="wedgeRoundRectCallout">
            <a:avLst>
              <a:gd name="adj1" fmla="val -41638"/>
              <a:gd name="adj2" fmla="val 3472"/>
              <a:gd name="adj3" fmla="val 16667"/>
            </a:avLst>
          </a:prstGeom>
          <a:solidFill>
            <a:schemeClr val="tx1">
              <a:alpha val="80000"/>
            </a:schemeClr>
          </a:solidFill>
          <a:ln w="19050">
            <a:solidFill>
              <a:schemeClr val="tx1"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Validation happens inside the setter</a:t>
            </a:r>
            <a:endParaRPr lang="en-US" sz="2400" b="1" noProof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99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9FBF3757-1360-4224-8A38-1F04983F3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Expand 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Person</a:t>
            </a:r>
            <a:r>
              <a:rPr lang="en-US" sz="3400" dirty="0"/>
              <a:t> with </a:t>
            </a:r>
            <a:br>
              <a:rPr lang="en-US" sz="3400" dirty="0"/>
            </a:br>
            <a:r>
              <a:rPr lang="en-US" sz="3400" dirty="0"/>
              <a:t>validation for every field</a:t>
            </a:r>
          </a:p>
          <a:p>
            <a:r>
              <a:rPr lang="en-US" sz="3400" dirty="0"/>
              <a:t>Names must be </a:t>
            </a:r>
            <a:br>
              <a:rPr lang="en-US" sz="3400" dirty="0"/>
            </a:br>
            <a:r>
              <a:rPr lang="en-US" sz="3400" dirty="0"/>
              <a:t>at least 3 symbols</a:t>
            </a:r>
          </a:p>
          <a:p>
            <a:r>
              <a:rPr lang="en-US" sz="3400" dirty="0"/>
              <a:t>Age cannot be zero or negative </a:t>
            </a:r>
          </a:p>
          <a:p>
            <a:r>
              <a:rPr lang="en-US" sz="3400" dirty="0"/>
              <a:t>Salary cannot be less than 460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Problem: Validate Data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6742545" y="1378706"/>
            <a:ext cx="4433454" cy="4355670"/>
            <a:chOff x="-306388" y="2077297"/>
            <a:chExt cx="3137848" cy="4355670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-306388" y="2077297"/>
              <a:ext cx="3137848" cy="587385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3963" tIns="107972" rIns="143963" bIns="107972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400" b="1" noProof="1">
                  <a:latin typeface="Consolas" pitchFamily="49" charset="0"/>
                  <a:cs typeface="Consolas" pitchFamily="49" charset="0"/>
                </a:rPr>
                <a:t>Person</a:t>
              </a:r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-306388" y="2668032"/>
              <a:ext cx="3137848" cy="1695380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3963" tIns="107972" rIns="143963" bIns="107972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400" b="1" noProof="1">
                  <a:latin typeface="Consolas" pitchFamily="49" charset="0"/>
                  <a:cs typeface="Consolas" pitchFamily="49" charset="0"/>
                </a:rPr>
                <a:t>-firstName: string</a:t>
              </a:r>
              <a:br>
                <a:rPr lang="en-US" sz="2400" b="1" noProof="1">
                  <a:latin typeface="Consolas" pitchFamily="49" charset="0"/>
                  <a:cs typeface="Consolas" pitchFamily="49" charset="0"/>
                </a:rPr>
              </a:br>
              <a:r>
                <a:rPr lang="en-US" sz="2400" b="1" noProof="1">
                  <a:latin typeface="Consolas" pitchFamily="49" charset="0"/>
                  <a:cs typeface="Consolas" pitchFamily="49" charset="0"/>
                </a:rPr>
                <a:t>-lastName: string</a:t>
              </a:r>
              <a:br>
                <a:rPr lang="en-US" sz="2400" b="1" noProof="1">
                  <a:latin typeface="Consolas" pitchFamily="49" charset="0"/>
                  <a:cs typeface="Consolas" pitchFamily="49" charset="0"/>
                </a:rPr>
              </a:br>
              <a:r>
                <a:rPr lang="en-US" sz="2400" b="1" noProof="1">
                  <a:latin typeface="Consolas" pitchFamily="49" charset="0"/>
                  <a:cs typeface="Consolas" pitchFamily="49" charset="0"/>
                </a:rPr>
                <a:t>-age: int</a:t>
              </a:r>
              <a:br>
                <a:rPr lang="en-US" sz="2400" b="1" noProof="1">
                  <a:latin typeface="Consolas" pitchFamily="49" charset="0"/>
                  <a:cs typeface="Consolas" pitchFamily="49" charset="0"/>
                </a:rPr>
              </a:br>
              <a:r>
                <a:rPr lang="en-US" sz="2400" b="1" noProof="1">
                  <a:latin typeface="Consolas" pitchFamily="49" charset="0"/>
                  <a:cs typeface="Consolas" pitchFamily="49" charset="0"/>
                </a:rPr>
                <a:t>-salary: decimal</a:t>
              </a:r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-306388" y="4368255"/>
              <a:ext cx="3137848" cy="2064712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3963" tIns="107972" rIns="143963" bIns="107972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400" b="1" noProof="1">
                  <a:latin typeface="Consolas" pitchFamily="49" charset="0"/>
                  <a:cs typeface="Consolas" pitchFamily="49" charset="0"/>
                </a:rPr>
                <a:t>+Person()</a:t>
              </a:r>
              <a:br>
                <a:rPr lang="en-US" sz="2400" b="1" noProof="1">
                  <a:latin typeface="Consolas" pitchFamily="49" charset="0"/>
                  <a:cs typeface="Consolas" pitchFamily="49" charset="0"/>
                </a:rPr>
              </a:br>
              <a:r>
                <a:rPr lang="en-US" sz="2400" b="1" noProof="1">
                  <a:latin typeface="Consolas" pitchFamily="49" charset="0"/>
                  <a:cs typeface="Consolas" pitchFamily="49" charset="0"/>
                </a:rPr>
                <a:t>+FirstName(string fname)</a:t>
              </a:r>
              <a:br>
                <a:rPr lang="en-US" sz="2400" b="1" noProof="1">
                  <a:latin typeface="Consolas" pitchFamily="49" charset="0"/>
                  <a:cs typeface="Consolas" pitchFamily="49" charset="0"/>
                </a:rPr>
              </a:br>
              <a:r>
                <a:rPr lang="en-US" sz="2400" b="1" noProof="1">
                  <a:latin typeface="Consolas" pitchFamily="49" charset="0"/>
                  <a:cs typeface="Consolas" pitchFamily="49" charset="0"/>
                </a:rPr>
                <a:t>+LastName(string lname)</a:t>
              </a:r>
              <a:br>
                <a:rPr lang="en-US" sz="2400" b="1" noProof="1">
                  <a:latin typeface="Consolas" pitchFamily="49" charset="0"/>
                  <a:cs typeface="Consolas" pitchFamily="49" charset="0"/>
                </a:rPr>
              </a:br>
              <a:r>
                <a:rPr lang="en-US" sz="2400" b="1" noProof="1">
                  <a:latin typeface="Consolas" pitchFamily="49" charset="0"/>
                  <a:cs typeface="Consolas" pitchFamily="49" charset="0"/>
                </a:rPr>
                <a:t>+Age(int age)</a:t>
              </a:r>
              <a:br>
                <a:rPr lang="en-US" sz="2400" b="1" noProof="1">
                  <a:latin typeface="Consolas" pitchFamily="49" charset="0"/>
                  <a:cs typeface="Consolas" pitchFamily="49" charset="0"/>
                </a:rPr>
              </a:br>
              <a:r>
                <a:rPr lang="en-US" sz="2400" b="1" noProof="1">
                  <a:latin typeface="Consolas" pitchFamily="49" charset="0"/>
                  <a:cs typeface="Consolas" pitchFamily="49" charset="0"/>
                </a:rPr>
                <a:t>+Salary(decimal salary)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106464" y="345311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bg-BG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E4A06D-41B5-4EB2-B3C8-031A9E9AAE75}"/>
              </a:ext>
            </a:extLst>
          </p:cNvPr>
          <p:cNvSpPr txBox="1"/>
          <p:nvPr/>
        </p:nvSpPr>
        <p:spPr>
          <a:xfrm>
            <a:off x="760412" y="6315652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</a:t>
            </a:r>
            <a:r>
              <a:rPr lang="bg-BG" dirty="0"/>
              <a:t> </a:t>
            </a:r>
            <a:r>
              <a:rPr lang="en-US" dirty="0">
                <a:hlinkClick r:id="rId2"/>
              </a:rPr>
              <a:t>https://judge.softuni.bg/Contests/1497/Encapsulation-Lab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165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F27EBB82-0A0B-4B50-831F-BF20CC6DA6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Solution: Validate Data</a:t>
            </a:r>
            <a:endParaRPr lang="en-US" dirty="0"/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2149398" y="1386008"/>
            <a:ext cx="7813828" cy="476910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3963" tIns="107972" rIns="143963" bIns="107972" rtlCol="0">
            <a:spAutoFit/>
          </a:bodyPr>
          <a:lstStyle>
            <a:defPPr>
              <a:defRPr lang="en-US"/>
            </a:defPPr>
            <a:lvl1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397" b="1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dirty="0"/>
              <a:t>public </a:t>
            </a:r>
            <a:r>
              <a:rPr lang="en-US" noProof="1"/>
              <a:t>int</a:t>
            </a:r>
            <a:r>
              <a:rPr lang="en-US" dirty="0"/>
              <a:t> Age 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get =&gt; </a:t>
            </a:r>
            <a:r>
              <a:rPr lang="en-US" noProof="1"/>
              <a:t>this.age</a:t>
            </a:r>
            <a:r>
              <a:rPr lang="en-US" dirty="0"/>
              <a:t>;</a:t>
            </a:r>
          </a:p>
          <a:p>
            <a:r>
              <a:rPr lang="en-US" dirty="0"/>
              <a:t>  private set {</a:t>
            </a:r>
          </a:p>
          <a:p>
            <a:r>
              <a:rPr lang="en-US" dirty="0"/>
              <a:t>    if (age &lt; 1)</a:t>
            </a:r>
          </a:p>
          <a:p>
            <a:r>
              <a:rPr lang="en-US" dirty="0"/>
              <a:t>      throw new </a:t>
            </a:r>
            <a:r>
              <a:rPr lang="en-US" noProof="1"/>
              <a:t>ArgumentException</a:t>
            </a:r>
            <a:r>
              <a:rPr lang="en-US" dirty="0"/>
              <a:t>("...");</a:t>
            </a:r>
          </a:p>
          <a:p>
            <a:r>
              <a:rPr lang="en-US" dirty="0"/>
              <a:t>    </a:t>
            </a:r>
            <a:r>
              <a:rPr lang="en-US" noProof="1"/>
              <a:t>this.age</a:t>
            </a:r>
            <a:r>
              <a:rPr lang="en-US" dirty="0"/>
              <a:t> = value; }</a:t>
            </a:r>
          </a:p>
          <a:p>
            <a:r>
              <a:rPr lang="en-US" dirty="0"/>
              <a:t>}</a:t>
            </a:r>
          </a:p>
          <a:p>
            <a:r>
              <a:rPr lang="en-US" i="1" dirty="0">
                <a:solidFill>
                  <a:schemeClr val="accent2"/>
                </a:solidFill>
              </a:rPr>
              <a:t>// </a:t>
            </a:r>
            <a:r>
              <a:rPr lang="en-US" dirty="0">
                <a:solidFill>
                  <a:schemeClr val="accent2"/>
                </a:solidFill>
              </a:rPr>
              <a:t>TODO:</a:t>
            </a:r>
            <a:r>
              <a:rPr lang="en-US" i="1" dirty="0">
                <a:solidFill>
                  <a:schemeClr val="accent2"/>
                </a:solidFill>
              </a:rPr>
              <a:t> Add validation for the rest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388556-737E-4B4A-B6C8-247831C8D8B4}"/>
              </a:ext>
            </a:extLst>
          </p:cNvPr>
          <p:cNvSpPr txBox="1"/>
          <p:nvPr/>
        </p:nvSpPr>
        <p:spPr>
          <a:xfrm>
            <a:off x="760412" y="6315652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</a:t>
            </a:r>
            <a:r>
              <a:rPr lang="bg-BG" dirty="0"/>
              <a:t> </a:t>
            </a:r>
            <a:r>
              <a:rPr lang="en-US" dirty="0">
                <a:hlinkClick r:id="rId2"/>
              </a:rPr>
              <a:t>https://judge.softuni.bg/Contests/1497/Encapsulation-Lab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10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0FAF6E-C42A-478B-AB1F-E5FD2BBCC70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 smtClean="0"/>
              <a:t>Mutable vs Immutable</a:t>
            </a:r>
            <a:endParaRPr lang="en-US" dirty="0"/>
          </a:p>
        </p:txBody>
      </p:sp>
      <p:pic>
        <p:nvPicPr>
          <p:cNvPr id="1026" name="Picture 2" descr="Mutable vs Immutable Java | Top 6 Differences in Data Structure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800" b="70800" l="3222" r="45000">
                        <a14:foregroundMark x1="20778" y1="36400" x2="20778" y2="36400"/>
                        <a14:foregroundMark x1="20778" y1="29400" x2="20778" y2="29400"/>
                        <a14:foregroundMark x1="24667" y1="35800" x2="24667" y2="35800"/>
                        <a14:foregroundMark x1="25000" y1="37600" x2="25000" y2="37600"/>
                        <a14:foregroundMark x1="31111" y1="34600" x2="31111" y2="34600"/>
                        <a14:foregroundMark x1="30111" y1="38800" x2="30111" y2="38800"/>
                        <a14:foregroundMark x1="28556" y1="38800" x2="28556" y2="38800"/>
                        <a14:foregroundMark x1="29222" y1="37600" x2="28556" y2="35800"/>
                        <a14:foregroundMark x1="27889" y1="29400" x2="34000" y2="29400"/>
                        <a14:foregroundMark x1="31111" y1="45200" x2="28889" y2="33000"/>
                        <a14:foregroundMark x1="10111" y1="25400" x2="36667" y2="46800"/>
                        <a14:foregroundMark x1="36667" y1="27000" x2="10778" y2="49200"/>
                        <a14:foregroundMark x1="9111" y1="31800" x2="17556" y2="31800"/>
                        <a14:foregroundMark x1="11111" y1="28800" x2="10444" y2="45200"/>
                        <a14:foregroundMark x1="16889" y1="29400" x2="22667" y2="24200"/>
                        <a14:foregroundMark x1="35000" y1="37000" x2="35667" y2="31200"/>
                        <a14:foregroundMark x1="31444" y1="26600" x2="32444" y2="26600"/>
                        <a14:foregroundMark x1="36111" y1="44400" x2="31667" y2="35000"/>
                        <a14:foregroundMark x1="25444" y1="46800" x2="27778" y2="40400"/>
                        <a14:foregroundMark x1="16778" y1="47400" x2="30333" y2="45600"/>
                        <a14:foregroundMark x1="15444" y1="26400" x2="30667" y2="27000"/>
                        <a14:foregroundMark x1="38778" y1="54800" x2="37778" y2="52600"/>
                      </a14:backgroundRemoval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5" t="945" r="53806" b="30079"/>
          <a:stretch/>
        </p:blipFill>
        <p:spPr bwMode="auto">
          <a:xfrm>
            <a:off x="4138500" y="864000"/>
            <a:ext cx="3915000" cy="328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75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FE9140-DB6B-4573-9787-BFB91EA86F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Immutable Objects</a:t>
            </a:r>
          </a:p>
          <a:p>
            <a:pPr lvl="1"/>
            <a:r>
              <a:rPr lang="en-GB" sz="3200" dirty="0"/>
              <a:t>Immutable == </a:t>
            </a:r>
            <a:br>
              <a:rPr lang="en-GB" sz="3200" dirty="0"/>
            </a:br>
            <a:r>
              <a:rPr lang="en-GB" sz="3200" dirty="0"/>
              <a:t>unchangeable</a:t>
            </a:r>
          </a:p>
          <a:p>
            <a:pPr lvl="1"/>
            <a:r>
              <a:rPr lang="en-GB" sz="3200" dirty="0"/>
              <a:t>Create new memory </a:t>
            </a:r>
            <a:br>
              <a:rPr lang="en-GB" sz="3200" dirty="0"/>
            </a:br>
            <a:r>
              <a:rPr lang="en-GB" sz="3200" dirty="0"/>
              <a:t>every time they're </a:t>
            </a:r>
            <a:br>
              <a:rPr lang="en-GB" sz="3200" dirty="0"/>
            </a:br>
            <a:r>
              <a:rPr lang="en-GB" sz="3200" dirty="0"/>
              <a:t>modified</a:t>
            </a:r>
          </a:p>
          <a:p>
            <a:pPr lvl="1">
              <a:buClr>
                <a:schemeClr val="tx1"/>
              </a:buClr>
            </a:pPr>
            <a:r>
              <a:rPr lang="en-GB" sz="3200" b="1" dirty="0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</a:p>
          <a:p>
            <a:pPr lvl="1">
              <a:buClr>
                <a:schemeClr val="tx1"/>
              </a:buClr>
            </a:pPr>
            <a:r>
              <a:rPr lang="en-GB" sz="32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endParaRPr lang="en-GB" sz="32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609219" lvl="1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A03964-B12D-49C7-AF88-E1EF8DDF69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Mutable Objects</a:t>
            </a:r>
          </a:p>
          <a:p>
            <a:pPr lvl="1"/>
            <a:r>
              <a:rPr lang="en-US" sz="3200" dirty="0"/>
              <a:t>Mutable == </a:t>
            </a:r>
            <a:br>
              <a:rPr lang="en-US" sz="3200" dirty="0"/>
            </a:br>
            <a:r>
              <a:rPr lang="en-US" sz="3200" dirty="0"/>
              <a:t>changeable</a:t>
            </a:r>
          </a:p>
          <a:p>
            <a:pPr lvl="1"/>
            <a:r>
              <a:rPr lang="en-US" sz="3200" dirty="0"/>
              <a:t>Use the same memory </a:t>
            </a:r>
            <a:br>
              <a:rPr lang="en-US" sz="3200" dirty="0"/>
            </a:br>
            <a:r>
              <a:rPr lang="en-US" sz="3200" dirty="0"/>
              <a:t>location</a:t>
            </a:r>
          </a:p>
          <a:p>
            <a:pPr lvl="1">
              <a:buClr>
                <a:schemeClr val="tx1"/>
              </a:buClr>
            </a:pP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StringBuilder</a:t>
            </a:r>
          </a:p>
          <a:p>
            <a:pPr lvl="1">
              <a:buClr>
                <a:schemeClr val="tx1"/>
              </a:buClr>
            </a:pPr>
            <a:r>
              <a:rPr lang="en-US" sz="3200" b="1" noProof="1">
                <a:solidFill>
                  <a:schemeClr val="bg1"/>
                </a:solidFill>
                <a:latin typeface="Consolas" panose="020B0609020204030204" pitchFamily="49" charset="0"/>
              </a:rPr>
              <a:t>List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68AC6A-8AD6-4C0A-ADBA-14014CF9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Mutable vs Immutable Objects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081E37B1-54A9-4A27-ADAF-84433E7C06E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09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Private</a:t>
            </a:r>
            <a:r>
              <a:rPr lang="en-US" b="1" dirty="0">
                <a:solidFill>
                  <a:schemeClr val="bg1"/>
                </a:solidFill>
              </a:rPr>
              <a:t> mutable</a:t>
            </a:r>
            <a:r>
              <a:rPr lang="en-US" dirty="0"/>
              <a:t> fields are still </a:t>
            </a:r>
            <a:r>
              <a:rPr lang="en-US" b="1" dirty="0">
                <a:solidFill>
                  <a:schemeClr val="bg1"/>
                </a:solidFill>
              </a:rPr>
              <a:t>not encapsulated</a:t>
            </a:r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In this case you can </a:t>
            </a:r>
            <a:r>
              <a:rPr lang="en-US" b="1" dirty="0">
                <a:solidFill>
                  <a:schemeClr val="bg1"/>
                </a:solidFill>
              </a:rPr>
              <a:t>access</a:t>
            </a:r>
            <a:r>
              <a:rPr lang="en-US" dirty="0"/>
              <a:t> the field methods </a:t>
            </a:r>
            <a:br>
              <a:rPr lang="en-US" dirty="0"/>
            </a:br>
            <a:r>
              <a:rPr lang="en-US" dirty="0"/>
              <a:t>through the </a:t>
            </a:r>
            <a:r>
              <a:rPr lang="en-US" b="1" dirty="0">
                <a:solidFill>
                  <a:schemeClr val="bg1"/>
                </a:solidFill>
              </a:rPr>
              <a:t>getter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Mutable Fields</a:t>
            </a:r>
            <a:endParaRPr lang="bg-BG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676418" y="1796050"/>
            <a:ext cx="6598210" cy="3200792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3963" tIns="107972" rIns="143963" bIns="107972" rtlCol="0">
            <a:spAutoFit/>
          </a:bodyPr>
          <a:lstStyle/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class Team 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  private List&lt;Person&gt; players;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  public List&lt;Person&gt; Players {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    get { return this.players; } }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} 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DD39160-09F1-448E-904C-5D3EE8F4A5AF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41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dirty="0"/>
              <a:t>You can use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IReadOnlyCollection</a:t>
            </a:r>
            <a:r>
              <a:rPr lang="en-US" dirty="0"/>
              <a:t> to encapsulate collections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Fields (2)</a:t>
            </a:r>
            <a:endParaRPr lang="bg-BG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687754" y="2397931"/>
            <a:ext cx="8485726" cy="4246335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3963" tIns="107972" rIns="143963" bIns="107972" rtlCol="0">
            <a:spAutoFit/>
          </a:bodyPr>
          <a:lstStyle/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public class Team 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  private List&lt;Person&gt; players;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GB" sz="2397" b="1" noProof="1">
                <a:latin typeface="Consolas" pitchFamily="49" charset="0"/>
                <a:cs typeface="Consolas" pitchFamily="49" charset="0"/>
              </a:rPr>
              <a:t>public </a:t>
            </a:r>
            <a:r>
              <a:rPr lang="en-GB" sz="2397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IReadOnlyCollection&lt;Person&gt; </a:t>
            </a:r>
            <a:r>
              <a:rPr lang="en-GB" sz="2397" b="1" noProof="1">
                <a:latin typeface="Consolas" pitchFamily="49" charset="0"/>
                <a:cs typeface="Consolas" pitchFamily="49" charset="0"/>
              </a:rPr>
              <a:t>P</a:t>
            </a:r>
            <a:r>
              <a:rPr lang="en-US" sz="2397" b="1" noProof="1">
                <a:latin typeface="Consolas" pitchFamily="49" charset="0"/>
                <a:cs typeface="Consolas" pitchFamily="49" charset="0"/>
              </a:rPr>
              <a:t>layers</a:t>
            </a:r>
            <a:r>
              <a:rPr lang="en-GB" sz="2397" b="1" noProof="1">
                <a:latin typeface="Consolas" pitchFamily="49" charset="0"/>
                <a:cs typeface="Consolas" pitchFamily="49" charset="0"/>
              </a:rPr>
              <a:t> {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GB" sz="2397" b="1" noProof="1">
                <a:latin typeface="Consolas" pitchFamily="49" charset="0"/>
                <a:cs typeface="Consolas" pitchFamily="49" charset="0"/>
              </a:rPr>
              <a:t>    get { return this.</a:t>
            </a:r>
            <a:r>
              <a:rPr lang="en-US" sz="2397" b="1" noProof="1">
                <a:latin typeface="Consolas" pitchFamily="49" charset="0"/>
                <a:cs typeface="Consolas" pitchFamily="49" charset="0"/>
              </a:rPr>
              <a:t>players</a:t>
            </a:r>
            <a:r>
              <a:rPr lang="en-GB" sz="2397" b="1" noProof="1">
                <a:latin typeface="Consolas" pitchFamily="49" charset="0"/>
                <a:cs typeface="Consolas" pitchFamily="49" charset="0"/>
              </a:rPr>
              <a:t>.</a:t>
            </a:r>
            <a:r>
              <a:rPr lang="en-GB" sz="2397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AsReadOnly</a:t>
            </a:r>
            <a:r>
              <a:rPr lang="en-GB" sz="2397" b="1" noProof="1">
                <a:latin typeface="Consolas" pitchFamily="49" charset="0"/>
                <a:cs typeface="Consolas" pitchFamily="49" charset="0"/>
              </a:rPr>
              <a:t>(); } }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GB" sz="2397" b="1" noProof="1">
                <a:latin typeface="Consolas" pitchFamily="49" charset="0"/>
                <a:cs typeface="Consolas" pitchFamily="49" charset="0"/>
              </a:rPr>
              <a:t>  public void </a:t>
            </a:r>
            <a:r>
              <a:rPr lang="en-GB" sz="2397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AddPlayer</a:t>
            </a:r>
            <a:r>
              <a:rPr lang="en-GB" sz="2397" b="1" noProof="1">
                <a:latin typeface="Consolas" pitchFamily="49" charset="0"/>
                <a:cs typeface="Consolas" pitchFamily="49" charset="0"/>
              </a:rPr>
              <a:t>(Person player)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GB" sz="2397" b="1" noProof="1">
                <a:latin typeface="Consolas" pitchFamily="49" charset="0"/>
                <a:cs typeface="Consolas" pitchFamily="49" charset="0"/>
              </a:rPr>
              <a:t>    =&gt; </a:t>
            </a:r>
            <a:r>
              <a:rPr lang="en-GB" sz="2397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this.players.Add(player)</a:t>
            </a:r>
            <a:r>
              <a:rPr lang="en-GB" sz="2397" b="1" noProof="1">
                <a:latin typeface="Consolas" pitchFamily="49" charset="0"/>
                <a:cs typeface="Consolas" pitchFamily="49" charset="0"/>
              </a:rPr>
              <a:t>;</a:t>
            </a:r>
          </a:p>
          <a:p>
            <a: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sz="2397" b="1" noProof="1">
                <a:latin typeface="Consolas" pitchFamily="49" charset="0"/>
                <a:cs typeface="Consolas" pitchFamily="49" charset="0"/>
              </a:rPr>
              <a:t>} 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FAB6E57-A059-4B00-924B-26357125B333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44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6E422322-EBF3-4F97-95D8-C11875B0C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6839" y="1196130"/>
            <a:ext cx="11818096" cy="5201066"/>
          </a:xfrm>
        </p:spPr>
        <p:txBody>
          <a:bodyPr/>
          <a:lstStyle/>
          <a:p>
            <a:r>
              <a:rPr lang="en-US" dirty="0"/>
              <a:t>Team have two squads</a:t>
            </a:r>
          </a:p>
          <a:p>
            <a:pPr lvl="1"/>
            <a:r>
              <a:rPr lang="en-US" dirty="0"/>
              <a:t>First team &amp; Reserve team</a:t>
            </a:r>
          </a:p>
          <a:p>
            <a:r>
              <a:rPr lang="en-US" dirty="0"/>
              <a:t>Read persons from console </a:t>
            </a:r>
            <a:br>
              <a:rPr lang="en-US" dirty="0"/>
            </a:br>
            <a:r>
              <a:rPr lang="en-US" dirty="0"/>
              <a:t>and add them to team</a:t>
            </a:r>
          </a:p>
          <a:p>
            <a:r>
              <a:rPr lang="en-US" dirty="0"/>
              <a:t>If they are younger than 40, </a:t>
            </a:r>
            <a:br>
              <a:rPr lang="en-US" dirty="0"/>
            </a:br>
            <a:r>
              <a:rPr lang="en-US" dirty="0"/>
              <a:t>they  go to first squad</a:t>
            </a:r>
          </a:p>
          <a:p>
            <a:r>
              <a:rPr lang="en-US" dirty="0"/>
              <a:t>Print both squad sizes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Problem: Team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6323069" y="1228351"/>
            <a:ext cx="5423454" cy="4726019"/>
            <a:chOff x="-306388" y="2077297"/>
            <a:chExt cx="3137848" cy="4726019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-306388" y="2077297"/>
              <a:ext cx="3137848" cy="586993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3963" tIns="107972" rIns="143963" bIns="107972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Team</a:t>
              </a:r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-306388" y="2668032"/>
              <a:ext cx="3137848" cy="1324702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3963" tIns="107972" rIns="143963" bIns="107972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-name : string</a:t>
              </a:r>
              <a:br>
                <a:rPr lang="en-US" sz="2397" b="1" noProof="1">
                  <a:latin typeface="Consolas" pitchFamily="49" charset="0"/>
                  <a:cs typeface="Consolas" pitchFamily="49" charset="0"/>
                </a:rPr>
              </a:b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-firstTeam: List&lt;Person&gt;</a:t>
              </a:r>
              <a:br>
                <a:rPr lang="en-US" sz="2397" b="1" noProof="1">
                  <a:latin typeface="Consolas" pitchFamily="49" charset="0"/>
                  <a:cs typeface="Consolas" pitchFamily="49" charset="0"/>
                </a:rPr>
              </a:b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-reserveTeam: List&lt;Person&gt;</a:t>
              </a:r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-306388" y="4003081"/>
              <a:ext cx="3137848" cy="2800235"/>
            </a:xfrm>
            <a:prstGeom prst="rect">
              <a:avLst/>
            </a:prstGeom>
            <a:solidFill>
              <a:schemeClr val="accent6">
                <a:lumMod val="75000"/>
                <a:alpha val="15000"/>
              </a:schemeClr>
            </a:solidFill>
            <a:ln w="12700">
              <a:solidFill>
                <a:schemeClr val="tx1">
                  <a:lumMod val="50000"/>
                </a:schemeClr>
              </a:solidFill>
            </a:ln>
          </p:spPr>
          <p:txBody>
            <a:bodyPr vert="horz" wrap="square" lIns="143963" tIns="107972" rIns="143963" bIns="107972" rtlCol="0">
              <a:spAutoFit/>
            </a:bodyPr>
            <a:lstStyle/>
            <a:p>
              <a:pPr defTabSz="1218438" latinLnBrk="1"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None/>
              </a:pP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+Team(String name)</a:t>
              </a:r>
              <a:br>
                <a:rPr lang="en-US" sz="2397" b="1" noProof="1">
                  <a:latin typeface="Consolas" pitchFamily="49" charset="0"/>
                  <a:cs typeface="Consolas" pitchFamily="49" charset="0"/>
                </a:rPr>
              </a:b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+Name(): string</a:t>
              </a:r>
              <a:br>
                <a:rPr lang="en-US" sz="2397" b="1" noProof="1">
                  <a:latin typeface="Consolas" pitchFamily="49" charset="0"/>
                  <a:cs typeface="Consolas" pitchFamily="49" charset="0"/>
                </a:rPr>
              </a:b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+FirstTeam(): ReadOnlyList&lt;Person&gt;</a:t>
              </a:r>
              <a:br>
                <a:rPr lang="en-US" sz="2397" b="1" noProof="1">
                  <a:latin typeface="Consolas" pitchFamily="49" charset="0"/>
                  <a:cs typeface="Consolas" pitchFamily="49" charset="0"/>
                </a:rPr>
              </a:b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+ReserveTeam: ReadOnlyList&lt;Person&gt;</a:t>
              </a:r>
              <a:br>
                <a:rPr lang="en-US" sz="2397" b="1" noProof="1">
                  <a:latin typeface="Consolas" pitchFamily="49" charset="0"/>
                  <a:cs typeface="Consolas" pitchFamily="49" charset="0"/>
                </a:rPr>
              </a:br>
              <a:r>
                <a:rPr lang="en-US" sz="2397" b="1" noProof="1">
                  <a:latin typeface="Consolas" pitchFamily="49" charset="0"/>
                  <a:cs typeface="Consolas" pitchFamily="49" charset="0"/>
                </a:rPr>
                <a:t>+addPlayer(Person person)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3106464" y="345311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bg-BG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0FF8FD-FBD4-4C51-B025-D183B02E543F}"/>
              </a:ext>
            </a:extLst>
          </p:cNvPr>
          <p:cNvSpPr txBox="1"/>
          <p:nvPr/>
        </p:nvSpPr>
        <p:spPr>
          <a:xfrm>
            <a:off x="760412" y="6315652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</a:t>
            </a:r>
            <a:r>
              <a:rPr lang="bg-BG" dirty="0"/>
              <a:t> </a:t>
            </a:r>
            <a:r>
              <a:rPr lang="en-US" dirty="0">
                <a:hlinkClick r:id="rId3"/>
              </a:rPr>
              <a:t>https://judge.softuni.bg/Contests/1497/Encapsulation-Lab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75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B3DD0F0C-4443-4761-9EC9-C6BA0FE55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28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Team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2173638" y="1432809"/>
            <a:ext cx="7849580" cy="476910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3963" tIns="107972" rIns="143963" bIns="107972" rtlCol="0">
            <a:spAutoFit/>
          </a:bodyPr>
          <a:lstStyle>
            <a:defPPr>
              <a:defRPr lang="en-US"/>
            </a:defPPr>
            <a:lvl1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397" b="1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dirty="0"/>
              <a:t>private string name;</a:t>
            </a:r>
          </a:p>
          <a:p>
            <a:r>
              <a:rPr lang="en-US" dirty="0"/>
              <a:t>private List&lt;Person&gt; firstTeam;</a:t>
            </a:r>
          </a:p>
          <a:p>
            <a:r>
              <a:rPr lang="en-US" dirty="0"/>
              <a:t>private List&lt;Person&gt; reserveTeam;</a:t>
            </a:r>
          </a:p>
          <a:p>
            <a:endParaRPr lang="en-US" dirty="0"/>
          </a:p>
          <a:p>
            <a:r>
              <a:rPr lang="en-US" dirty="0"/>
              <a:t>public Team(string name) {</a:t>
            </a:r>
          </a:p>
          <a:p>
            <a:r>
              <a:rPr lang="en-US" dirty="0"/>
              <a:t>   this.name = name;</a:t>
            </a:r>
          </a:p>
          <a:p>
            <a:r>
              <a:rPr lang="en-US" dirty="0"/>
              <a:t>   this.firstTeam = new List&lt;Person&gt;();</a:t>
            </a:r>
          </a:p>
          <a:p>
            <a:r>
              <a:rPr lang="en-US" dirty="0"/>
              <a:t>   this.reserveTeam = new List&lt;Person&gt;(); }</a:t>
            </a:r>
          </a:p>
          <a:p>
            <a:r>
              <a:rPr lang="en-US" i="1" dirty="0">
                <a:solidFill>
                  <a:schemeClr val="accent2"/>
                </a:solidFill>
              </a:rPr>
              <a:t>// continues on the next slide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F86C1-D285-4100-9EF0-CA944EFF1B16}"/>
              </a:ext>
            </a:extLst>
          </p:cNvPr>
          <p:cNvSpPr txBox="1"/>
          <p:nvPr/>
        </p:nvSpPr>
        <p:spPr>
          <a:xfrm>
            <a:off x="760412" y="6315652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</a:t>
            </a:r>
            <a:r>
              <a:rPr lang="bg-BG" dirty="0"/>
              <a:t> </a:t>
            </a:r>
            <a:r>
              <a:rPr lang="en-US" dirty="0">
                <a:hlinkClick r:id="rId2"/>
              </a:rPr>
              <a:t>https://judge.softuni.bg/Contests/1497/Encapsulation-Lab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43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BCFADFBA-57D6-4F95-B5FE-B689F55FD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29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Team(2)</a:t>
            </a: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1478778" y="1359000"/>
            <a:ext cx="9234443" cy="476910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3963" tIns="107972" rIns="143963" bIns="107972" rtlCol="0">
            <a:spAutoFit/>
          </a:bodyPr>
          <a:lstStyle>
            <a:defPPr>
              <a:defRPr lang="en-US"/>
            </a:defPPr>
            <a:lvl1pPr defTabSz="1218438" latinLnBrk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2397" b="1">
                <a:latin typeface="Consolas" pitchFamily="49" charset="0"/>
                <a:cs typeface="Consolas" pitchFamily="49" charset="0"/>
              </a:defRPr>
            </a:lvl1pPr>
          </a:lstStyle>
          <a:p>
            <a:r>
              <a:rPr lang="en-US" noProof="1"/>
              <a:t>public </a:t>
            </a:r>
            <a:r>
              <a:rPr lang="en-US" noProof="1">
                <a:solidFill>
                  <a:schemeClr val="bg1"/>
                </a:solidFill>
              </a:rPr>
              <a:t>IReadOnlyCollection</a:t>
            </a:r>
            <a:r>
              <a:rPr lang="en-US" noProof="1"/>
              <a:t>&lt;</a:t>
            </a:r>
            <a:r>
              <a:rPr lang="en-US" noProof="1">
                <a:solidFill>
                  <a:schemeClr val="bg1"/>
                </a:solidFill>
              </a:rPr>
              <a:t>Person</a:t>
            </a:r>
            <a:r>
              <a:rPr lang="en-US" noProof="1">
                <a:solidFill>
                  <a:schemeClr val="tx2"/>
                </a:solidFill>
              </a:rPr>
              <a:t>&gt;</a:t>
            </a:r>
            <a:r>
              <a:rPr lang="en-US" noProof="1">
                <a:solidFill>
                  <a:schemeClr val="bg1"/>
                </a:solidFill>
              </a:rPr>
              <a:t> </a:t>
            </a:r>
            <a:r>
              <a:rPr lang="en-US" noProof="1"/>
              <a:t>FirstTeam {</a:t>
            </a:r>
          </a:p>
          <a:p>
            <a:r>
              <a:rPr lang="en-US" noProof="1"/>
              <a:t>  get { return this.firstTeam.</a:t>
            </a:r>
            <a:r>
              <a:rPr lang="en-US" noProof="1">
                <a:solidFill>
                  <a:schemeClr val="bg1"/>
                </a:solidFill>
              </a:rPr>
              <a:t>AsReadOnly</a:t>
            </a:r>
            <a:r>
              <a:rPr lang="en-US" noProof="1"/>
              <a:t>(); }</a:t>
            </a:r>
          </a:p>
          <a:p>
            <a:r>
              <a:rPr lang="en-US" noProof="1"/>
              <a:t>}</a:t>
            </a:r>
          </a:p>
          <a:p>
            <a:r>
              <a:rPr lang="en-US" i="1" noProof="1">
                <a:solidFill>
                  <a:schemeClr val="accent2"/>
                </a:solidFill>
              </a:rPr>
              <a:t>// </a:t>
            </a:r>
            <a:r>
              <a:rPr lang="en-US" noProof="1">
                <a:solidFill>
                  <a:schemeClr val="accent2"/>
                </a:solidFill>
              </a:rPr>
              <a:t>TODO:</a:t>
            </a:r>
            <a:r>
              <a:rPr lang="en-US" i="1" noProof="1">
                <a:solidFill>
                  <a:schemeClr val="accent2"/>
                </a:solidFill>
              </a:rPr>
              <a:t> Implement reserve team getter</a:t>
            </a:r>
          </a:p>
          <a:p>
            <a:r>
              <a:rPr lang="en-US" noProof="1"/>
              <a:t>public void AddPlayer(</a:t>
            </a:r>
            <a:r>
              <a:rPr lang="en-US" noProof="1">
                <a:solidFill>
                  <a:schemeClr val="bg1"/>
                </a:solidFill>
              </a:rPr>
              <a:t>Person player</a:t>
            </a:r>
            <a:r>
              <a:rPr lang="en-US" noProof="1"/>
              <a:t>) {</a:t>
            </a:r>
          </a:p>
          <a:p>
            <a:r>
              <a:rPr lang="en-US" noProof="1"/>
              <a:t>  if (player.Age &lt; 40)</a:t>
            </a:r>
          </a:p>
          <a:p>
            <a:r>
              <a:rPr lang="en-US" noProof="1"/>
              <a:t>    </a:t>
            </a:r>
            <a:r>
              <a:rPr lang="en-US" noProof="1">
                <a:solidFill>
                  <a:schemeClr val="bg1"/>
                </a:solidFill>
              </a:rPr>
              <a:t>firstTeam</a:t>
            </a:r>
            <a:r>
              <a:rPr lang="en-US" noProof="1"/>
              <a:t>.</a:t>
            </a:r>
            <a:r>
              <a:rPr lang="en-US" noProof="1">
                <a:solidFill>
                  <a:schemeClr val="bg1"/>
                </a:solidFill>
              </a:rPr>
              <a:t>Add</a:t>
            </a:r>
            <a:r>
              <a:rPr lang="en-US" noProof="1"/>
              <a:t>(</a:t>
            </a:r>
            <a:r>
              <a:rPr lang="en-US" noProof="1">
                <a:solidFill>
                  <a:schemeClr val="bg1"/>
                </a:solidFill>
              </a:rPr>
              <a:t>player</a:t>
            </a:r>
            <a:r>
              <a:rPr lang="en-US" noProof="1"/>
              <a:t>);</a:t>
            </a:r>
          </a:p>
          <a:p>
            <a:r>
              <a:rPr lang="en-US" noProof="1"/>
              <a:t>  else</a:t>
            </a:r>
          </a:p>
          <a:p>
            <a:r>
              <a:rPr lang="en-US" noProof="1"/>
              <a:t>    </a:t>
            </a:r>
            <a:r>
              <a:rPr lang="en-US" noProof="1">
                <a:solidFill>
                  <a:schemeClr val="bg1"/>
                </a:solidFill>
              </a:rPr>
              <a:t>reserveTeam</a:t>
            </a:r>
            <a:r>
              <a:rPr lang="en-US" noProof="1"/>
              <a:t>.</a:t>
            </a:r>
            <a:r>
              <a:rPr lang="en-US" noProof="1">
                <a:solidFill>
                  <a:schemeClr val="bg1"/>
                </a:solidFill>
              </a:rPr>
              <a:t>Add</a:t>
            </a:r>
            <a:r>
              <a:rPr lang="en-US" noProof="1"/>
              <a:t>(</a:t>
            </a:r>
            <a:r>
              <a:rPr lang="en-US" noProof="1">
                <a:solidFill>
                  <a:schemeClr val="bg1"/>
                </a:solidFill>
              </a:rPr>
              <a:t>player</a:t>
            </a:r>
            <a:r>
              <a:rPr lang="en-US" noProof="1"/>
              <a:t>);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8354F4-6C1E-457C-9D62-21256EC62DD5}"/>
              </a:ext>
            </a:extLst>
          </p:cNvPr>
          <p:cNvSpPr txBox="1"/>
          <p:nvPr/>
        </p:nvSpPr>
        <p:spPr>
          <a:xfrm>
            <a:off x="760412" y="6315652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Check your solution here:</a:t>
            </a:r>
            <a:r>
              <a:rPr lang="bg-BG" dirty="0"/>
              <a:t> </a:t>
            </a:r>
            <a:r>
              <a:rPr lang="en-US" dirty="0">
                <a:hlinkClick r:id="rId2"/>
              </a:rPr>
              <a:t>https://judge.softuni.bg/Contests/1497/Encapsulation-Lab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18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">
            <a:extLst>
              <a:ext uri="{FF2B5EF4-FFF2-40B4-BE49-F238E27FC236}">
                <a16:creationId xmlns:a16="http://schemas.microsoft.com/office/drawing/2014/main" id="{533BC895-43D9-4890-B484-3F68EB043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65622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2" y="1419750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543073" y="1723767"/>
            <a:ext cx="11815018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US" sz="3600" dirty="0">
                <a:solidFill>
                  <a:schemeClr val="bg2"/>
                </a:solidFill>
              </a:rPr>
              <a:t>Encapsulation:</a:t>
            </a:r>
          </a:p>
          <a:p>
            <a:pPr lvl="1">
              <a:lnSpc>
                <a:spcPct val="100000"/>
              </a:lnSpc>
              <a:buClr>
                <a:schemeClr val="bg2"/>
              </a:buClr>
            </a:pPr>
            <a:r>
              <a:rPr lang="en-US" sz="3400" dirty="0">
                <a:solidFill>
                  <a:schemeClr val="bg2"/>
                </a:solidFill>
              </a:rPr>
              <a:t>Hides </a:t>
            </a:r>
            <a:r>
              <a:rPr lang="en-US" sz="34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implementation</a:t>
            </a:r>
          </a:p>
          <a:p>
            <a:pPr lvl="1">
              <a:lnSpc>
                <a:spcPct val="100000"/>
              </a:lnSpc>
              <a:buClr>
                <a:schemeClr val="bg2"/>
              </a:buClr>
            </a:pPr>
            <a:r>
              <a:rPr lang="en-US" sz="3400" dirty="0">
                <a:solidFill>
                  <a:schemeClr val="bg2"/>
                </a:solidFill>
              </a:rPr>
              <a:t>Reduces </a:t>
            </a:r>
            <a:r>
              <a:rPr lang="en-US" sz="34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complexity</a:t>
            </a:r>
          </a:p>
          <a:p>
            <a:pPr lvl="1">
              <a:lnSpc>
                <a:spcPct val="100000"/>
              </a:lnSpc>
              <a:buClr>
                <a:schemeClr val="bg2"/>
              </a:buClr>
            </a:pPr>
            <a:r>
              <a:rPr lang="en-US" sz="3400" dirty="0">
                <a:solidFill>
                  <a:schemeClr val="bg2"/>
                </a:solidFill>
              </a:rPr>
              <a:t>Ensures that structural changes </a:t>
            </a:r>
            <a:br>
              <a:rPr lang="en-US" sz="3400" dirty="0">
                <a:solidFill>
                  <a:schemeClr val="bg2"/>
                </a:solidFill>
              </a:rPr>
            </a:br>
            <a:r>
              <a:rPr lang="en-US" sz="3400" dirty="0">
                <a:solidFill>
                  <a:schemeClr val="bg2"/>
                </a:solidFill>
              </a:rPr>
              <a:t>remain local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US" sz="3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Mutable</a:t>
            </a:r>
            <a:r>
              <a:rPr lang="en-US" sz="3600" dirty="0">
                <a:solidFill>
                  <a:schemeClr val="bg2"/>
                </a:solidFill>
              </a:rPr>
              <a:t> and </a:t>
            </a:r>
            <a:r>
              <a:rPr lang="en-US" sz="3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Immutable</a:t>
            </a:r>
            <a:r>
              <a:rPr lang="en-US" sz="3600" dirty="0">
                <a:solidFill>
                  <a:schemeClr val="bg2"/>
                </a:solidFill>
              </a:rPr>
              <a:t> objects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endParaRPr lang="en-US" sz="3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73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800" dirty="0">
                <a:solidFill>
                  <a:srgbClr val="234465"/>
                </a:solidFill>
              </a:rPr>
              <a:t>Questions?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92549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2800" dirty="0">
                <a:hlinkClick r:id="rId4"/>
              </a:rPr>
              <a:t>about.softuni.bg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Forums</a:t>
            </a:r>
          </a:p>
          <a:p>
            <a:pPr lvl="1"/>
            <a:r>
              <a:rPr lang="en-US" sz="3000" dirty="0">
                <a:hlinkClick r:id="rId7"/>
              </a:rPr>
              <a:t>forum.softuni.bg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FB30FA26-390B-4885-AEF5-1E95DE2B5FF5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276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D8BCDE93-61E1-4CEF-ABE2-1979F55EB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3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1_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3754</TotalTime>
  <Words>1817</Words>
  <Application>Microsoft Office PowerPoint</Application>
  <PresentationFormat>Widescreen</PresentationFormat>
  <Paragraphs>415</Paragraphs>
  <Slides>33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맑은 고딕</vt:lpstr>
      <vt:lpstr>Arial</vt:lpstr>
      <vt:lpstr>Calibri</vt:lpstr>
      <vt:lpstr>Consolas</vt:lpstr>
      <vt:lpstr>Wingdings</vt:lpstr>
      <vt:lpstr>Wingdings 2</vt:lpstr>
      <vt:lpstr>SoftUni</vt:lpstr>
      <vt:lpstr>1_SoftUni</vt:lpstr>
      <vt:lpstr>Encapsulation</vt:lpstr>
      <vt:lpstr>Table of Contents</vt:lpstr>
      <vt:lpstr>Questions</vt:lpstr>
      <vt:lpstr>Encapsulation</vt:lpstr>
      <vt:lpstr>Encapsulation</vt:lpstr>
      <vt:lpstr>Encapsulation – Example</vt:lpstr>
      <vt:lpstr>Keyword This</vt:lpstr>
      <vt:lpstr>Access Modifiers</vt:lpstr>
      <vt:lpstr>Private Access Modifier</vt:lpstr>
      <vt:lpstr>Public Access Modifier</vt:lpstr>
      <vt:lpstr>Internal Access Modifier</vt:lpstr>
      <vt:lpstr>Problem: Sort Persons by Name and Age</vt:lpstr>
      <vt:lpstr>Solution: Sort Persons by Name and Age (1)</vt:lpstr>
      <vt:lpstr>Solution: Sort Persons by Name and Age (2)</vt:lpstr>
      <vt:lpstr>Solution: Sort Persons by Name and Age (3)</vt:lpstr>
      <vt:lpstr>Problem: Salary Increase</vt:lpstr>
      <vt:lpstr>Solution: Salary Increase</vt:lpstr>
      <vt:lpstr>State Validation</vt:lpstr>
      <vt:lpstr>Validation</vt:lpstr>
      <vt:lpstr>Validation (2)</vt:lpstr>
      <vt:lpstr>Problem: Validate Data</vt:lpstr>
      <vt:lpstr>Solution: Validate Data</vt:lpstr>
      <vt:lpstr>Mutable vs Immutable</vt:lpstr>
      <vt:lpstr>Mutable vs Immutable Objects</vt:lpstr>
      <vt:lpstr>Mutable Fields</vt:lpstr>
      <vt:lpstr>Mutable Fields (2)</vt:lpstr>
      <vt:lpstr>Problem: Team</vt:lpstr>
      <vt:lpstr>Solution: Team</vt:lpstr>
      <vt:lpstr>Solution: Team(2)</vt:lpstr>
      <vt:lpstr>Summary</vt:lpstr>
      <vt:lpstr>Questions?</vt:lpstr>
      <vt:lpstr>Trainings @ Software University (SoftUni)</vt:lpstr>
      <vt:lpstr>License</vt:lpstr>
    </vt:vector>
  </TitlesOfParts>
  <Company>SoftUni – https://softuni.org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CSharp OOP - Encapsulation</dc:title>
  <dc:subject>Intro to NodeJS</dc:subject>
  <dc:creator>Software University</dc:creator>
  <cp:keywords>Software University; SoftUni; programming; coding; software development; education; training; course</cp:keywords>
  <dc:description>© SoftUni – https://softuni.org_x000d_
© Software University – https://softuni.bg_x000d_
_x000d_
Copyrighted document. Unauthorized copy, reproduction or use is not permitted.</dc:description>
  <cp:lastModifiedBy>Yoana</cp:lastModifiedBy>
  <cp:revision>19</cp:revision>
  <dcterms:created xsi:type="dcterms:W3CDTF">2018-05-23T13:08:44Z</dcterms:created>
  <dcterms:modified xsi:type="dcterms:W3CDTF">2021-03-09T12:45:36Z</dcterms:modified>
  <cp:category>programming;education;software engineering;software development</cp:category>
</cp:coreProperties>
</file>